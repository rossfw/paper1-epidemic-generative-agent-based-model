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49"/>
  </p:notesMasterIdLst>
  <p:sldIdLst>
    <p:sldId id="1779" r:id="rId2"/>
    <p:sldId id="1896" r:id="rId3"/>
    <p:sldId id="1913" r:id="rId4"/>
    <p:sldId id="695" r:id="rId5"/>
    <p:sldId id="696" r:id="rId6"/>
    <p:sldId id="697" r:id="rId7"/>
    <p:sldId id="1898" r:id="rId8"/>
    <p:sldId id="1851" r:id="rId9"/>
    <p:sldId id="1853" r:id="rId10"/>
    <p:sldId id="1854" r:id="rId11"/>
    <p:sldId id="1858" r:id="rId12"/>
    <p:sldId id="1899" r:id="rId13"/>
    <p:sldId id="1900" r:id="rId14"/>
    <p:sldId id="1903" r:id="rId15"/>
    <p:sldId id="1862" r:id="rId16"/>
    <p:sldId id="1865" r:id="rId17"/>
    <p:sldId id="1866" r:id="rId18"/>
    <p:sldId id="1904" r:id="rId19"/>
    <p:sldId id="1905" r:id="rId20"/>
    <p:sldId id="1868" r:id="rId21"/>
    <p:sldId id="1871" r:id="rId22"/>
    <p:sldId id="1875" r:id="rId23"/>
    <p:sldId id="1876" r:id="rId24"/>
    <p:sldId id="1877" r:id="rId25"/>
    <p:sldId id="1879" r:id="rId26"/>
    <p:sldId id="1880" r:id="rId27"/>
    <p:sldId id="1881" r:id="rId28"/>
    <p:sldId id="1882" r:id="rId29"/>
    <p:sldId id="1883" r:id="rId30"/>
    <p:sldId id="1884" r:id="rId31"/>
    <p:sldId id="1887" r:id="rId32"/>
    <p:sldId id="1892" r:id="rId33"/>
    <p:sldId id="1895" r:id="rId34"/>
    <p:sldId id="1837" r:id="rId35"/>
    <p:sldId id="1908" r:id="rId36"/>
    <p:sldId id="1909" r:id="rId37"/>
    <p:sldId id="1910" r:id="rId38"/>
    <p:sldId id="1911" r:id="rId39"/>
    <p:sldId id="1912" r:id="rId40"/>
    <p:sldId id="1859" r:id="rId41"/>
    <p:sldId id="1855" r:id="rId42"/>
    <p:sldId id="1901" r:id="rId43"/>
    <p:sldId id="1857" r:id="rId44"/>
    <p:sldId id="1856" r:id="rId45"/>
    <p:sldId id="1907" r:id="rId46"/>
    <p:sldId id="1902" r:id="rId47"/>
    <p:sldId id="1914"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833A"/>
    <a:srgbClr val="861F41"/>
    <a:srgbClr val="84293F"/>
    <a:srgbClr val="81273E"/>
    <a:srgbClr val="FF6700"/>
    <a:srgbClr val="7D495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8E15FB-ED76-7819-C510-B44A6CB7E3B1}" v="146" dt="2025-02-05T05:38:37.382"/>
    <p1510:client id="{AA3407D0-9AD4-8F80-BE2C-BABFAB109531}" v="246" dt="2025-02-05T10:47:42.2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798"/>
  </p:normalViewPr>
  <p:slideViewPr>
    <p:cSldViewPr snapToGrid="0" snapToObjects="1">
      <p:cViewPr varScale="1">
        <p:scale>
          <a:sx n="78" d="100"/>
          <a:sy n="78" d="100"/>
        </p:scale>
        <p:origin x="762" y="9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C50342-228F-8D44-B68A-FB2E5D5621EF}" type="datetimeFigureOut">
              <a:rPr lang="en-US" smtClean="0"/>
              <a:t>4/27/2025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F96CB2-3EBD-9143-BF8A-FF8CD23284AD}" type="slidenum">
              <a:rPr lang="en-US" smtClean="0"/>
              <a:t>‹#›</a:t>
            </a:fld>
            <a:endParaRPr lang="en-US"/>
          </a:p>
        </p:txBody>
      </p:sp>
    </p:spTree>
    <p:extLst>
      <p:ext uri="{BB962C8B-B14F-4D97-AF65-F5344CB8AC3E}">
        <p14:creationId xmlns:p14="http://schemas.microsoft.com/office/powerpoint/2010/main" val="1796083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Advisor name, funding for project… motivate study in introduction I really need a method section probably. Intro. Background. Methods</a:t>
            </a:r>
          </a:p>
        </p:txBody>
      </p:sp>
      <p:sp>
        <p:nvSpPr>
          <p:cNvPr id="4" name="Slide Number Placeholder 3"/>
          <p:cNvSpPr>
            <a:spLocks noGrp="1"/>
          </p:cNvSpPr>
          <p:nvPr>
            <p:ph type="sldNum" sz="quarter" idx="5"/>
          </p:nvPr>
        </p:nvSpPr>
        <p:spPr/>
        <p:txBody>
          <a:bodyPr/>
          <a:lstStyle/>
          <a:p>
            <a:fld id="{85F96CB2-3EBD-9143-BF8A-FF8CD23284AD}" type="slidenum">
              <a:rPr lang="en-US" smtClean="0"/>
              <a:t>1</a:t>
            </a:fld>
            <a:endParaRPr lang="en-US"/>
          </a:p>
        </p:txBody>
      </p:sp>
    </p:spTree>
    <p:extLst>
      <p:ext uri="{BB962C8B-B14F-4D97-AF65-F5344CB8AC3E}">
        <p14:creationId xmlns:p14="http://schemas.microsoft.com/office/powerpoint/2010/main" val="3873492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78858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1FFB6-1712-D346-A141-74FFCEF0B9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AE8D4-7C83-0F57-E9B3-23BF1748856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44B79D4-6429-6388-048D-82533C5D547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88452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805260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530283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60169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858360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08107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07124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075979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10233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34198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846534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968961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27932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774023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616011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16844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703156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75587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81560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12914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691834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424324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05961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018770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35166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74716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230702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966186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F96CB2-3EBD-9143-BF8A-FF8CD23284AD}" type="slidenum">
              <a:rPr lang="en-US" smtClean="0"/>
              <a:t>34</a:t>
            </a:fld>
            <a:endParaRPr lang="en-US"/>
          </a:p>
        </p:txBody>
      </p:sp>
    </p:spTree>
    <p:extLst>
      <p:ext uri="{BB962C8B-B14F-4D97-AF65-F5344CB8AC3E}">
        <p14:creationId xmlns:p14="http://schemas.microsoft.com/office/powerpoint/2010/main" val="26855216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38802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Systems Dynamics model on the Oscillation Behavior of Learning and Forgetting in Safety-Critical Systems </a:t>
            </a:r>
          </a:p>
          <a:p>
            <a:endParaRPr lang="en-US"/>
          </a:p>
        </p:txBody>
      </p:sp>
    </p:spTree>
    <p:extLst>
      <p:ext uri="{BB962C8B-B14F-4D97-AF65-F5344CB8AC3E}">
        <p14:creationId xmlns:p14="http://schemas.microsoft.com/office/powerpoint/2010/main" val="38760271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Systems Dynamics model on the Oscillation Behavior of Learning and Forgetting in Safety-Critical Systems </a:t>
            </a:r>
          </a:p>
          <a:p>
            <a:endParaRPr lang="en-US"/>
          </a:p>
        </p:txBody>
      </p:sp>
    </p:spTree>
    <p:extLst>
      <p:ext uri="{BB962C8B-B14F-4D97-AF65-F5344CB8AC3E}">
        <p14:creationId xmlns:p14="http://schemas.microsoft.com/office/powerpoint/2010/main" val="27283591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Systems Dynamics model on the Oscillation Behavior of Learning and Forgetting in Safety-Critical Systems </a:t>
            </a:r>
          </a:p>
          <a:p>
            <a:endParaRPr lang="en-US"/>
          </a:p>
        </p:txBody>
      </p:sp>
    </p:spTree>
    <p:extLst>
      <p:ext uri="{BB962C8B-B14F-4D97-AF65-F5344CB8AC3E}">
        <p14:creationId xmlns:p14="http://schemas.microsoft.com/office/powerpoint/2010/main" val="29259488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261509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427109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empty background">
    <p:bg>
      <p:bgPr>
        <a:solidFill>
          <a:srgbClr val="FFFFFF"/>
        </a:solidFill>
        <a:effectLst/>
      </p:bgPr>
    </p:bg>
    <p:spTree>
      <p:nvGrpSpPr>
        <p:cNvPr id="1" name=""/>
        <p:cNvGrpSpPr/>
        <p:nvPr/>
      </p:nvGrpSpPr>
      <p:grpSpPr>
        <a:xfrm>
          <a:off x="0" y="0"/>
          <a:ext cx="0" cy="0"/>
          <a:chOff x="0" y="0"/>
          <a:chExt cx="0" cy="0"/>
        </a:xfrm>
      </p:grpSpPr>
      <p:sp>
        <p:nvSpPr>
          <p:cNvPr id="15" name="Picture Placeholder 5"/>
          <p:cNvSpPr>
            <a:spLocks noGrp="1"/>
          </p:cNvSpPr>
          <p:nvPr userDrawn="1"/>
        </p:nvSpPr>
        <p:spPr>
          <a:xfrm>
            <a:off x="-15607" y="-643262"/>
            <a:ext cx="12223214" cy="8144524"/>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p>
            <a:endParaRPr lang="en-US"/>
          </a:p>
        </p:txBody>
      </p:sp>
      <p:pic>
        <p:nvPicPr>
          <p:cNvPr id="3" name="pasted-image.pdf" descr="pasted-image.pdf">
            <a:extLst>
              <a:ext uri="{FF2B5EF4-FFF2-40B4-BE49-F238E27FC236}">
                <a16:creationId xmlns:a16="http://schemas.microsoft.com/office/drawing/2014/main" id="{BFC2BD2A-A3DA-0CBB-952A-17E042DDA0B6}"/>
              </a:ext>
            </a:extLst>
          </p:cNvPr>
          <p:cNvPicPr>
            <a:picLocks noChangeAspect="1"/>
          </p:cNvPicPr>
          <p:nvPr userDrawn="1"/>
        </p:nvPicPr>
        <p:blipFill>
          <a:blip r:embed="rId2"/>
          <a:stretch>
            <a:fillRect/>
          </a:stretch>
        </p:blipFill>
        <p:spPr>
          <a:xfrm>
            <a:off x="400179" y="202740"/>
            <a:ext cx="227497" cy="227497"/>
          </a:xfrm>
          <a:prstGeom prst="rect">
            <a:avLst/>
          </a:prstGeom>
          <a:ln w="12700">
            <a:miter lim="400000"/>
          </a:ln>
        </p:spPr>
      </p:pic>
      <p:sp>
        <p:nvSpPr>
          <p:cNvPr id="2" name="Title 1">
            <a:extLst>
              <a:ext uri="{FF2B5EF4-FFF2-40B4-BE49-F238E27FC236}">
                <a16:creationId xmlns:a16="http://schemas.microsoft.com/office/drawing/2014/main" id="{F76FCDDF-91E2-A422-46EF-43DF6603DBD7}"/>
              </a:ext>
            </a:extLst>
          </p:cNvPr>
          <p:cNvSpPr>
            <a:spLocks noGrp="1"/>
          </p:cNvSpPr>
          <p:nvPr>
            <p:ph type="title"/>
          </p:nvPr>
        </p:nvSpPr>
        <p:spPr>
          <a:xfrm>
            <a:off x="513927" y="316488"/>
            <a:ext cx="10515600" cy="1325563"/>
          </a:xfrm>
          <a:prstGeom prst="rect">
            <a:avLst/>
          </a:prstGeom>
        </p:spPr>
        <p:txBody>
          <a:bodyPr/>
          <a:lstStyle>
            <a:lvl1pPr>
              <a:defRPr sz="3600">
                <a:latin typeface="Arial" panose="020B0604020202020204" pitchFamily="34" charset="0"/>
                <a:cs typeface="Arial" panose="020B0604020202020204" pitchFamily="34" charset="0"/>
              </a:defRPr>
            </a:lvl1pPr>
          </a:lstStyle>
          <a:p>
            <a:r>
              <a:rPr lang="en-US" dirty="0"/>
              <a:t>Click to edit Master title style</a:t>
            </a:r>
          </a:p>
        </p:txBody>
      </p:sp>
      <p:sp>
        <p:nvSpPr>
          <p:cNvPr id="4" name="Date Placeholder 3">
            <a:extLst>
              <a:ext uri="{FF2B5EF4-FFF2-40B4-BE49-F238E27FC236}">
                <a16:creationId xmlns:a16="http://schemas.microsoft.com/office/drawing/2014/main" id="{A38CADA0-63F9-EE05-E314-3D73FEEB0247}"/>
              </a:ext>
            </a:extLst>
          </p:cNvPr>
          <p:cNvSpPr>
            <a:spLocks noGrp="1"/>
          </p:cNvSpPr>
          <p:nvPr>
            <p:ph type="dt" sz="half" idx="10"/>
          </p:nvPr>
        </p:nvSpPr>
        <p:spPr/>
        <p:txBody>
          <a:bodyPr/>
          <a:lstStyle/>
          <a:p>
            <a:r>
              <a:rPr lang="en-US"/>
              <a:t>m</a:t>
            </a:r>
            <a:endParaRPr lang="en-US" dirty="0"/>
          </a:p>
        </p:txBody>
      </p:sp>
      <p:sp>
        <p:nvSpPr>
          <p:cNvPr id="5" name="Footer Placeholder 4">
            <a:extLst>
              <a:ext uri="{FF2B5EF4-FFF2-40B4-BE49-F238E27FC236}">
                <a16:creationId xmlns:a16="http://schemas.microsoft.com/office/drawing/2014/main" id="{4A1BCD69-39DB-0C45-E0AA-875598C5E040}"/>
              </a:ext>
            </a:extLst>
          </p:cNvPr>
          <p:cNvSpPr>
            <a:spLocks noGrp="1"/>
          </p:cNvSpPr>
          <p:nvPr>
            <p:ph type="ftr" sz="quarter" idx="11"/>
          </p:nvPr>
        </p:nvSpPr>
        <p:spPr/>
        <p:txBody>
          <a:bodyPr/>
          <a:lstStyle/>
          <a:p>
            <a:r>
              <a:rPr lang="en-US"/>
              <a:t>mmmmm</a:t>
            </a:r>
            <a:endParaRPr lang="en-US" dirty="0"/>
          </a:p>
        </p:txBody>
      </p:sp>
      <p:sp>
        <p:nvSpPr>
          <p:cNvPr id="6" name="Slide Number Placeholder 5">
            <a:extLst>
              <a:ext uri="{FF2B5EF4-FFF2-40B4-BE49-F238E27FC236}">
                <a16:creationId xmlns:a16="http://schemas.microsoft.com/office/drawing/2014/main" id="{993D100C-41EE-D935-FB96-589412697F1C}"/>
              </a:ext>
            </a:extLst>
          </p:cNvPr>
          <p:cNvSpPr>
            <a:spLocks noGrp="1"/>
          </p:cNvSpPr>
          <p:nvPr>
            <p:ph type="sldNum" sz="quarter" idx="12"/>
          </p:nvPr>
        </p:nvSpPr>
        <p:spPr/>
        <p:txBody>
          <a:bodyPr/>
          <a:lstStyle/>
          <a:p>
            <a:fld id="{33C6424C-3ADF-794F-BE59-7B31A2F69DD8}" type="slidenum">
              <a:rPr lang="en-US" smtClean="0"/>
              <a:t>‹#›</a:t>
            </a:fld>
            <a:endParaRPr lang="en-US"/>
          </a:p>
        </p:txBody>
      </p:sp>
    </p:spTree>
    <p:extLst>
      <p:ext uri="{BB962C8B-B14F-4D97-AF65-F5344CB8AC3E}">
        <p14:creationId xmlns:p14="http://schemas.microsoft.com/office/powerpoint/2010/main" val="175921155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empty background">
    <p:bg>
      <p:bgPr>
        <a:solidFill>
          <a:srgbClr val="FFFFFF"/>
        </a:solidFill>
        <a:effectLst/>
      </p:bgPr>
    </p:bg>
    <p:spTree>
      <p:nvGrpSpPr>
        <p:cNvPr id="1" name=""/>
        <p:cNvGrpSpPr/>
        <p:nvPr/>
      </p:nvGrpSpPr>
      <p:grpSpPr>
        <a:xfrm>
          <a:off x="0" y="0"/>
          <a:ext cx="0" cy="0"/>
          <a:chOff x="0" y="0"/>
          <a:chExt cx="0" cy="0"/>
        </a:xfrm>
      </p:grpSpPr>
      <p:sp>
        <p:nvSpPr>
          <p:cNvPr id="15" name="Picture Placeholder 5"/>
          <p:cNvSpPr>
            <a:spLocks noGrp="1"/>
          </p:cNvSpPr>
          <p:nvPr userDrawn="1"/>
        </p:nvSpPr>
        <p:spPr>
          <a:xfrm>
            <a:off x="-15607" y="-643262"/>
            <a:ext cx="12223214" cy="8144524"/>
          </a:xfrm>
          <a:prstGeom prst="rect">
            <a:avLst/>
          </a:prstGeom>
          <a:ln w="12700">
            <a:miter lim="400000"/>
          </a:ln>
          <a:extLst>
            <a:ext uri="{C572A759-6A51-4108-AA02-DFA0A04FC94B}">
              <ma14:wrappingTextBoxFlag xmlns:ma14="http://schemas.microsoft.com/office/mac/drawingml/2011/main" xmlns="" val="1"/>
            </a:ext>
          </a:extLst>
        </p:spPr>
        <p:txBody>
          <a:bodyPr lIns="45719" rIns="45719">
            <a:normAutofit/>
          </a:bodyPr>
          <a:lstStyle/>
          <a:p>
            <a:endParaRPr lang="en-US"/>
          </a:p>
        </p:txBody>
      </p:sp>
      <p:sp>
        <p:nvSpPr>
          <p:cNvPr id="2" name="Title 1">
            <a:extLst>
              <a:ext uri="{FF2B5EF4-FFF2-40B4-BE49-F238E27FC236}">
                <a16:creationId xmlns:a16="http://schemas.microsoft.com/office/drawing/2014/main" id="{8B9FDAFF-F0AD-8093-5485-662DCCAEBBA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259833999"/>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5E738-A87B-4D8E-8F91-FDDDE5DED9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883FA3-2F84-4088-B655-E90374207F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BF444E4-2115-44B3-B3A0-A3FC53B375A7}"/>
              </a:ext>
            </a:extLst>
          </p:cNvPr>
          <p:cNvSpPr>
            <a:spLocks noGrp="1"/>
          </p:cNvSpPr>
          <p:nvPr>
            <p:ph type="ftr" sz="quarter" idx="11"/>
          </p:nvPr>
        </p:nvSpPr>
        <p:spPr>
          <a:xfrm>
            <a:off x="838200" y="6356350"/>
            <a:ext cx="4719858" cy="365125"/>
          </a:xfrm>
        </p:spPr>
        <p:txBody>
          <a:bodyPr/>
          <a:lstStyle/>
          <a:p>
            <a:r>
              <a:rPr lang="en-US"/>
              <a:t>Navid Ghaffarzadegan (2024) Generative Agent-Based Modeling</a:t>
            </a:r>
          </a:p>
        </p:txBody>
      </p:sp>
      <p:sp>
        <p:nvSpPr>
          <p:cNvPr id="6" name="Slide Number Placeholder 5">
            <a:extLst>
              <a:ext uri="{FF2B5EF4-FFF2-40B4-BE49-F238E27FC236}">
                <a16:creationId xmlns:a16="http://schemas.microsoft.com/office/drawing/2014/main" id="{FB8FA1A1-EB81-41E3-9F29-E8CF4C4C8F6F}"/>
              </a:ext>
            </a:extLst>
          </p:cNvPr>
          <p:cNvSpPr>
            <a:spLocks noGrp="1"/>
          </p:cNvSpPr>
          <p:nvPr>
            <p:ph type="sldNum" sz="quarter" idx="12"/>
          </p:nvPr>
        </p:nvSpPr>
        <p:spPr/>
        <p:txBody>
          <a:bodyPr/>
          <a:lstStyle/>
          <a:p>
            <a:fld id="{973CAFA4-BF94-45FC-800F-4A299360B27D}" type="slidenum">
              <a:rPr lang="en-US" smtClean="0"/>
              <a:t>‹#›</a:t>
            </a:fld>
            <a:endParaRPr lang="en-US"/>
          </a:p>
        </p:txBody>
      </p:sp>
    </p:spTree>
    <p:extLst>
      <p:ext uri="{BB962C8B-B14F-4D97-AF65-F5344CB8AC3E}">
        <p14:creationId xmlns:p14="http://schemas.microsoft.com/office/powerpoint/2010/main" val="14658844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76629E4D-D6AE-3D54-BED9-55CFADA356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m</a:t>
            </a:r>
            <a:endParaRPr lang="en-US" dirty="0"/>
          </a:p>
        </p:txBody>
      </p:sp>
      <p:sp>
        <p:nvSpPr>
          <p:cNvPr id="7" name="Footer Placeholder 6">
            <a:extLst>
              <a:ext uri="{FF2B5EF4-FFF2-40B4-BE49-F238E27FC236}">
                <a16:creationId xmlns:a16="http://schemas.microsoft.com/office/drawing/2014/main" id="{4679398C-840A-2BD0-6E30-24A042879E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err="1"/>
              <a:t>mmmmm</a:t>
            </a:r>
            <a:endParaRPr lang="en-US" dirty="0"/>
          </a:p>
        </p:txBody>
      </p:sp>
      <p:sp>
        <p:nvSpPr>
          <p:cNvPr id="8" name="Slide Number Placeholder 7">
            <a:extLst>
              <a:ext uri="{FF2B5EF4-FFF2-40B4-BE49-F238E27FC236}">
                <a16:creationId xmlns:a16="http://schemas.microsoft.com/office/drawing/2014/main" id="{EBABD6D1-C202-62B9-516B-91CB553F5D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C6424C-3ADF-794F-BE59-7B31A2F69DD8}" type="slidenum">
              <a:rPr lang="en-US" smtClean="0"/>
              <a:t>‹#›</a:t>
            </a:fld>
            <a:endParaRPr lang="en-US"/>
          </a:p>
        </p:txBody>
      </p:sp>
    </p:spTree>
    <p:extLst>
      <p:ext uri="{BB962C8B-B14F-4D97-AF65-F5344CB8AC3E}">
        <p14:creationId xmlns:p14="http://schemas.microsoft.com/office/powerpoint/2010/main" val="173572718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5" r:id="rId3"/>
  </p:sldLayoutIdLst>
  <p:transition spd="med"/>
  <p:hf hdr="0" ftr="0" dt="0"/>
  <p:txStyles>
    <p:titleStyle>
      <a:lvl1pPr marL="0" marR="0" indent="0" algn="l" defTabSz="914400" rtl="0" latinLnBrk="0">
        <a:lnSpc>
          <a:spcPct val="90000"/>
        </a:lnSpc>
        <a:spcBef>
          <a:spcPts val="0"/>
        </a:spcBef>
        <a:spcAft>
          <a:spcPts val="0"/>
        </a:spcAft>
        <a:buClrTx/>
        <a:buSzTx/>
        <a:buFontTx/>
        <a:buNone/>
        <a:tabLst/>
        <a:defRPr sz="3500" b="0" i="0" u="none" strike="noStrike" cap="none" spc="200" baseline="0">
          <a:ln>
            <a:noFill/>
          </a:ln>
          <a:solidFill>
            <a:schemeClr val="bg2"/>
          </a:solidFill>
          <a:uFillTx/>
          <a:latin typeface="Acherus Grotesque Regular"/>
          <a:ea typeface="Acherus Grotesque Regular"/>
          <a:cs typeface="Acherus Grotesque Regular"/>
          <a:sym typeface="Acherus Grotesque"/>
        </a:defRPr>
      </a:lvl1pPr>
      <a:lvl2pPr marL="0" marR="0" indent="0" algn="l" defTabSz="914400" rtl="0" latinLnBrk="0">
        <a:lnSpc>
          <a:spcPct val="90000"/>
        </a:lnSpc>
        <a:spcBef>
          <a:spcPts val="0"/>
        </a:spcBef>
        <a:spcAft>
          <a:spcPts val="0"/>
        </a:spcAft>
        <a:buClrTx/>
        <a:buSzTx/>
        <a:buFontTx/>
        <a:buNone/>
        <a:tabLst/>
        <a:defRPr sz="3500" b="0" i="0" u="none" strike="noStrike" cap="none" spc="200" baseline="0">
          <a:ln>
            <a:noFill/>
          </a:ln>
          <a:solidFill>
            <a:schemeClr val="accent1"/>
          </a:solidFill>
          <a:uFillTx/>
          <a:latin typeface="Acherus Grotesque Regular"/>
          <a:ea typeface="Acherus Grotesque Regular"/>
          <a:cs typeface="Acherus Grotesque Regular"/>
          <a:sym typeface="Acherus Grotesque"/>
        </a:defRPr>
      </a:lvl2pPr>
      <a:lvl3pPr marL="0" marR="0" indent="0" algn="l" defTabSz="914400" rtl="0" latinLnBrk="0">
        <a:lnSpc>
          <a:spcPct val="90000"/>
        </a:lnSpc>
        <a:spcBef>
          <a:spcPts val="0"/>
        </a:spcBef>
        <a:spcAft>
          <a:spcPts val="0"/>
        </a:spcAft>
        <a:buClrTx/>
        <a:buSzTx/>
        <a:buFontTx/>
        <a:buNone/>
        <a:tabLst/>
        <a:defRPr sz="3500" b="0" i="0" u="none" strike="noStrike" cap="none" spc="200" baseline="0">
          <a:ln>
            <a:noFill/>
          </a:ln>
          <a:solidFill>
            <a:schemeClr val="accent1"/>
          </a:solidFill>
          <a:uFillTx/>
          <a:latin typeface="Acherus Grotesque Regular"/>
          <a:ea typeface="Acherus Grotesque Regular"/>
          <a:cs typeface="Acherus Grotesque Regular"/>
          <a:sym typeface="Acherus Grotesque"/>
        </a:defRPr>
      </a:lvl3pPr>
      <a:lvl4pPr marL="0" marR="0" indent="0" algn="l" defTabSz="914400" rtl="0" latinLnBrk="0">
        <a:lnSpc>
          <a:spcPct val="90000"/>
        </a:lnSpc>
        <a:spcBef>
          <a:spcPts val="0"/>
        </a:spcBef>
        <a:spcAft>
          <a:spcPts val="0"/>
        </a:spcAft>
        <a:buClrTx/>
        <a:buSzTx/>
        <a:buFontTx/>
        <a:buNone/>
        <a:tabLst/>
        <a:defRPr sz="3500" b="0" i="0" u="none" strike="noStrike" cap="none" spc="200" baseline="0">
          <a:ln>
            <a:noFill/>
          </a:ln>
          <a:solidFill>
            <a:schemeClr val="accent1"/>
          </a:solidFill>
          <a:uFillTx/>
          <a:latin typeface="Acherus Grotesque Regular"/>
          <a:ea typeface="Acherus Grotesque Regular"/>
          <a:cs typeface="Acherus Grotesque Regular"/>
          <a:sym typeface="Acherus Grotesque"/>
        </a:defRPr>
      </a:lvl4pPr>
      <a:lvl5pPr marL="0" marR="0" indent="0" algn="l" defTabSz="914400" rtl="0" latinLnBrk="0">
        <a:lnSpc>
          <a:spcPct val="90000"/>
        </a:lnSpc>
        <a:spcBef>
          <a:spcPts val="0"/>
        </a:spcBef>
        <a:spcAft>
          <a:spcPts val="0"/>
        </a:spcAft>
        <a:buClrTx/>
        <a:buSzTx/>
        <a:buFontTx/>
        <a:buNone/>
        <a:tabLst/>
        <a:defRPr sz="3500" b="0" i="0" u="none" strike="noStrike" cap="none" spc="200" baseline="0">
          <a:ln>
            <a:noFill/>
          </a:ln>
          <a:solidFill>
            <a:schemeClr val="accent1"/>
          </a:solidFill>
          <a:uFillTx/>
          <a:latin typeface="Acherus Grotesque Regular"/>
          <a:ea typeface="Acherus Grotesque Regular"/>
          <a:cs typeface="Acherus Grotesque Regular"/>
          <a:sym typeface="Acherus Grotesque"/>
        </a:defRPr>
      </a:lvl5pPr>
      <a:lvl6pPr marL="0" marR="0" indent="0" algn="l" defTabSz="914400" rtl="0" latinLnBrk="0">
        <a:lnSpc>
          <a:spcPct val="90000"/>
        </a:lnSpc>
        <a:spcBef>
          <a:spcPts val="0"/>
        </a:spcBef>
        <a:spcAft>
          <a:spcPts val="0"/>
        </a:spcAft>
        <a:buClrTx/>
        <a:buSzTx/>
        <a:buFontTx/>
        <a:buNone/>
        <a:tabLst/>
        <a:defRPr sz="3500" b="0" i="0" u="none" strike="noStrike" cap="none" spc="200" baseline="0">
          <a:ln>
            <a:noFill/>
          </a:ln>
          <a:solidFill>
            <a:schemeClr val="accent1"/>
          </a:solidFill>
          <a:uFillTx/>
          <a:latin typeface="Acherus Grotesque Regular"/>
          <a:ea typeface="Acherus Grotesque Regular"/>
          <a:cs typeface="Acherus Grotesque Regular"/>
          <a:sym typeface="Acherus Grotesque"/>
        </a:defRPr>
      </a:lvl6pPr>
      <a:lvl7pPr marL="0" marR="0" indent="0" algn="l" defTabSz="914400" rtl="0" latinLnBrk="0">
        <a:lnSpc>
          <a:spcPct val="90000"/>
        </a:lnSpc>
        <a:spcBef>
          <a:spcPts val="0"/>
        </a:spcBef>
        <a:spcAft>
          <a:spcPts val="0"/>
        </a:spcAft>
        <a:buClrTx/>
        <a:buSzTx/>
        <a:buFontTx/>
        <a:buNone/>
        <a:tabLst/>
        <a:defRPr sz="3500" b="0" i="0" u="none" strike="noStrike" cap="none" spc="200" baseline="0">
          <a:ln>
            <a:noFill/>
          </a:ln>
          <a:solidFill>
            <a:schemeClr val="accent1"/>
          </a:solidFill>
          <a:uFillTx/>
          <a:latin typeface="Acherus Grotesque Regular"/>
          <a:ea typeface="Acherus Grotesque Regular"/>
          <a:cs typeface="Acherus Grotesque Regular"/>
          <a:sym typeface="Acherus Grotesque"/>
        </a:defRPr>
      </a:lvl7pPr>
      <a:lvl8pPr marL="0" marR="0" indent="0" algn="l" defTabSz="914400" rtl="0" latinLnBrk="0">
        <a:lnSpc>
          <a:spcPct val="90000"/>
        </a:lnSpc>
        <a:spcBef>
          <a:spcPts val="0"/>
        </a:spcBef>
        <a:spcAft>
          <a:spcPts val="0"/>
        </a:spcAft>
        <a:buClrTx/>
        <a:buSzTx/>
        <a:buFontTx/>
        <a:buNone/>
        <a:tabLst/>
        <a:defRPr sz="3500" b="0" i="0" u="none" strike="noStrike" cap="none" spc="200" baseline="0">
          <a:ln>
            <a:noFill/>
          </a:ln>
          <a:solidFill>
            <a:schemeClr val="accent1"/>
          </a:solidFill>
          <a:uFillTx/>
          <a:latin typeface="Acherus Grotesque Regular"/>
          <a:ea typeface="Acherus Grotesque Regular"/>
          <a:cs typeface="Acherus Grotesque Regular"/>
          <a:sym typeface="Acherus Grotesque"/>
        </a:defRPr>
      </a:lvl8pPr>
      <a:lvl9pPr marL="0" marR="0" indent="0" algn="l" defTabSz="914400" rtl="0" latinLnBrk="0">
        <a:lnSpc>
          <a:spcPct val="90000"/>
        </a:lnSpc>
        <a:spcBef>
          <a:spcPts val="0"/>
        </a:spcBef>
        <a:spcAft>
          <a:spcPts val="0"/>
        </a:spcAft>
        <a:buClrTx/>
        <a:buSzTx/>
        <a:buFontTx/>
        <a:buNone/>
        <a:tabLst/>
        <a:defRPr sz="3500" b="0" i="0" u="none" strike="noStrike" cap="none" spc="200" baseline="0">
          <a:ln>
            <a:noFill/>
          </a:ln>
          <a:solidFill>
            <a:schemeClr val="accent1"/>
          </a:solidFill>
          <a:uFillTx/>
          <a:latin typeface="Acherus Grotesque Regular"/>
          <a:ea typeface="Acherus Grotesque Regular"/>
          <a:cs typeface="Acherus Grotesque Regular"/>
          <a:sym typeface="Acherus Grotesque"/>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chemeClr val="accent1"/>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chemeClr val="accent1"/>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chemeClr val="accent1"/>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chemeClr val="accent1"/>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chemeClr val="accent1"/>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chemeClr val="accent1"/>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chemeClr val="accent1"/>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chemeClr val="accent1"/>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chemeClr val="accent1"/>
          </a:solidFill>
          <a:uFillTx/>
          <a:latin typeface="+mj-lt"/>
          <a:ea typeface="+mj-ea"/>
          <a:cs typeface="+mj-cs"/>
          <a:sym typeface="Calibri"/>
        </a:defRPr>
      </a:lvl9pPr>
    </p:bodyStyle>
    <p:otherStyle>
      <a:lvl1pPr marL="0" marR="0" indent="0" algn="l"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1pPr>
      <a:lvl2pPr marL="0" marR="0" indent="457200" algn="l"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2pPr>
      <a:lvl3pPr marL="0" marR="0" indent="914400" algn="l"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3pPr>
      <a:lvl4pPr marL="0" marR="0" indent="1371600" algn="l"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4pPr>
      <a:lvl5pPr marL="0" marR="0" indent="1828800" algn="l"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5pPr>
      <a:lvl6pPr marL="0" marR="0" indent="2286000" algn="l"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6pPr>
      <a:lvl7pPr marL="0" marR="0" indent="2743200" algn="l"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7pPr>
      <a:lvl8pPr marL="0" marR="0" indent="3200400" algn="l"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8pPr>
      <a:lvl9pPr marL="0" marR="0" indent="3657600" algn="l" defTabSz="9144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3.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jpeg"/><Relationship Id="rId5" Type="http://schemas.openxmlformats.org/officeDocument/2006/relationships/image" Target="../media/image13.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6.png"/><Relationship Id="rId7" Type="http://schemas.openxmlformats.org/officeDocument/2006/relationships/image" Target="../media/image28.png"/><Relationship Id="rId12"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7.png"/><Relationship Id="rId11" Type="http://schemas.openxmlformats.org/officeDocument/2006/relationships/image" Target="../media/image41.png"/><Relationship Id="rId5" Type="http://schemas.openxmlformats.org/officeDocument/2006/relationships/image" Target="../media/image8.png"/><Relationship Id="rId4" Type="http://schemas.openxmlformats.org/officeDocument/2006/relationships/image" Target="../media/image1.png"/><Relationship Id="rId9"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png"/><Relationship Id="rId7"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0.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4.pn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1.png"/><Relationship Id="rId7" Type="http://schemas.openxmlformats.org/officeDocument/2006/relationships/image" Target="../media/image38.png"/><Relationship Id="rId12" Type="http://schemas.openxmlformats.org/officeDocument/2006/relationships/image" Target="../media/image25.jpe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37.png"/><Relationship Id="rId11" Type="http://schemas.openxmlformats.org/officeDocument/2006/relationships/image" Target="../media/image24.jpeg"/><Relationship Id="rId5" Type="http://schemas.openxmlformats.org/officeDocument/2006/relationships/image" Target="../media/image36.png"/><Relationship Id="rId10" Type="http://schemas.openxmlformats.org/officeDocument/2006/relationships/image" Target="../media/image43.png"/><Relationship Id="rId4" Type="http://schemas.openxmlformats.org/officeDocument/2006/relationships/image" Target="../media/image35.png"/><Relationship Id="rId9" Type="http://schemas.openxmlformats.org/officeDocument/2006/relationships/image" Target="../media/image40.png"/></Relationships>
</file>

<file path=ppt/slides/_rels/slide29.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1.png"/><Relationship Id="rId7" Type="http://schemas.openxmlformats.org/officeDocument/2006/relationships/image" Target="../media/image45.jpe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44.jpeg"/><Relationship Id="rId5" Type="http://schemas.openxmlformats.org/officeDocument/2006/relationships/image" Target="../media/image25.jpeg"/><Relationship Id="rId10" Type="http://schemas.openxmlformats.org/officeDocument/2006/relationships/image" Target="../media/image48.png"/><Relationship Id="rId4" Type="http://schemas.openxmlformats.org/officeDocument/2006/relationships/image" Target="../media/image24.jpeg"/><Relationship Id="rId9" Type="http://schemas.openxmlformats.org/officeDocument/2006/relationships/image" Target="../media/image47.png"/></Relationships>
</file>

<file path=ppt/slides/_rels/slide30.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25.jpeg"/><Relationship Id="rId3" Type="http://schemas.openxmlformats.org/officeDocument/2006/relationships/image" Target="../media/image1.png"/><Relationship Id="rId12" Type="http://schemas.openxmlformats.org/officeDocument/2006/relationships/image" Target="../media/image24.jpe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72.png"/><Relationship Id="rId11" Type="http://schemas.openxmlformats.org/officeDocument/2006/relationships/image" Target="../media/image50.png"/><Relationship Id="rId5" Type="http://schemas.openxmlformats.org/officeDocument/2006/relationships/image" Target="../media/image71.png"/><Relationship Id="rId15" Type="http://schemas.openxmlformats.org/officeDocument/2006/relationships/image" Target="../media/image51.png"/><Relationship Id="rId10" Type="http://schemas.openxmlformats.org/officeDocument/2006/relationships/image" Target="../media/image49.png"/><Relationship Id="rId4" Type="http://schemas.openxmlformats.org/officeDocument/2006/relationships/image" Target="../media/image8.png"/><Relationship Id="rId9" Type="http://schemas.openxmlformats.org/officeDocument/2006/relationships/image" Target="../media/image75.png"/><Relationship Id="rId14" Type="http://schemas.openxmlformats.org/officeDocument/2006/relationships/image" Target="../media/image45.jpe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60.png"/></Relationships>
</file>

<file path=ppt/slides/_rels/slide4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63.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65.png"/><Relationship Id="rId4" Type="http://schemas.openxmlformats.org/officeDocument/2006/relationships/image" Target="../media/image64.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66.png"/><Relationship Id="rId4" Type="http://schemas.openxmlformats.org/officeDocument/2006/relationships/image" Target="../media/image10.png"/></Relationships>
</file>

<file path=ppt/slides/_rels/slide4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0.png"/><Relationship Id="rId4"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12351"/>
          <a:stretch/>
        </p:blipFill>
        <p:spPr>
          <a:xfrm>
            <a:off x="0" y="0"/>
            <a:ext cx="9016376" cy="6858000"/>
          </a:xfrm>
          <a:prstGeom prst="rect">
            <a:avLst/>
          </a:prstGeom>
        </p:spPr>
      </p:pic>
      <p:sp>
        <p:nvSpPr>
          <p:cNvPr id="335" name="Rectangle"/>
          <p:cNvSpPr/>
          <p:nvPr/>
        </p:nvSpPr>
        <p:spPr>
          <a:xfrm>
            <a:off x="0" y="-1"/>
            <a:ext cx="9016375" cy="6858001"/>
          </a:xfrm>
          <a:prstGeom prst="rect">
            <a:avLst/>
          </a:prstGeom>
          <a:solidFill>
            <a:schemeClr val="tx1">
              <a:alpha val="89814"/>
            </a:schemeClr>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861F41"/>
              </a:solidFill>
              <a:effectLst/>
              <a:uLnTx/>
              <a:uFillTx/>
              <a:latin typeface="Calibri"/>
              <a:cs typeface="Calibri"/>
              <a:sym typeface="Calibri"/>
            </a:endParaRPr>
          </a:p>
        </p:txBody>
      </p:sp>
      <p:pic>
        <p:nvPicPr>
          <p:cNvPr id="13" name="pasted-image.pdf" descr="pasted-image.pdf">
            <a:extLst>
              <a:ext uri="{FF2B5EF4-FFF2-40B4-BE49-F238E27FC236}">
                <a16:creationId xmlns:a16="http://schemas.microsoft.com/office/drawing/2014/main" id="{E45E7BD3-66B1-FB4B-B16D-4EC739BB5B45}"/>
              </a:ext>
            </a:extLst>
          </p:cNvPr>
          <p:cNvPicPr>
            <a:picLocks noChangeAspect="1"/>
          </p:cNvPicPr>
          <p:nvPr/>
        </p:nvPicPr>
        <p:blipFill>
          <a:blip r:embed="rId4"/>
          <a:stretch>
            <a:fillRect/>
          </a:stretch>
        </p:blipFill>
        <p:spPr>
          <a:xfrm>
            <a:off x="1128215" y="1478100"/>
            <a:ext cx="229812" cy="229813"/>
          </a:xfrm>
          <a:prstGeom prst="rect">
            <a:avLst/>
          </a:prstGeom>
          <a:ln w="12700">
            <a:miter lim="400000"/>
          </a:ln>
        </p:spPr>
      </p:pic>
      <p:sp>
        <p:nvSpPr>
          <p:cNvPr id="14" name="PRESENTATION TITLE GOES HERE">
            <a:extLst>
              <a:ext uri="{FF2B5EF4-FFF2-40B4-BE49-F238E27FC236}">
                <a16:creationId xmlns:a16="http://schemas.microsoft.com/office/drawing/2014/main" id="{F4413DA2-0208-9F40-B55D-1F82C0A7CB3B}"/>
              </a:ext>
            </a:extLst>
          </p:cNvPr>
          <p:cNvSpPr/>
          <p:nvPr/>
        </p:nvSpPr>
        <p:spPr>
          <a:xfrm>
            <a:off x="1358026" y="1593006"/>
            <a:ext cx="7658348" cy="1465912"/>
          </a:xfrm>
          <a:prstGeom prst="rect">
            <a:avLst/>
          </a:prstGeom>
          <a:ln w="12700">
            <a:miter lim="400000"/>
          </a:ln>
          <a:extLst>
            <a:ext uri="{C572A759-6A51-4108-AA02-DFA0A04FC94B}">
              <ma14:wrappingTextBoxFlag xmlns="" xmlns:ma14="http://schemas.microsoft.com/office/mac/drawingml/2011/main" val="1"/>
            </a:ext>
          </a:extLst>
        </p:spPr>
        <p:txBody>
          <a:bodyPr lIns="45719" tIns="45720" rIns="45719" bIns="45720" anchor="t">
            <a:noAutofit/>
          </a:bodyPr>
          <a:lstStyle>
            <a:lvl1pPr defTabSz="758951">
              <a:lnSpc>
                <a:spcPct val="90000"/>
              </a:lnSpc>
              <a:defRPr sz="5312" spc="265">
                <a:solidFill>
                  <a:schemeClr val="accent5">
                    <a:hueOff val="-15428571"/>
                    <a:satOff val="-30434"/>
                    <a:lumOff val="9019"/>
                  </a:schemeClr>
                </a:solidFill>
                <a:latin typeface="AcherusGrotesqueLight"/>
                <a:ea typeface="AcherusGrotesqueLight"/>
                <a:cs typeface="AcherusGrotesqueLight"/>
                <a:sym typeface="AcherusGrotesqueLight"/>
              </a:defRPr>
            </a:lvl1pPr>
          </a:lstStyle>
          <a:p>
            <a:pPr hangingPunct="0">
              <a:defRPr/>
            </a:pPr>
            <a:r>
              <a:rPr kumimoji="0" lang="en-US" sz="4000" b="1" i="0" u="none" strike="noStrike" kern="0" cap="none" spc="0" normalizeH="0" baseline="0" noProof="0" dirty="0">
                <a:ln>
                  <a:noFill/>
                </a:ln>
                <a:solidFill>
                  <a:srgbClr val="FFFFFF"/>
                </a:solidFill>
                <a:effectLst/>
                <a:uLnTx/>
                <a:uFillTx/>
                <a:latin typeface="Arial"/>
                <a:cs typeface="Arial"/>
                <a:sym typeface="AcherusGrotesqueLight"/>
              </a:rPr>
              <a:t>Generative </a:t>
            </a:r>
            <a:r>
              <a:rPr lang="en-US" sz="4000" b="1" kern="0" spc="0" dirty="0">
                <a:solidFill>
                  <a:srgbClr val="FFFFFF"/>
                </a:solidFill>
                <a:latin typeface="Arial"/>
                <a:cs typeface="Arial"/>
              </a:rPr>
              <a:t>Agent Epidemic</a:t>
            </a:r>
            <a:r>
              <a:rPr kumimoji="0" lang="en-US" sz="4000" b="1" i="0" u="none" strike="noStrike" kern="0" cap="none" spc="0" normalizeH="0" baseline="0" noProof="0" dirty="0">
                <a:ln>
                  <a:noFill/>
                </a:ln>
                <a:solidFill>
                  <a:srgbClr val="FFFFFF"/>
                </a:solidFill>
                <a:effectLst/>
                <a:uLnTx/>
                <a:uFillTx/>
                <a:latin typeface="Arial"/>
                <a:cs typeface="Arial"/>
                <a:sym typeface="AcherusGrotesqueLight"/>
              </a:rPr>
              <a:t> Modeling</a:t>
            </a:r>
            <a:r>
              <a:rPr lang="en-US" sz="4000" b="1" kern="0" spc="0" dirty="0">
                <a:solidFill>
                  <a:srgbClr val="FFFFFF"/>
                </a:solidFill>
                <a:latin typeface="Arial"/>
                <a:cs typeface="Arial"/>
              </a:rPr>
              <a:t> &amp;</a:t>
            </a:r>
            <a:r>
              <a:rPr kumimoji="0" lang="en-US" sz="4000" b="1" i="0" u="none" strike="noStrike" kern="0" cap="none" spc="0" normalizeH="0" baseline="0" noProof="0" dirty="0">
                <a:ln>
                  <a:noFill/>
                </a:ln>
                <a:solidFill>
                  <a:srgbClr val="FFFFFF"/>
                </a:solidFill>
                <a:effectLst/>
                <a:uLnTx/>
                <a:uFillTx/>
                <a:latin typeface="Arial"/>
                <a:cs typeface="Arial"/>
                <a:sym typeface="AcherusGrotesqueLight"/>
              </a:rPr>
              <a:t> Prompt Sensitivity Analysis</a:t>
            </a:r>
          </a:p>
        </p:txBody>
      </p:sp>
      <p:sp>
        <p:nvSpPr>
          <p:cNvPr id="15" name="Professor Albert Einstein June 23, 2018">
            <a:extLst>
              <a:ext uri="{FF2B5EF4-FFF2-40B4-BE49-F238E27FC236}">
                <a16:creationId xmlns:a16="http://schemas.microsoft.com/office/drawing/2014/main" id="{8D0368D4-7965-DD40-8125-65C0E88E85E3}"/>
              </a:ext>
            </a:extLst>
          </p:cNvPr>
          <p:cNvSpPr/>
          <p:nvPr/>
        </p:nvSpPr>
        <p:spPr>
          <a:xfrm>
            <a:off x="1358027" y="3690941"/>
            <a:ext cx="7658348" cy="553998"/>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marL="0" marR="0" lvl="0" indent="0" algn="l" defTabSz="914400" rtl="0" eaLnBrk="1" fontAlgn="auto" latinLnBrk="0" hangingPunct="0">
              <a:lnSpc>
                <a:spcPct val="100000"/>
              </a:lnSpc>
              <a:spcBef>
                <a:spcPts val="0"/>
              </a:spcBef>
              <a:spcAft>
                <a:spcPts val="0"/>
              </a:spcAft>
              <a:buClrTx/>
              <a:buSzTx/>
              <a:buFontTx/>
              <a:buNone/>
              <a:tabLst/>
              <a:defRPr sz="2400">
                <a:solidFill>
                  <a:srgbClr val="E87731"/>
                </a:solidFill>
                <a:latin typeface="Gineso Cond Thin"/>
                <a:ea typeface="Gineso Cond Thin"/>
                <a:cs typeface="Gineso Cond Thin"/>
                <a:sym typeface="Gineso Cond Thin"/>
              </a:defRPr>
            </a:pPr>
            <a:r>
              <a:rPr kumimoji="0" lang="en-US" sz="3000" b="0" i="0" u="none" strike="noStrike" kern="0" cap="all" spc="300" normalizeH="0" baseline="0" noProof="0" dirty="0">
                <a:ln>
                  <a:noFill/>
                </a:ln>
                <a:solidFill>
                  <a:srgbClr val="E87731"/>
                </a:solidFill>
                <a:effectLst/>
                <a:uLnTx/>
                <a:uFillTx/>
                <a:latin typeface="Acherus Grotesque Light" panose="02000505000000020004" pitchFamily="2" charset="77"/>
                <a:ea typeface="Acherus Grotesque Regular" charset="0"/>
                <a:cs typeface="Acherus Grotesque Regular" charset="0"/>
                <a:sym typeface="Gineso Cond Thin"/>
              </a:rPr>
              <a:t>Ross </a:t>
            </a:r>
            <a:r>
              <a:rPr kumimoji="0" lang="en-US" sz="3000" b="0" i="0" u="none" strike="noStrike" kern="0" cap="all" spc="300" normalizeH="0" baseline="0" noProof="0" dirty="0" err="1">
                <a:ln>
                  <a:noFill/>
                </a:ln>
                <a:solidFill>
                  <a:srgbClr val="E87731"/>
                </a:solidFill>
                <a:effectLst/>
                <a:uLnTx/>
                <a:uFillTx/>
                <a:latin typeface="Acherus Grotesque Light" panose="02000505000000020004" pitchFamily="2" charset="77"/>
                <a:ea typeface="Acherus Grotesque Regular" charset="0"/>
                <a:cs typeface="Acherus Grotesque Regular" charset="0"/>
                <a:sym typeface="Gineso Cond Thin"/>
              </a:rPr>
              <a:t>Fantus</a:t>
            </a:r>
            <a:r>
              <a:rPr kumimoji="0" lang="en-US" sz="3000" b="0" i="0" u="none" strike="noStrike" kern="0" cap="all" spc="300" normalizeH="0" baseline="0" noProof="0" dirty="0">
                <a:ln>
                  <a:noFill/>
                </a:ln>
                <a:solidFill>
                  <a:srgbClr val="E87731"/>
                </a:solidFill>
                <a:effectLst/>
                <a:uLnTx/>
                <a:uFillTx/>
                <a:latin typeface="Acherus Grotesque Light" panose="02000505000000020004" pitchFamily="2" charset="77"/>
                <a:ea typeface="Acherus Grotesque Regular" charset="0"/>
                <a:cs typeface="Acherus Grotesque Regular" charset="0"/>
                <a:sym typeface="Gineso Cond Thin"/>
              </a:rPr>
              <a:t> Williams</a:t>
            </a:r>
          </a:p>
        </p:txBody>
      </p:sp>
      <p:sp>
        <p:nvSpPr>
          <p:cNvPr id="16" name="Professor Albert Einstein June 23, 2018">
            <a:extLst>
              <a:ext uri="{FF2B5EF4-FFF2-40B4-BE49-F238E27FC236}">
                <a16:creationId xmlns:a16="http://schemas.microsoft.com/office/drawing/2014/main" id="{5527AB94-C69B-2D43-9FA0-5F33D3D7F99A}"/>
              </a:ext>
            </a:extLst>
          </p:cNvPr>
          <p:cNvSpPr/>
          <p:nvPr/>
        </p:nvSpPr>
        <p:spPr>
          <a:xfrm>
            <a:off x="1358026" y="4363602"/>
            <a:ext cx="7658349" cy="477054"/>
          </a:xfrm>
          <a:prstGeom prst="rect">
            <a:avLst/>
          </a:prstGeom>
          <a:ln w="12700">
            <a:miter lim="400000"/>
          </a:ln>
          <a:extLst>
            <a:ext uri="{C572A759-6A51-4108-AA02-DFA0A04FC94B}">
              <ma14:wrappingTextBoxFlag xmlns="" xmlns:ma14="http://schemas.microsoft.com/office/mac/drawingml/2011/main" val="1"/>
            </a:ext>
          </a:extLst>
        </p:spPr>
        <p:txBody>
          <a:bodyPr wrap="square" lIns="45719" tIns="45720" rIns="45719" bIns="45720" anchor="t">
            <a:spAutoFit/>
          </a:bodyPr>
          <a:lstStyle/>
          <a:p>
            <a:pPr hangingPunct="0">
              <a:defRPr sz="2400">
                <a:solidFill>
                  <a:srgbClr val="E87731"/>
                </a:solidFill>
                <a:latin typeface="Gineso Cond Thin"/>
                <a:ea typeface="Gineso Cond Thin"/>
                <a:cs typeface="Gineso Cond Thin"/>
                <a:sym typeface="Gineso Cond Thin"/>
              </a:defRPr>
            </a:pPr>
            <a:r>
              <a:rPr lang="en-US" sz="2500" kern="0" cap="all" spc="300" dirty="0">
                <a:solidFill>
                  <a:srgbClr val="FFFFFF"/>
                </a:solidFill>
                <a:latin typeface="Acherus Grotesque Light"/>
                <a:ea typeface="Acherus Grotesque Regular" charset="0"/>
                <a:cs typeface="Acherus Grotesque Regular" charset="0"/>
                <a:sym typeface="Gineso Cond Thin"/>
              </a:rPr>
              <a:t>February 5th</a:t>
            </a:r>
            <a:r>
              <a:rPr kumimoji="0" lang="en-US" sz="2500" b="0" i="0" u="none" strike="noStrike" kern="0" cap="all" spc="300" normalizeH="0" baseline="0" noProof="0" dirty="0">
                <a:ln>
                  <a:noFill/>
                </a:ln>
                <a:solidFill>
                  <a:srgbClr val="FFFFFF"/>
                </a:solidFill>
                <a:effectLst/>
                <a:uLnTx/>
                <a:uFillTx/>
                <a:latin typeface="Acherus Grotesque Light"/>
                <a:ea typeface="Acherus Grotesque Regular" charset="0"/>
                <a:cs typeface="Acherus Grotesque Regular" charset="0"/>
                <a:sym typeface="Gineso Cond Thin"/>
              </a:rPr>
              <a:t>, </a:t>
            </a:r>
            <a:r>
              <a:rPr lang="en-US" sz="2500" kern="0" cap="all" spc="300" dirty="0">
                <a:solidFill>
                  <a:srgbClr val="FFFFFF"/>
                </a:solidFill>
                <a:latin typeface="Acherus Grotesque Light"/>
                <a:ea typeface="Acherus Grotesque Regular" charset="0"/>
                <a:cs typeface="Acherus Grotesque Regular" charset="0"/>
                <a:sym typeface="Gineso Cond Thin"/>
              </a:rPr>
              <a:t>2025</a:t>
            </a:r>
            <a:r>
              <a:rPr kumimoji="0" lang="en-US" sz="2500" b="0" i="0" u="none" strike="noStrike" kern="0" cap="all" spc="300" normalizeH="0" baseline="0" noProof="0" dirty="0">
                <a:ln>
                  <a:noFill/>
                </a:ln>
                <a:solidFill>
                  <a:srgbClr val="FFFFFF"/>
                </a:solidFill>
                <a:effectLst/>
                <a:uLnTx/>
                <a:uFillTx/>
                <a:latin typeface="Acherus Grotesque Light"/>
                <a:ea typeface="Acherus Grotesque Regular" charset="0"/>
                <a:cs typeface="Acherus Grotesque Regular" charset="0"/>
                <a:sym typeface="Gineso Cond Thin"/>
              </a:rPr>
              <a:t>, </a:t>
            </a:r>
            <a:r>
              <a:rPr lang="en-US" sz="2500" kern="0" cap="all" spc="300" dirty="0">
                <a:solidFill>
                  <a:srgbClr val="FFFFFF"/>
                </a:solidFill>
                <a:latin typeface="Acherus Grotesque Light"/>
                <a:ea typeface="Acherus Grotesque Regular" charset="0"/>
                <a:cs typeface="Acherus Grotesque Regular" charset="0"/>
                <a:sym typeface="Gineso Cond Thin"/>
              </a:rPr>
              <a:t>Erasmus MC</a:t>
            </a:r>
            <a:endParaRPr kumimoji="0" lang="en-US" sz="2500" b="0" i="0" u="none" strike="noStrike" kern="0" cap="all" spc="300" normalizeH="0" baseline="0" noProof="0" dirty="0">
              <a:ln>
                <a:noFill/>
              </a:ln>
              <a:solidFill>
                <a:srgbClr val="FFFFFF"/>
              </a:solidFill>
              <a:effectLst/>
              <a:uLnTx/>
              <a:uFillTx/>
              <a:latin typeface="Acherus Grotesque Light"/>
              <a:ea typeface="Acherus Grotesque Regular" charset="0"/>
              <a:cs typeface="Acherus Grotesque Regular" charset="0"/>
              <a:sym typeface="Gineso Cond Thin"/>
            </a:endParaRPr>
          </a:p>
        </p:txBody>
      </p:sp>
      <p:pic>
        <p:nvPicPr>
          <p:cNvPr id="4" name="Picture 3">
            <a:extLst>
              <a:ext uri="{FF2B5EF4-FFF2-40B4-BE49-F238E27FC236}">
                <a16:creationId xmlns:a16="http://schemas.microsoft.com/office/drawing/2014/main" id="{A0F3F740-704B-1B44-AA0F-484587FE6C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09648" y="1548557"/>
            <a:ext cx="2606041" cy="1371600"/>
          </a:xfrm>
          <a:prstGeom prst="rect">
            <a:avLst/>
          </a:prstGeom>
        </p:spPr>
      </p:pic>
      <p:pic>
        <p:nvPicPr>
          <p:cNvPr id="1026" name="Picture 2">
            <a:extLst>
              <a:ext uri="{FF2B5EF4-FFF2-40B4-BE49-F238E27FC236}">
                <a16:creationId xmlns:a16="http://schemas.microsoft.com/office/drawing/2014/main" id="{93A7151A-15F9-0102-391E-D312A1964223}"/>
              </a:ext>
            </a:extLst>
          </p:cNvPr>
          <p:cNvPicPr>
            <a:picLocks noChangeAspect="1" noChangeArrowheads="1"/>
          </p:cNvPicPr>
          <p:nvPr/>
        </p:nvPicPr>
        <p:blipFill>
          <a:blip r:embed="rId6">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148452" y="4244939"/>
            <a:ext cx="2952750" cy="613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09288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MEET OUR TEAM">
            <a:extLst>
              <a:ext uri="{FF2B5EF4-FFF2-40B4-BE49-F238E27FC236}">
                <a16:creationId xmlns:a16="http://schemas.microsoft.com/office/drawing/2014/main" id="{E3365DE4-8A2E-5142-8B94-0FDEBECD92AC}"/>
              </a:ext>
            </a:extLst>
          </p:cNvPr>
          <p:cNvSpPr/>
          <p:nvPr/>
        </p:nvSpPr>
        <p:spPr>
          <a:xfrm>
            <a:off x="627676" y="-216976"/>
            <a:ext cx="10826223" cy="1066927"/>
          </a:xfrm>
          <a:prstGeom prst="rect">
            <a:avLst/>
          </a:prstGeom>
          <a:ln w="12700">
            <a:miter lim="400000"/>
          </a:ln>
          <a:extLst>
            <a:ext uri="{C572A759-6A51-4108-AA02-DFA0A04FC94B}">
              <ma14:wrappingTextBoxFlag xmlns="" xmlns:ma14="http://schemas.microsoft.com/office/mac/drawingml/2011/main" val="1"/>
            </a:ext>
          </a:extLst>
        </p:spPr>
        <p:txBody>
          <a:bodyPr lIns="45719" tIns="45720" rIns="45719" bIns="45720"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marL="0" marR="0" lvl="0" indent="0" algn="l" defTabSz="859536" rtl="0" eaLnBrk="1" fontAlgn="auto" latinLnBrk="0" hangingPunct="0">
              <a:lnSpc>
                <a:spcPct val="90000"/>
              </a:lnSpc>
              <a:spcBef>
                <a:spcPts val="0"/>
              </a:spcBef>
              <a:spcAft>
                <a:spcPts val="0"/>
              </a:spcAft>
              <a:buClrTx/>
              <a:buSzTx/>
              <a:buFontTx/>
              <a:buNone/>
              <a:tabLst/>
              <a:defRPr/>
            </a:pPr>
            <a:endParaRPr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64386655-F4D3-A577-C221-DBBC1F921110}"/>
              </a:ext>
            </a:extLst>
          </p:cNvPr>
          <p:cNvPicPr>
            <a:picLocks noChangeAspect="1"/>
          </p:cNvPicPr>
          <p:nvPr/>
        </p:nvPicPr>
        <p:blipFill>
          <a:blip r:embed="rId3"/>
          <a:srcRect t="-189" b="16331"/>
          <a:stretch/>
        </p:blipFill>
        <p:spPr>
          <a:xfrm>
            <a:off x="0" y="1720941"/>
            <a:ext cx="12192000" cy="2853892"/>
          </a:xfrm>
          <a:prstGeom prst="rect">
            <a:avLst/>
          </a:prstGeom>
        </p:spPr>
      </p:pic>
    </p:spTree>
    <p:extLst>
      <p:ext uri="{BB962C8B-B14F-4D97-AF65-F5344CB8AC3E}">
        <p14:creationId xmlns:p14="http://schemas.microsoft.com/office/powerpoint/2010/main" val="19510219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DBAAA-8A6D-D5C8-C846-17ABFD820C08}"/>
            </a:ext>
          </a:extLst>
        </p:cNvPr>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404518C0-7FE7-1E65-6FC0-051BC5AA58C2}"/>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23" name="MEET OUR TEAM">
            <a:extLst>
              <a:ext uri="{FF2B5EF4-FFF2-40B4-BE49-F238E27FC236}">
                <a16:creationId xmlns:a16="http://schemas.microsoft.com/office/drawing/2014/main" id="{B8240261-E1D1-065B-E2AA-4F6F30C3EC2D}"/>
              </a:ext>
            </a:extLst>
          </p:cNvPr>
          <p:cNvSpPr/>
          <p:nvPr/>
        </p:nvSpPr>
        <p:spPr>
          <a:xfrm>
            <a:off x="627676" y="-216976"/>
            <a:ext cx="10826223" cy="1066927"/>
          </a:xfrm>
          <a:prstGeom prst="rect">
            <a:avLst/>
          </a:prstGeom>
          <a:ln w="12700">
            <a:miter lim="400000"/>
          </a:ln>
          <a:extLst>
            <a:ext uri="{C572A759-6A51-4108-AA02-DFA0A04FC94B}">
              <ma14:wrappingTextBoxFlag xmlns:ma14="http://schemas.microsoft.com/office/mac/drawingml/2011/main" xmlns="" val="1"/>
            </a:ext>
          </a:extLst>
        </p:spPr>
        <p:txBody>
          <a:bodyPr lIns="45719" rIns="45719"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marL="0" marR="0" lvl="0" indent="0" algn="l" defTabSz="859536" rtl="0" eaLnBrk="1" fontAlgn="auto" latinLnBrk="0" hangingPunct="0">
              <a:lnSpc>
                <a:spcPct val="9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Timeline </a:t>
            </a:r>
          </a:p>
        </p:txBody>
      </p:sp>
      <p:grpSp>
        <p:nvGrpSpPr>
          <p:cNvPr id="4" name="Group 3">
            <a:extLst>
              <a:ext uri="{FF2B5EF4-FFF2-40B4-BE49-F238E27FC236}">
                <a16:creationId xmlns:a16="http://schemas.microsoft.com/office/drawing/2014/main" id="{17F7912A-734A-3925-E62C-A19D38E965CD}"/>
              </a:ext>
            </a:extLst>
          </p:cNvPr>
          <p:cNvGrpSpPr/>
          <p:nvPr/>
        </p:nvGrpSpPr>
        <p:grpSpPr>
          <a:xfrm>
            <a:off x="302319" y="2628282"/>
            <a:ext cx="3084716" cy="2633342"/>
            <a:chOff x="302319" y="2628282"/>
            <a:chExt cx="3084716" cy="2633342"/>
          </a:xfrm>
        </p:grpSpPr>
        <p:sp>
          <p:nvSpPr>
            <p:cNvPr id="82" name="TextBox 81">
              <a:extLst>
                <a:ext uri="{FF2B5EF4-FFF2-40B4-BE49-F238E27FC236}">
                  <a16:creationId xmlns:a16="http://schemas.microsoft.com/office/drawing/2014/main" id="{AD03DC3D-549E-6106-4516-2A87419B3329}"/>
                </a:ext>
              </a:extLst>
            </p:cNvPr>
            <p:cNvSpPr txBox="1"/>
            <p:nvPr/>
          </p:nvSpPr>
          <p:spPr>
            <a:xfrm>
              <a:off x="302319" y="4061297"/>
              <a:ext cx="3084716" cy="1200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hangingPunct="0"/>
              <a:r>
                <a:rPr lang="en-US" sz="2400" b="1" dirty="0">
                  <a:solidFill>
                    <a:schemeClr val="accent1"/>
                  </a:solidFill>
                  <a:latin typeface="Arial" panose="020B0604020202020204" pitchFamily="34" charset="0"/>
                  <a:ea typeface="+mj-ea"/>
                  <a:cs typeface="Arial" panose="020B0604020202020204" pitchFamily="34" charset="0"/>
                  <a:sym typeface="Calibri"/>
                </a:rPr>
                <a:t>What is generative agent-based modeling?</a:t>
              </a:r>
              <a:endParaRPr kumimoji="0" lang="en-US" sz="2400" b="1" i="0" u="none" strike="noStrike" cap="none" spc="0" normalizeH="0" baseline="0" dirty="0">
                <a:ln>
                  <a:noFill/>
                </a:ln>
                <a:solidFill>
                  <a:schemeClr val="accent1"/>
                </a:solidFill>
                <a:effectLst/>
                <a:uFillTx/>
                <a:latin typeface="Arial" panose="020B0604020202020204" pitchFamily="34" charset="0"/>
                <a:ea typeface="+mj-ea"/>
                <a:cs typeface="Arial" panose="020B0604020202020204" pitchFamily="34" charset="0"/>
                <a:sym typeface="Calibri"/>
              </a:endParaRPr>
            </a:p>
          </p:txBody>
        </p:sp>
        <p:pic>
          <p:nvPicPr>
            <p:cNvPr id="3" name="Picture 2">
              <a:extLst>
                <a:ext uri="{FF2B5EF4-FFF2-40B4-BE49-F238E27FC236}">
                  <a16:creationId xmlns:a16="http://schemas.microsoft.com/office/drawing/2014/main" id="{61E6AD8A-F6FE-EA39-0812-7BD36ED1B0E5}"/>
                </a:ext>
              </a:extLst>
            </p:cNvPr>
            <p:cNvPicPr>
              <a:picLocks noChangeAspect="1"/>
            </p:cNvPicPr>
            <p:nvPr/>
          </p:nvPicPr>
          <p:blipFill>
            <a:blip r:embed="rId4"/>
            <a:stretch>
              <a:fillRect/>
            </a:stretch>
          </p:blipFill>
          <p:spPr>
            <a:xfrm>
              <a:off x="400179" y="2628282"/>
              <a:ext cx="2986856" cy="1136125"/>
            </a:xfrm>
            <a:prstGeom prst="rect">
              <a:avLst/>
            </a:prstGeom>
          </p:spPr>
        </p:pic>
      </p:grpSp>
      <p:grpSp>
        <p:nvGrpSpPr>
          <p:cNvPr id="5" name="Group 4">
            <a:extLst>
              <a:ext uri="{FF2B5EF4-FFF2-40B4-BE49-F238E27FC236}">
                <a16:creationId xmlns:a16="http://schemas.microsoft.com/office/drawing/2014/main" id="{3FABC0FB-FC9E-55B0-2E89-6010D7628851}"/>
              </a:ext>
            </a:extLst>
          </p:cNvPr>
          <p:cNvGrpSpPr/>
          <p:nvPr/>
        </p:nvGrpSpPr>
        <p:grpSpPr>
          <a:xfrm>
            <a:off x="3976295" y="1213728"/>
            <a:ext cx="3711196" cy="3726109"/>
            <a:chOff x="3976295" y="1213728"/>
            <a:chExt cx="3711196" cy="3726109"/>
          </a:xfrm>
        </p:grpSpPr>
        <p:sp>
          <p:nvSpPr>
            <p:cNvPr id="85" name="TextBox 84">
              <a:extLst>
                <a:ext uri="{FF2B5EF4-FFF2-40B4-BE49-F238E27FC236}">
                  <a16:creationId xmlns:a16="http://schemas.microsoft.com/office/drawing/2014/main" id="{E0697166-7125-E8AB-D2A9-92C629E6EBC2}"/>
                </a:ext>
              </a:extLst>
            </p:cNvPr>
            <p:cNvSpPr txBox="1"/>
            <p:nvPr/>
          </p:nvSpPr>
          <p:spPr>
            <a:xfrm>
              <a:off x="4185679" y="4108842"/>
              <a:ext cx="3292427" cy="830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hangingPunct="0"/>
              <a:r>
                <a:rPr lang="en-US" sz="2400" b="1" dirty="0">
                  <a:solidFill>
                    <a:schemeClr val="accent1"/>
                  </a:solidFill>
                  <a:latin typeface="Arial" panose="020B0604020202020204" pitchFamily="34" charset="0"/>
                  <a:ea typeface="+mj-ea"/>
                  <a:cs typeface="Arial" panose="020B0604020202020204" pitchFamily="34" charset="0"/>
                  <a:sym typeface="Calibri"/>
                </a:rPr>
                <a:t>Our generative agent epidemic model</a:t>
              </a:r>
              <a:endParaRPr kumimoji="0" lang="en-US" sz="2400" b="1" i="0" u="none" strike="noStrike" cap="none" spc="0" normalizeH="0" baseline="0" dirty="0">
                <a:ln>
                  <a:noFill/>
                </a:ln>
                <a:solidFill>
                  <a:schemeClr val="accent1"/>
                </a:solidFill>
                <a:effectLst/>
                <a:uFillTx/>
                <a:latin typeface="Arial" panose="020B0604020202020204" pitchFamily="34" charset="0"/>
                <a:ea typeface="+mj-ea"/>
                <a:cs typeface="Arial" panose="020B0604020202020204" pitchFamily="34" charset="0"/>
                <a:sym typeface="Calibri"/>
              </a:endParaRPr>
            </a:p>
          </p:txBody>
        </p:sp>
        <p:pic>
          <p:nvPicPr>
            <p:cNvPr id="7" name="Picture 6">
              <a:extLst>
                <a:ext uri="{FF2B5EF4-FFF2-40B4-BE49-F238E27FC236}">
                  <a16:creationId xmlns:a16="http://schemas.microsoft.com/office/drawing/2014/main" id="{5EF54558-55AE-89C4-246A-C3EC3FA5343A}"/>
                </a:ext>
              </a:extLst>
            </p:cNvPr>
            <p:cNvPicPr>
              <a:picLocks noChangeAspect="1"/>
            </p:cNvPicPr>
            <p:nvPr/>
          </p:nvPicPr>
          <p:blipFill>
            <a:blip r:embed="rId5"/>
            <a:stretch>
              <a:fillRect/>
            </a:stretch>
          </p:blipFill>
          <p:spPr>
            <a:xfrm>
              <a:off x="3976295" y="1213728"/>
              <a:ext cx="3711196" cy="2550679"/>
            </a:xfrm>
            <a:prstGeom prst="rect">
              <a:avLst/>
            </a:prstGeom>
          </p:spPr>
        </p:pic>
      </p:grpSp>
      <p:grpSp>
        <p:nvGrpSpPr>
          <p:cNvPr id="6" name="Group 5">
            <a:extLst>
              <a:ext uri="{FF2B5EF4-FFF2-40B4-BE49-F238E27FC236}">
                <a16:creationId xmlns:a16="http://schemas.microsoft.com/office/drawing/2014/main" id="{1AB8A825-59BC-9C56-6A00-C4A69A69BEB5}"/>
              </a:ext>
            </a:extLst>
          </p:cNvPr>
          <p:cNvGrpSpPr/>
          <p:nvPr/>
        </p:nvGrpSpPr>
        <p:grpSpPr>
          <a:xfrm>
            <a:off x="8026447" y="1340845"/>
            <a:ext cx="3976320" cy="3596734"/>
            <a:chOff x="8026447" y="1340845"/>
            <a:chExt cx="3976320" cy="3596734"/>
          </a:xfrm>
        </p:grpSpPr>
        <p:sp>
          <p:nvSpPr>
            <p:cNvPr id="87" name="TextBox 86">
              <a:extLst>
                <a:ext uri="{FF2B5EF4-FFF2-40B4-BE49-F238E27FC236}">
                  <a16:creationId xmlns:a16="http://schemas.microsoft.com/office/drawing/2014/main" id="{0F28DE16-5394-FB6E-770A-DA298046778F}"/>
                </a:ext>
              </a:extLst>
            </p:cNvPr>
            <p:cNvSpPr txBox="1"/>
            <p:nvPr/>
          </p:nvSpPr>
          <p:spPr>
            <a:xfrm>
              <a:off x="8537660" y="4106584"/>
              <a:ext cx="3292427" cy="830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hangingPunct="0"/>
              <a:r>
                <a:rPr lang="en-US" sz="2400" b="1" dirty="0">
                  <a:solidFill>
                    <a:schemeClr val="accent1"/>
                  </a:solidFill>
                  <a:latin typeface="Arial" panose="020B0604020202020204" pitchFamily="34" charset="0"/>
                  <a:ea typeface="+mj-ea"/>
                  <a:cs typeface="Arial" panose="020B0604020202020204" pitchFamily="34" charset="0"/>
                  <a:sym typeface="Calibri"/>
                </a:rPr>
                <a:t>What is prompt sensitivity analysis?</a:t>
              </a:r>
              <a:endParaRPr kumimoji="0" lang="en-US" sz="2400" b="1" i="0" u="none" strike="noStrike" cap="none" spc="0" normalizeH="0" baseline="0" dirty="0">
                <a:ln>
                  <a:noFill/>
                </a:ln>
                <a:solidFill>
                  <a:schemeClr val="accent1"/>
                </a:solidFill>
                <a:effectLst/>
                <a:uFillTx/>
                <a:latin typeface="Arial" panose="020B0604020202020204" pitchFamily="34" charset="0"/>
                <a:ea typeface="+mj-ea"/>
                <a:cs typeface="Arial" panose="020B0604020202020204" pitchFamily="34" charset="0"/>
                <a:sym typeface="Calibri"/>
              </a:endParaRPr>
            </a:p>
          </p:txBody>
        </p:sp>
        <p:pic>
          <p:nvPicPr>
            <p:cNvPr id="2" name="Picture 1">
              <a:extLst>
                <a:ext uri="{FF2B5EF4-FFF2-40B4-BE49-F238E27FC236}">
                  <a16:creationId xmlns:a16="http://schemas.microsoft.com/office/drawing/2014/main" id="{7DB056F8-7F37-869A-7BF0-F145124EF118}"/>
                </a:ext>
              </a:extLst>
            </p:cNvPr>
            <p:cNvPicPr>
              <a:picLocks noChangeAspect="1"/>
            </p:cNvPicPr>
            <p:nvPr/>
          </p:nvPicPr>
          <p:blipFill>
            <a:blip r:embed="rId6"/>
            <a:stretch>
              <a:fillRect/>
            </a:stretch>
          </p:blipFill>
          <p:spPr>
            <a:xfrm>
              <a:off x="8026447" y="1340845"/>
              <a:ext cx="3976320" cy="2423562"/>
            </a:xfrm>
            <a:prstGeom prst="rect">
              <a:avLst/>
            </a:prstGeom>
          </p:spPr>
        </p:pic>
      </p:grpSp>
    </p:spTree>
    <p:extLst>
      <p:ext uri="{BB962C8B-B14F-4D97-AF65-F5344CB8AC3E}">
        <p14:creationId xmlns:p14="http://schemas.microsoft.com/office/powerpoint/2010/main" val="28900868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5"/>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181AB-946D-44CB-B8F0-03B10E8FC7E9}"/>
              </a:ext>
            </a:extLst>
          </p:cNvPr>
          <p:cNvSpPr>
            <a:spLocks noGrp="1"/>
          </p:cNvSpPr>
          <p:nvPr>
            <p:ph type="title"/>
          </p:nvPr>
        </p:nvSpPr>
        <p:spPr>
          <a:xfrm>
            <a:off x="313509" y="365125"/>
            <a:ext cx="11739154" cy="949869"/>
          </a:xfrm>
        </p:spPr>
        <p:txBody>
          <a:bodyPr lIns="91440" tIns="45720" rIns="91440" bIns="45720" anchor="t">
            <a:noAutofit/>
          </a:bodyPr>
          <a:lstStyle/>
          <a:p>
            <a:r>
              <a:rPr lang="en-US" sz="3200" b="1" dirty="0">
                <a:solidFill>
                  <a:schemeClr val="tx1"/>
                </a:solidFill>
                <a:latin typeface="Arial"/>
              </a:rPr>
              <a:t>Generative agent-based model</a:t>
            </a:r>
            <a:endParaRPr lang="en-US" sz="3200">
              <a:solidFill>
                <a:schemeClr val="tx1"/>
              </a:solidFill>
              <a:latin typeface="Arial"/>
            </a:endParaRPr>
          </a:p>
        </p:txBody>
      </p:sp>
      <p:sp>
        <p:nvSpPr>
          <p:cNvPr id="4" name="Footer Placeholder 3">
            <a:extLst>
              <a:ext uri="{FF2B5EF4-FFF2-40B4-BE49-F238E27FC236}">
                <a16:creationId xmlns:a16="http://schemas.microsoft.com/office/drawing/2014/main" id="{83EC87BE-CD28-4C99-A10A-3A8EE00E21ED}"/>
              </a:ext>
            </a:extLst>
          </p:cNvPr>
          <p:cNvSpPr>
            <a:spLocks noGrp="1"/>
          </p:cNvSpPr>
          <p:nvPr>
            <p:ph type="ftr" sz="quarter" idx="11"/>
          </p:nvPr>
        </p:nvSpPr>
        <p:spPr/>
        <p:txBody>
          <a:bodyPr/>
          <a:lstStyle/>
          <a:p>
            <a:r>
              <a:rPr lang="en-US"/>
              <a:t>Navid Ghaffarzadegan (2024) Generative Agent-Based Modeling</a:t>
            </a:r>
          </a:p>
        </p:txBody>
      </p:sp>
      <p:sp>
        <p:nvSpPr>
          <p:cNvPr id="5" name="Slide Number Placeholder 4">
            <a:extLst>
              <a:ext uri="{FF2B5EF4-FFF2-40B4-BE49-F238E27FC236}">
                <a16:creationId xmlns:a16="http://schemas.microsoft.com/office/drawing/2014/main" id="{1548AD18-4C50-43AD-881C-686175E62348}"/>
              </a:ext>
            </a:extLst>
          </p:cNvPr>
          <p:cNvSpPr>
            <a:spLocks noGrp="1"/>
          </p:cNvSpPr>
          <p:nvPr>
            <p:ph type="sldNum" sz="quarter" idx="12"/>
          </p:nvPr>
        </p:nvSpPr>
        <p:spPr/>
        <p:txBody>
          <a:bodyPr/>
          <a:lstStyle/>
          <a:p>
            <a:fld id="{371A3544-C5AA-4FA3-B01F-3674D325DFC6}" type="slidenum">
              <a:rPr lang="en-US" smtClean="0"/>
              <a:t>4</a:t>
            </a:fld>
            <a:endParaRPr lang="en-US"/>
          </a:p>
        </p:txBody>
      </p:sp>
      <p:grpSp>
        <p:nvGrpSpPr>
          <p:cNvPr id="13" name="Group 12">
            <a:extLst>
              <a:ext uri="{FF2B5EF4-FFF2-40B4-BE49-F238E27FC236}">
                <a16:creationId xmlns:a16="http://schemas.microsoft.com/office/drawing/2014/main" id="{0C43A2E9-B1EF-4289-A9D0-BC9CB710FF18}"/>
              </a:ext>
            </a:extLst>
          </p:cNvPr>
          <p:cNvGrpSpPr/>
          <p:nvPr/>
        </p:nvGrpSpPr>
        <p:grpSpPr>
          <a:xfrm>
            <a:off x="997527" y="1302326"/>
            <a:ext cx="9984509" cy="3616759"/>
            <a:chOff x="2707511" y="2710781"/>
            <a:chExt cx="5276979" cy="2138439"/>
          </a:xfrm>
        </p:grpSpPr>
        <p:grpSp>
          <p:nvGrpSpPr>
            <p:cNvPr id="14" name="Group 13">
              <a:extLst>
                <a:ext uri="{FF2B5EF4-FFF2-40B4-BE49-F238E27FC236}">
                  <a16:creationId xmlns:a16="http://schemas.microsoft.com/office/drawing/2014/main" id="{76C9600F-FCE2-4C1D-BFE2-F3CC75292E35}"/>
                </a:ext>
              </a:extLst>
            </p:cNvPr>
            <p:cNvGrpSpPr/>
            <p:nvPr/>
          </p:nvGrpSpPr>
          <p:grpSpPr>
            <a:xfrm>
              <a:off x="2707511" y="2710781"/>
              <a:ext cx="5276979" cy="2138439"/>
              <a:chOff x="2707500" y="2710775"/>
              <a:chExt cx="5277000" cy="2138450"/>
            </a:xfrm>
          </p:grpSpPr>
          <p:sp>
            <p:nvSpPr>
              <p:cNvPr id="15" name="Rectangle 14">
                <a:extLst>
                  <a:ext uri="{FF2B5EF4-FFF2-40B4-BE49-F238E27FC236}">
                    <a16:creationId xmlns:a16="http://schemas.microsoft.com/office/drawing/2014/main" id="{FB9445BA-7005-4004-88B8-B458F631D61B}"/>
                  </a:ext>
                </a:extLst>
              </p:cNvPr>
              <p:cNvSpPr/>
              <p:nvPr/>
            </p:nvSpPr>
            <p:spPr>
              <a:xfrm>
                <a:off x="2707500" y="2710775"/>
                <a:ext cx="5277000" cy="2138450"/>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16" name="Group 15">
                <a:extLst>
                  <a:ext uri="{FF2B5EF4-FFF2-40B4-BE49-F238E27FC236}">
                    <a16:creationId xmlns:a16="http://schemas.microsoft.com/office/drawing/2014/main" id="{9C0BB36A-5E44-4FD4-810A-3CD28A49FD5B}"/>
                  </a:ext>
                </a:extLst>
              </p:cNvPr>
              <p:cNvGrpSpPr/>
              <p:nvPr/>
            </p:nvGrpSpPr>
            <p:grpSpPr>
              <a:xfrm>
                <a:off x="2707511" y="2710781"/>
                <a:ext cx="5276979" cy="2138439"/>
                <a:chOff x="2707500" y="2710775"/>
                <a:chExt cx="5277000" cy="2138450"/>
              </a:xfrm>
            </p:grpSpPr>
            <p:sp>
              <p:nvSpPr>
                <p:cNvPr id="17" name="Rectangle 16">
                  <a:extLst>
                    <a:ext uri="{FF2B5EF4-FFF2-40B4-BE49-F238E27FC236}">
                      <a16:creationId xmlns:a16="http://schemas.microsoft.com/office/drawing/2014/main" id="{234AE5F8-F638-455F-8A33-0372AF1238E9}"/>
                    </a:ext>
                  </a:extLst>
                </p:cNvPr>
                <p:cNvSpPr/>
                <p:nvPr/>
              </p:nvSpPr>
              <p:spPr>
                <a:xfrm>
                  <a:off x="2707500" y="2710775"/>
                  <a:ext cx="5277000" cy="2138450"/>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18" name="Group 17">
                  <a:extLst>
                    <a:ext uri="{FF2B5EF4-FFF2-40B4-BE49-F238E27FC236}">
                      <a16:creationId xmlns:a16="http://schemas.microsoft.com/office/drawing/2014/main" id="{FC99774E-7039-4320-A588-E5DDBE72E15B}"/>
                    </a:ext>
                  </a:extLst>
                </p:cNvPr>
                <p:cNvGrpSpPr/>
                <p:nvPr/>
              </p:nvGrpSpPr>
              <p:grpSpPr>
                <a:xfrm>
                  <a:off x="2707511" y="2710781"/>
                  <a:ext cx="5276979" cy="2138439"/>
                  <a:chOff x="2707500" y="2710775"/>
                  <a:chExt cx="5277000" cy="2138450"/>
                </a:xfrm>
              </p:grpSpPr>
              <p:sp>
                <p:nvSpPr>
                  <p:cNvPr id="19" name="Rectangle 18">
                    <a:extLst>
                      <a:ext uri="{FF2B5EF4-FFF2-40B4-BE49-F238E27FC236}">
                        <a16:creationId xmlns:a16="http://schemas.microsoft.com/office/drawing/2014/main" id="{967A9A72-51A3-409B-9B98-5A72D8643F96}"/>
                      </a:ext>
                    </a:extLst>
                  </p:cNvPr>
                  <p:cNvSpPr/>
                  <p:nvPr/>
                </p:nvSpPr>
                <p:spPr>
                  <a:xfrm>
                    <a:off x="2707500" y="2710775"/>
                    <a:ext cx="5277000" cy="2138450"/>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20" name="Group 19">
                    <a:extLst>
                      <a:ext uri="{FF2B5EF4-FFF2-40B4-BE49-F238E27FC236}">
                        <a16:creationId xmlns:a16="http://schemas.microsoft.com/office/drawing/2014/main" id="{EDDC2DB5-BC4D-45F3-B529-703473B28980}"/>
                      </a:ext>
                    </a:extLst>
                  </p:cNvPr>
                  <p:cNvGrpSpPr/>
                  <p:nvPr/>
                </p:nvGrpSpPr>
                <p:grpSpPr>
                  <a:xfrm>
                    <a:off x="2707511" y="2710781"/>
                    <a:ext cx="5276979" cy="2138439"/>
                    <a:chOff x="2707500" y="2710775"/>
                    <a:chExt cx="5277025" cy="2138525"/>
                  </a:xfrm>
                </p:grpSpPr>
                <p:sp>
                  <p:nvSpPr>
                    <p:cNvPr id="21" name="Rectangle 20">
                      <a:extLst>
                        <a:ext uri="{FF2B5EF4-FFF2-40B4-BE49-F238E27FC236}">
                          <a16:creationId xmlns:a16="http://schemas.microsoft.com/office/drawing/2014/main" id="{B56D96C3-C1DE-4406-8331-DD31B80833F7}"/>
                        </a:ext>
                      </a:extLst>
                    </p:cNvPr>
                    <p:cNvSpPr/>
                    <p:nvPr/>
                  </p:nvSpPr>
                  <p:spPr>
                    <a:xfrm>
                      <a:off x="2707500" y="2710775"/>
                      <a:ext cx="5277025" cy="2138525"/>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22" name="Group 21">
                      <a:extLst>
                        <a:ext uri="{FF2B5EF4-FFF2-40B4-BE49-F238E27FC236}">
                          <a16:creationId xmlns:a16="http://schemas.microsoft.com/office/drawing/2014/main" id="{3CD1B58E-DCB6-4524-8B49-E49716870B57}"/>
                        </a:ext>
                      </a:extLst>
                    </p:cNvPr>
                    <p:cNvGrpSpPr/>
                    <p:nvPr/>
                  </p:nvGrpSpPr>
                  <p:grpSpPr>
                    <a:xfrm>
                      <a:off x="2707511" y="2710781"/>
                      <a:ext cx="5276979" cy="2138439"/>
                      <a:chOff x="2707500" y="2710775"/>
                      <a:chExt cx="5291300" cy="2152750"/>
                    </a:xfrm>
                  </p:grpSpPr>
                  <p:sp>
                    <p:nvSpPr>
                      <p:cNvPr id="23" name="Rectangle 22">
                        <a:extLst>
                          <a:ext uri="{FF2B5EF4-FFF2-40B4-BE49-F238E27FC236}">
                            <a16:creationId xmlns:a16="http://schemas.microsoft.com/office/drawing/2014/main" id="{4BBCF8D1-6CC0-4FAA-A8DC-1EF748175FBC}"/>
                          </a:ext>
                        </a:extLst>
                      </p:cNvPr>
                      <p:cNvSpPr/>
                      <p:nvPr/>
                    </p:nvSpPr>
                    <p:spPr>
                      <a:xfrm>
                        <a:off x="2707500" y="2710775"/>
                        <a:ext cx="5291300" cy="2152750"/>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24" name="Group 23">
                        <a:extLst>
                          <a:ext uri="{FF2B5EF4-FFF2-40B4-BE49-F238E27FC236}">
                            <a16:creationId xmlns:a16="http://schemas.microsoft.com/office/drawing/2014/main" id="{9759CA3A-4659-4CFC-94AD-5CCFA706BA08}"/>
                          </a:ext>
                        </a:extLst>
                      </p:cNvPr>
                      <p:cNvGrpSpPr/>
                      <p:nvPr/>
                    </p:nvGrpSpPr>
                    <p:grpSpPr>
                      <a:xfrm>
                        <a:off x="2707511" y="2710781"/>
                        <a:ext cx="5276976" cy="2138439"/>
                        <a:chOff x="2683660" y="2771159"/>
                        <a:chExt cx="5305525" cy="2151840"/>
                      </a:xfrm>
                    </p:grpSpPr>
                    <p:sp>
                      <p:nvSpPr>
                        <p:cNvPr id="25" name="Rectangle 24">
                          <a:extLst>
                            <a:ext uri="{FF2B5EF4-FFF2-40B4-BE49-F238E27FC236}">
                              <a16:creationId xmlns:a16="http://schemas.microsoft.com/office/drawing/2014/main" id="{F639B689-C86E-4A65-A59C-874FF74A3CE0}"/>
                            </a:ext>
                          </a:extLst>
                        </p:cNvPr>
                        <p:cNvSpPr/>
                        <p:nvPr/>
                      </p:nvSpPr>
                      <p:spPr>
                        <a:xfrm>
                          <a:off x="2683660" y="2771159"/>
                          <a:ext cx="5305525" cy="2151825"/>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26" name="Group 25">
                          <a:extLst>
                            <a:ext uri="{FF2B5EF4-FFF2-40B4-BE49-F238E27FC236}">
                              <a16:creationId xmlns:a16="http://schemas.microsoft.com/office/drawing/2014/main" id="{077AAE52-1B40-48E0-B03D-47861311EB20}"/>
                            </a:ext>
                          </a:extLst>
                        </p:cNvPr>
                        <p:cNvGrpSpPr/>
                        <p:nvPr/>
                      </p:nvGrpSpPr>
                      <p:grpSpPr>
                        <a:xfrm>
                          <a:off x="2683660" y="2771159"/>
                          <a:ext cx="5305398" cy="2151840"/>
                          <a:chOff x="-19153" y="134159"/>
                          <a:chExt cx="5305398" cy="2151840"/>
                        </a:xfrm>
                      </p:grpSpPr>
                      <p:sp>
                        <p:nvSpPr>
                          <p:cNvPr id="27" name="Rectangle 26">
                            <a:extLst>
                              <a:ext uri="{FF2B5EF4-FFF2-40B4-BE49-F238E27FC236}">
                                <a16:creationId xmlns:a16="http://schemas.microsoft.com/office/drawing/2014/main" id="{53F4B7F4-3BAE-4D28-9F66-BF402A617636}"/>
                              </a:ext>
                            </a:extLst>
                          </p:cNvPr>
                          <p:cNvSpPr/>
                          <p:nvPr/>
                        </p:nvSpPr>
                        <p:spPr>
                          <a:xfrm>
                            <a:off x="-19153" y="134159"/>
                            <a:ext cx="5305398" cy="2151840"/>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28" name="Group 27">
                            <a:extLst>
                              <a:ext uri="{FF2B5EF4-FFF2-40B4-BE49-F238E27FC236}">
                                <a16:creationId xmlns:a16="http://schemas.microsoft.com/office/drawing/2014/main" id="{2F0F4A47-D162-4A47-906B-E3EA560B4AAF}"/>
                              </a:ext>
                            </a:extLst>
                          </p:cNvPr>
                          <p:cNvGrpSpPr/>
                          <p:nvPr/>
                        </p:nvGrpSpPr>
                        <p:grpSpPr>
                          <a:xfrm>
                            <a:off x="3453831" y="552449"/>
                            <a:ext cx="1803970" cy="1600201"/>
                            <a:chOff x="3339531" y="142874"/>
                            <a:chExt cx="1803970" cy="1600201"/>
                          </a:xfrm>
                        </p:grpSpPr>
                        <p:sp>
                          <p:nvSpPr>
                            <p:cNvPr id="29" name="Rectangle 28">
                              <a:extLst>
                                <a:ext uri="{FF2B5EF4-FFF2-40B4-BE49-F238E27FC236}">
                                  <a16:creationId xmlns:a16="http://schemas.microsoft.com/office/drawing/2014/main" id="{0C38F42E-8FD7-47C6-B70E-EAA67EF18038}"/>
                                </a:ext>
                              </a:extLst>
                            </p:cNvPr>
                            <p:cNvSpPr/>
                            <p:nvPr/>
                          </p:nvSpPr>
                          <p:spPr>
                            <a:xfrm>
                              <a:off x="3448050" y="457200"/>
                              <a:ext cx="1581150" cy="1285875"/>
                            </a:xfrm>
                            <a:prstGeom prst="rect">
                              <a:avLst/>
                            </a:prstGeom>
                            <a:solidFill>
                              <a:srgbClr val="C4E0B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algn="ctr">
                                <a:lnSpc>
                                  <a:spcPct val="107000"/>
                                </a:lnSpc>
                                <a:spcBef>
                                  <a:spcPts val="0"/>
                                </a:spcBef>
                                <a:spcAft>
                                  <a:spcPts val="800"/>
                                </a:spcAft>
                              </a:pPr>
                              <a:r>
                                <a:rPr lang="en-US" sz="2000" dirty="0">
                                  <a:effectLst/>
                                  <a:latin typeface="Calibri" panose="020F0502020204030204" pitchFamily="34" charset="0"/>
                                  <a:ea typeface="Calibri" panose="020F0502020204030204" pitchFamily="34" charset="0"/>
                                </a:rPr>
                                <a:t> </a:t>
                              </a:r>
                            </a:p>
                            <a:p>
                              <a:pPr marL="0" marR="0" algn="ctr">
                                <a:lnSpc>
                                  <a:spcPct val="107000"/>
                                </a:lnSpc>
                                <a:spcBef>
                                  <a:spcPts val="0"/>
                                </a:spcBef>
                                <a:spcAft>
                                  <a:spcPts val="800"/>
                                </a:spcAft>
                              </a:pPr>
                              <a:r>
                                <a:rPr lang="en-US" sz="2000" dirty="0">
                                  <a:effectLst/>
                                  <a:latin typeface="Calibri" panose="020F0502020204030204" pitchFamily="34" charset="0"/>
                                  <a:ea typeface="Calibri" panose="020F0502020204030204" pitchFamily="34" charset="0"/>
                                </a:rPr>
                                <a:t> </a:t>
                              </a:r>
                            </a:p>
                            <a:p>
                              <a:pPr marL="0" marR="0" algn="ctr">
                                <a:lnSpc>
                                  <a:spcPct val="107000"/>
                                </a:lnSpc>
                                <a:spcBef>
                                  <a:spcPts val="0"/>
                                </a:spcBef>
                                <a:spcAft>
                                  <a:spcPts val="800"/>
                                </a:spcAft>
                              </a:pPr>
                              <a:r>
                                <a:rPr lang="en-US" sz="2000" dirty="0">
                                  <a:solidFill>
                                    <a:srgbClr val="000000"/>
                                  </a:solidFill>
                                  <a:effectLst/>
                                  <a:latin typeface="Calibri" panose="020F0502020204030204" pitchFamily="34" charset="0"/>
                                  <a:ea typeface="Calibri" panose="020F0502020204030204" pitchFamily="34" charset="0"/>
                                </a:rPr>
                                <a:t>Model of interactions</a:t>
                              </a:r>
                              <a:endParaRPr lang="en-US" sz="2000" dirty="0">
                                <a:effectLst/>
                                <a:latin typeface="Calibri" panose="020F0502020204030204" pitchFamily="34" charset="0"/>
                                <a:ea typeface="Calibri" panose="020F0502020204030204" pitchFamily="34" charset="0"/>
                              </a:endParaRPr>
                            </a:p>
                          </p:txBody>
                        </p:sp>
                        <p:sp>
                          <p:nvSpPr>
                            <p:cNvPr id="30" name="Rectangle 29">
                              <a:extLst>
                                <a:ext uri="{FF2B5EF4-FFF2-40B4-BE49-F238E27FC236}">
                                  <a16:creationId xmlns:a16="http://schemas.microsoft.com/office/drawing/2014/main" id="{CB01DD27-AC56-43D9-94CC-5518A43E0314}"/>
                                </a:ext>
                              </a:extLst>
                            </p:cNvPr>
                            <p:cNvSpPr/>
                            <p:nvPr/>
                          </p:nvSpPr>
                          <p:spPr>
                            <a:xfrm>
                              <a:off x="3339531" y="142874"/>
                              <a:ext cx="1803970" cy="352425"/>
                            </a:xfrm>
                            <a:prstGeom prst="rect">
                              <a:avLst/>
                            </a:prstGeom>
                            <a:noFill/>
                            <a:ln>
                              <a:noFill/>
                            </a:ln>
                          </p:spPr>
                          <p:txBody>
                            <a:bodyPr spcFirstLastPara="1" wrap="square" lIns="91425" tIns="45700" rIns="91425" bIns="45700" anchor="t" anchorCtr="0">
                              <a:noAutofit/>
                            </a:bodyPr>
                            <a:lstStyle/>
                            <a:p>
                              <a:pPr marL="0" marR="0" algn="ctr">
                                <a:lnSpc>
                                  <a:spcPct val="107000"/>
                                </a:lnSpc>
                                <a:spcBef>
                                  <a:spcPts val="0"/>
                                </a:spcBef>
                                <a:spcAft>
                                  <a:spcPts val="800"/>
                                </a:spcAft>
                              </a:pPr>
                              <a:r>
                                <a:rPr lang="en-US" sz="2000" i="1" dirty="0">
                                  <a:solidFill>
                                    <a:srgbClr val="000000"/>
                                  </a:solidFill>
                                  <a:effectLst/>
                                  <a:latin typeface="Calibri" panose="020F0502020204030204" pitchFamily="34" charset="0"/>
                                  <a:ea typeface="Calibri" panose="020F0502020204030204" pitchFamily="34" charset="0"/>
                                </a:rPr>
                                <a:t>A Mechanistic Model </a:t>
                              </a:r>
                              <a:endParaRPr lang="en-US" sz="2000" dirty="0">
                                <a:effectLst/>
                                <a:latin typeface="Calibri" panose="020F0502020204030204" pitchFamily="34" charset="0"/>
                                <a:ea typeface="Calibri" panose="020F0502020204030204" pitchFamily="34" charset="0"/>
                              </a:endParaRPr>
                            </a:p>
                          </p:txBody>
                        </p:sp>
                        <p:sp>
                          <p:nvSpPr>
                            <p:cNvPr id="31" name="Freeform: Shape 30">
                              <a:extLst>
                                <a:ext uri="{FF2B5EF4-FFF2-40B4-BE49-F238E27FC236}">
                                  <a16:creationId xmlns:a16="http://schemas.microsoft.com/office/drawing/2014/main" id="{A9D24552-5A7C-42D6-AC91-58409EB6A795}"/>
                                </a:ext>
                              </a:extLst>
                            </p:cNvPr>
                            <p:cNvSpPr/>
                            <p:nvPr/>
                          </p:nvSpPr>
                          <p:spPr>
                            <a:xfrm>
                              <a:off x="3971925" y="571500"/>
                              <a:ext cx="533400" cy="495300"/>
                            </a:xfrm>
                            <a:custGeom>
                              <a:avLst/>
                              <a:gdLst/>
                              <a:ahLst/>
                              <a:cxnLst/>
                              <a:rect l="l" t="t" r="r" b="b"/>
                              <a:pathLst>
                                <a:path w="819150" h="752475" extrusionOk="0">
                                  <a:moveTo>
                                    <a:pt x="740569" y="296306"/>
                                  </a:moveTo>
                                  <a:cubicBezTo>
                                    <a:pt x="737711" y="296306"/>
                                    <a:pt x="734854" y="296306"/>
                                    <a:pt x="731996" y="296306"/>
                                  </a:cubicBezTo>
                                  <a:lnTo>
                                    <a:pt x="707231" y="229631"/>
                                  </a:lnTo>
                                  <a:cubicBezTo>
                                    <a:pt x="764381" y="197246"/>
                                    <a:pt x="784384" y="124856"/>
                                    <a:pt x="752951" y="67706"/>
                                  </a:cubicBezTo>
                                  <a:cubicBezTo>
                                    <a:pt x="720566" y="10556"/>
                                    <a:pt x="648176" y="-9446"/>
                                    <a:pt x="591026" y="21986"/>
                                  </a:cubicBezTo>
                                  <a:cubicBezTo>
                                    <a:pt x="563404" y="37226"/>
                                    <a:pt x="542449" y="63896"/>
                                    <a:pt x="534829" y="94376"/>
                                  </a:cubicBezTo>
                                  <a:lnTo>
                                    <a:pt x="446246" y="84851"/>
                                  </a:lnTo>
                                  <a:cubicBezTo>
                                    <a:pt x="439579" y="42941"/>
                                    <a:pt x="400526" y="13414"/>
                                    <a:pt x="358616" y="20081"/>
                                  </a:cubicBezTo>
                                  <a:cubicBezTo>
                                    <a:pt x="320516" y="25796"/>
                                    <a:pt x="292894" y="58181"/>
                                    <a:pt x="292894" y="96281"/>
                                  </a:cubicBezTo>
                                  <a:cubicBezTo>
                                    <a:pt x="292894" y="109616"/>
                                    <a:pt x="296704" y="122951"/>
                                    <a:pt x="303371" y="135334"/>
                                  </a:cubicBezTo>
                                  <a:lnTo>
                                    <a:pt x="196691" y="240109"/>
                                  </a:lnTo>
                                  <a:cubicBezTo>
                                    <a:pt x="176689" y="224869"/>
                                    <a:pt x="151924" y="216296"/>
                                    <a:pt x="126206" y="216296"/>
                                  </a:cubicBezTo>
                                  <a:cubicBezTo>
                                    <a:pt x="60484" y="216296"/>
                                    <a:pt x="7144" y="269636"/>
                                    <a:pt x="7144" y="335359"/>
                                  </a:cubicBezTo>
                                  <a:cubicBezTo>
                                    <a:pt x="7144" y="401081"/>
                                    <a:pt x="60484" y="454421"/>
                                    <a:pt x="126206" y="454421"/>
                                  </a:cubicBezTo>
                                  <a:lnTo>
                                    <a:pt x="150019" y="597296"/>
                                  </a:lnTo>
                                  <a:cubicBezTo>
                                    <a:pt x="110966" y="614441"/>
                                    <a:pt x="92869" y="660161"/>
                                    <a:pt x="110014" y="699214"/>
                                  </a:cubicBezTo>
                                  <a:cubicBezTo>
                                    <a:pt x="127159" y="738266"/>
                                    <a:pt x="172879" y="756364"/>
                                    <a:pt x="211931" y="739219"/>
                                  </a:cubicBezTo>
                                  <a:cubicBezTo>
                                    <a:pt x="248126" y="723979"/>
                                    <a:pt x="266224" y="683974"/>
                                    <a:pt x="255746" y="645874"/>
                                  </a:cubicBezTo>
                                  <a:lnTo>
                                    <a:pt x="339566" y="602059"/>
                                  </a:lnTo>
                                  <a:cubicBezTo>
                                    <a:pt x="393859" y="662066"/>
                                    <a:pt x="487204" y="666829"/>
                                    <a:pt x="548164" y="612536"/>
                                  </a:cubicBezTo>
                                  <a:cubicBezTo>
                                    <a:pt x="578644" y="584914"/>
                                    <a:pt x="596741" y="544909"/>
                                    <a:pt x="596741" y="503951"/>
                                  </a:cubicBezTo>
                                  <a:cubicBezTo>
                                    <a:pt x="596741" y="493474"/>
                                    <a:pt x="595789" y="482044"/>
                                    <a:pt x="592931" y="471566"/>
                                  </a:cubicBezTo>
                                  <a:lnTo>
                                    <a:pt x="685324" y="423941"/>
                                  </a:lnTo>
                                  <a:cubicBezTo>
                                    <a:pt x="713899" y="456326"/>
                                    <a:pt x="762476" y="459184"/>
                                    <a:pt x="794861" y="430609"/>
                                  </a:cubicBezTo>
                                  <a:cubicBezTo>
                                    <a:pt x="827246" y="402034"/>
                                    <a:pt x="830104" y="353456"/>
                                    <a:pt x="801529" y="321071"/>
                                  </a:cubicBezTo>
                                  <a:cubicBezTo>
                                    <a:pt x="783431" y="305831"/>
                                    <a:pt x="762476" y="296306"/>
                                    <a:pt x="740569" y="296306"/>
                                  </a:cubicBezTo>
                                  <a:lnTo>
                                    <a:pt x="740569" y="296306"/>
                                  </a:lnTo>
                                  <a:close/>
                                  <a:moveTo>
                                    <a:pt x="740569" y="324881"/>
                                  </a:moveTo>
                                  <a:cubicBezTo>
                                    <a:pt x="752951" y="324881"/>
                                    <a:pt x="762476" y="334406"/>
                                    <a:pt x="762476" y="346789"/>
                                  </a:cubicBezTo>
                                  <a:cubicBezTo>
                                    <a:pt x="762476" y="359171"/>
                                    <a:pt x="752951" y="368696"/>
                                    <a:pt x="740569" y="368696"/>
                                  </a:cubicBezTo>
                                  <a:cubicBezTo>
                                    <a:pt x="728186" y="368696"/>
                                    <a:pt x="718661" y="359171"/>
                                    <a:pt x="718661" y="346789"/>
                                  </a:cubicBezTo>
                                  <a:cubicBezTo>
                                    <a:pt x="718661" y="346789"/>
                                    <a:pt x="718661" y="346789"/>
                                    <a:pt x="718661" y="346789"/>
                                  </a:cubicBezTo>
                                  <a:cubicBezTo>
                                    <a:pt x="718661" y="334406"/>
                                    <a:pt x="728186" y="324881"/>
                                    <a:pt x="740569" y="324881"/>
                                  </a:cubicBezTo>
                                  <a:lnTo>
                                    <a:pt x="740569" y="324881"/>
                                  </a:lnTo>
                                  <a:close/>
                                  <a:moveTo>
                                    <a:pt x="649129" y="53419"/>
                                  </a:moveTo>
                                  <a:cubicBezTo>
                                    <a:pt x="667226" y="53419"/>
                                    <a:pt x="682466" y="68659"/>
                                    <a:pt x="682466" y="86756"/>
                                  </a:cubicBezTo>
                                  <a:cubicBezTo>
                                    <a:pt x="682466" y="104854"/>
                                    <a:pt x="667226" y="120094"/>
                                    <a:pt x="649129" y="120094"/>
                                  </a:cubicBezTo>
                                  <a:cubicBezTo>
                                    <a:pt x="631031" y="120094"/>
                                    <a:pt x="615791" y="104854"/>
                                    <a:pt x="615791" y="86756"/>
                                  </a:cubicBezTo>
                                  <a:cubicBezTo>
                                    <a:pt x="615791" y="86756"/>
                                    <a:pt x="615791" y="86756"/>
                                    <a:pt x="615791" y="86756"/>
                                  </a:cubicBezTo>
                                  <a:cubicBezTo>
                                    <a:pt x="615791" y="68659"/>
                                    <a:pt x="630079" y="53419"/>
                                    <a:pt x="649129" y="53419"/>
                                  </a:cubicBezTo>
                                  <a:close/>
                                  <a:moveTo>
                                    <a:pt x="581501" y="162004"/>
                                  </a:moveTo>
                                  <a:cubicBezTo>
                                    <a:pt x="581501" y="157241"/>
                                    <a:pt x="584359" y="151526"/>
                                    <a:pt x="588169" y="148669"/>
                                  </a:cubicBezTo>
                                  <a:cubicBezTo>
                                    <a:pt x="597694" y="142001"/>
                                    <a:pt x="609124" y="136286"/>
                                    <a:pt x="620554" y="133429"/>
                                  </a:cubicBezTo>
                                  <a:cubicBezTo>
                                    <a:pt x="629126" y="130571"/>
                                    <a:pt x="638651" y="129619"/>
                                    <a:pt x="648176" y="129619"/>
                                  </a:cubicBezTo>
                                  <a:cubicBezTo>
                                    <a:pt x="657701" y="129619"/>
                                    <a:pt x="667226" y="131524"/>
                                    <a:pt x="675799" y="133429"/>
                                  </a:cubicBezTo>
                                  <a:cubicBezTo>
                                    <a:pt x="687229" y="136286"/>
                                    <a:pt x="698659" y="142001"/>
                                    <a:pt x="708184" y="149621"/>
                                  </a:cubicBezTo>
                                  <a:cubicBezTo>
                                    <a:pt x="711994" y="152479"/>
                                    <a:pt x="714851" y="158194"/>
                                    <a:pt x="714851" y="162956"/>
                                  </a:cubicBezTo>
                                  <a:lnTo>
                                    <a:pt x="714851" y="188674"/>
                                  </a:lnTo>
                                  <a:lnTo>
                                    <a:pt x="581501" y="188674"/>
                                  </a:lnTo>
                                  <a:lnTo>
                                    <a:pt x="581501" y="162004"/>
                                  </a:lnTo>
                                  <a:close/>
                                  <a:moveTo>
                                    <a:pt x="369094" y="47704"/>
                                  </a:moveTo>
                                  <a:cubicBezTo>
                                    <a:pt x="381476" y="47704"/>
                                    <a:pt x="391001" y="57229"/>
                                    <a:pt x="391001" y="69611"/>
                                  </a:cubicBezTo>
                                  <a:cubicBezTo>
                                    <a:pt x="391001" y="81994"/>
                                    <a:pt x="381476" y="91519"/>
                                    <a:pt x="369094" y="91519"/>
                                  </a:cubicBezTo>
                                  <a:cubicBezTo>
                                    <a:pt x="356711" y="91519"/>
                                    <a:pt x="347186" y="81994"/>
                                    <a:pt x="347186" y="69611"/>
                                  </a:cubicBezTo>
                                  <a:cubicBezTo>
                                    <a:pt x="347186" y="69611"/>
                                    <a:pt x="347186" y="69611"/>
                                    <a:pt x="347186" y="69611"/>
                                  </a:cubicBezTo>
                                  <a:cubicBezTo>
                                    <a:pt x="347186" y="58181"/>
                                    <a:pt x="356711" y="47704"/>
                                    <a:pt x="369094" y="47704"/>
                                  </a:cubicBezTo>
                                  <a:lnTo>
                                    <a:pt x="369094" y="47704"/>
                                  </a:lnTo>
                                  <a:close/>
                                  <a:moveTo>
                                    <a:pt x="324326" y="119141"/>
                                  </a:moveTo>
                                  <a:cubicBezTo>
                                    <a:pt x="324326" y="115331"/>
                                    <a:pt x="326231" y="112474"/>
                                    <a:pt x="329089" y="110569"/>
                                  </a:cubicBezTo>
                                  <a:cubicBezTo>
                                    <a:pt x="335756" y="105806"/>
                                    <a:pt x="343376" y="102949"/>
                                    <a:pt x="350996" y="101044"/>
                                  </a:cubicBezTo>
                                  <a:cubicBezTo>
                                    <a:pt x="356711" y="99139"/>
                                    <a:pt x="363379" y="98186"/>
                                    <a:pt x="369094" y="98186"/>
                                  </a:cubicBezTo>
                                  <a:cubicBezTo>
                                    <a:pt x="374809" y="98186"/>
                                    <a:pt x="381476" y="99139"/>
                                    <a:pt x="387191" y="101044"/>
                                  </a:cubicBezTo>
                                  <a:cubicBezTo>
                                    <a:pt x="394811" y="102949"/>
                                    <a:pt x="401479" y="106759"/>
                                    <a:pt x="408146" y="111521"/>
                                  </a:cubicBezTo>
                                  <a:cubicBezTo>
                                    <a:pt x="411004" y="113426"/>
                                    <a:pt x="412909" y="117236"/>
                                    <a:pt x="412909" y="120094"/>
                                  </a:cubicBezTo>
                                  <a:lnTo>
                                    <a:pt x="412909" y="137239"/>
                                  </a:lnTo>
                                  <a:lnTo>
                                    <a:pt x="325279" y="137239"/>
                                  </a:lnTo>
                                  <a:lnTo>
                                    <a:pt x="325279" y="119141"/>
                                  </a:lnTo>
                                  <a:close/>
                                  <a:moveTo>
                                    <a:pt x="124301" y="262969"/>
                                  </a:moveTo>
                                  <a:cubicBezTo>
                                    <a:pt x="142399" y="262969"/>
                                    <a:pt x="157639" y="278209"/>
                                    <a:pt x="157639" y="296306"/>
                                  </a:cubicBezTo>
                                  <a:cubicBezTo>
                                    <a:pt x="157639" y="314404"/>
                                    <a:pt x="142399" y="329644"/>
                                    <a:pt x="124301" y="329644"/>
                                  </a:cubicBezTo>
                                  <a:cubicBezTo>
                                    <a:pt x="106204" y="329644"/>
                                    <a:pt x="90964" y="314404"/>
                                    <a:pt x="90964" y="296306"/>
                                  </a:cubicBezTo>
                                  <a:cubicBezTo>
                                    <a:pt x="90964" y="296306"/>
                                    <a:pt x="90964" y="296306"/>
                                    <a:pt x="90964" y="296306"/>
                                  </a:cubicBezTo>
                                  <a:cubicBezTo>
                                    <a:pt x="91916" y="278209"/>
                                    <a:pt x="106204" y="262969"/>
                                    <a:pt x="124301" y="262969"/>
                                  </a:cubicBezTo>
                                  <a:lnTo>
                                    <a:pt x="124301" y="262969"/>
                                  </a:lnTo>
                                  <a:close/>
                                  <a:moveTo>
                                    <a:pt x="57626" y="397271"/>
                                  </a:moveTo>
                                  <a:lnTo>
                                    <a:pt x="57626" y="371554"/>
                                  </a:lnTo>
                                  <a:cubicBezTo>
                                    <a:pt x="57626" y="366791"/>
                                    <a:pt x="60484" y="361076"/>
                                    <a:pt x="64294" y="358219"/>
                                  </a:cubicBezTo>
                                  <a:cubicBezTo>
                                    <a:pt x="73819" y="351551"/>
                                    <a:pt x="85249" y="345836"/>
                                    <a:pt x="96679" y="342979"/>
                                  </a:cubicBezTo>
                                  <a:cubicBezTo>
                                    <a:pt x="105251" y="340121"/>
                                    <a:pt x="114776" y="339169"/>
                                    <a:pt x="124301" y="339169"/>
                                  </a:cubicBezTo>
                                  <a:cubicBezTo>
                                    <a:pt x="133826" y="339169"/>
                                    <a:pt x="143351" y="341074"/>
                                    <a:pt x="151924" y="342979"/>
                                  </a:cubicBezTo>
                                  <a:cubicBezTo>
                                    <a:pt x="163354" y="345836"/>
                                    <a:pt x="174784" y="351551"/>
                                    <a:pt x="184309" y="359171"/>
                                  </a:cubicBezTo>
                                  <a:cubicBezTo>
                                    <a:pt x="188119" y="362029"/>
                                    <a:pt x="190976" y="367744"/>
                                    <a:pt x="190976" y="372506"/>
                                  </a:cubicBezTo>
                                  <a:lnTo>
                                    <a:pt x="190976" y="398224"/>
                                  </a:lnTo>
                                  <a:lnTo>
                                    <a:pt x="57626" y="397271"/>
                                  </a:lnTo>
                                  <a:close/>
                                  <a:moveTo>
                                    <a:pt x="222409" y="707786"/>
                                  </a:moveTo>
                                  <a:lnTo>
                                    <a:pt x="133826" y="707786"/>
                                  </a:lnTo>
                                  <a:lnTo>
                                    <a:pt x="133826" y="690641"/>
                                  </a:lnTo>
                                  <a:cubicBezTo>
                                    <a:pt x="133826" y="686831"/>
                                    <a:pt x="135731" y="683974"/>
                                    <a:pt x="138589" y="682069"/>
                                  </a:cubicBezTo>
                                  <a:cubicBezTo>
                                    <a:pt x="145256" y="677306"/>
                                    <a:pt x="152876" y="673496"/>
                                    <a:pt x="160496" y="671591"/>
                                  </a:cubicBezTo>
                                  <a:cubicBezTo>
                                    <a:pt x="166211" y="669686"/>
                                    <a:pt x="172879" y="668734"/>
                                    <a:pt x="178594" y="668734"/>
                                  </a:cubicBezTo>
                                  <a:cubicBezTo>
                                    <a:pt x="184309" y="668734"/>
                                    <a:pt x="190976" y="669686"/>
                                    <a:pt x="196691" y="671591"/>
                                  </a:cubicBezTo>
                                  <a:cubicBezTo>
                                    <a:pt x="204311" y="673496"/>
                                    <a:pt x="210979" y="677306"/>
                                    <a:pt x="217646" y="682069"/>
                                  </a:cubicBezTo>
                                  <a:cubicBezTo>
                                    <a:pt x="220504" y="683974"/>
                                    <a:pt x="222409" y="687784"/>
                                    <a:pt x="222409" y="690641"/>
                                  </a:cubicBezTo>
                                  <a:lnTo>
                                    <a:pt x="222409" y="707786"/>
                                  </a:lnTo>
                                  <a:close/>
                                  <a:moveTo>
                                    <a:pt x="155734" y="641111"/>
                                  </a:moveTo>
                                  <a:cubicBezTo>
                                    <a:pt x="155734" y="628729"/>
                                    <a:pt x="165259" y="619204"/>
                                    <a:pt x="177641" y="619204"/>
                                  </a:cubicBezTo>
                                  <a:cubicBezTo>
                                    <a:pt x="190024" y="619204"/>
                                    <a:pt x="199549" y="628729"/>
                                    <a:pt x="199549" y="641111"/>
                                  </a:cubicBezTo>
                                  <a:cubicBezTo>
                                    <a:pt x="199549" y="653494"/>
                                    <a:pt x="190024" y="663019"/>
                                    <a:pt x="177641" y="663019"/>
                                  </a:cubicBezTo>
                                  <a:cubicBezTo>
                                    <a:pt x="166211" y="663971"/>
                                    <a:pt x="156686" y="653494"/>
                                    <a:pt x="155734" y="641111"/>
                                  </a:cubicBezTo>
                                  <a:lnTo>
                                    <a:pt x="155734" y="641111"/>
                                  </a:lnTo>
                                  <a:close/>
                                  <a:moveTo>
                                    <a:pt x="231934" y="614441"/>
                                  </a:moveTo>
                                  <a:cubicBezTo>
                                    <a:pt x="219551" y="602059"/>
                                    <a:pt x="202406" y="594439"/>
                                    <a:pt x="185261" y="592534"/>
                                  </a:cubicBezTo>
                                  <a:lnTo>
                                    <a:pt x="161449" y="449659"/>
                                  </a:lnTo>
                                  <a:cubicBezTo>
                                    <a:pt x="184309" y="442039"/>
                                    <a:pt x="204311" y="427751"/>
                                    <a:pt x="218599" y="408701"/>
                                  </a:cubicBezTo>
                                  <a:lnTo>
                                    <a:pt x="307181" y="455374"/>
                                  </a:lnTo>
                                  <a:cubicBezTo>
                                    <a:pt x="292894" y="493474"/>
                                    <a:pt x="295751" y="536336"/>
                                    <a:pt x="314801" y="572531"/>
                                  </a:cubicBezTo>
                                  <a:lnTo>
                                    <a:pt x="231934" y="614441"/>
                                  </a:lnTo>
                                  <a:close/>
                                  <a:moveTo>
                                    <a:pt x="325279" y="420131"/>
                                  </a:moveTo>
                                  <a:lnTo>
                                    <a:pt x="237649" y="374411"/>
                                  </a:lnTo>
                                  <a:cubicBezTo>
                                    <a:pt x="241459" y="362029"/>
                                    <a:pt x="243364" y="349646"/>
                                    <a:pt x="243364" y="336311"/>
                                  </a:cubicBezTo>
                                  <a:cubicBezTo>
                                    <a:pt x="243364" y="311546"/>
                                    <a:pt x="235744" y="287734"/>
                                    <a:pt x="221456" y="267731"/>
                                  </a:cubicBezTo>
                                  <a:lnTo>
                                    <a:pt x="328136" y="163909"/>
                                  </a:lnTo>
                                  <a:cubicBezTo>
                                    <a:pt x="364331" y="185816"/>
                                    <a:pt x="411956" y="175339"/>
                                    <a:pt x="433864" y="139144"/>
                                  </a:cubicBezTo>
                                  <a:cubicBezTo>
                                    <a:pt x="436721" y="134381"/>
                                    <a:pt x="438626" y="129619"/>
                                    <a:pt x="440531" y="124856"/>
                                  </a:cubicBezTo>
                                  <a:lnTo>
                                    <a:pt x="529114" y="134381"/>
                                  </a:lnTo>
                                  <a:cubicBezTo>
                                    <a:pt x="531019" y="168671"/>
                                    <a:pt x="548164" y="201056"/>
                                    <a:pt x="575786" y="222011"/>
                                  </a:cubicBezTo>
                                  <a:lnTo>
                                    <a:pt x="497681" y="367744"/>
                                  </a:lnTo>
                                  <a:cubicBezTo>
                                    <a:pt x="435769" y="342979"/>
                                    <a:pt x="364331" y="364886"/>
                                    <a:pt x="325279" y="420131"/>
                                  </a:cubicBezTo>
                                  <a:lnTo>
                                    <a:pt x="325279" y="420131"/>
                                  </a:lnTo>
                                  <a:close/>
                                  <a:moveTo>
                                    <a:pt x="487204" y="455374"/>
                                  </a:moveTo>
                                  <a:cubicBezTo>
                                    <a:pt x="487204" y="478234"/>
                                    <a:pt x="468154" y="496331"/>
                                    <a:pt x="445294" y="496331"/>
                                  </a:cubicBezTo>
                                  <a:cubicBezTo>
                                    <a:pt x="422434" y="496331"/>
                                    <a:pt x="404336" y="478234"/>
                                    <a:pt x="404336" y="455374"/>
                                  </a:cubicBezTo>
                                  <a:cubicBezTo>
                                    <a:pt x="404336" y="432514"/>
                                    <a:pt x="422434" y="414416"/>
                                    <a:pt x="445294" y="414416"/>
                                  </a:cubicBezTo>
                                  <a:cubicBezTo>
                                    <a:pt x="445294" y="414416"/>
                                    <a:pt x="445294" y="414416"/>
                                    <a:pt x="446246" y="414416"/>
                                  </a:cubicBezTo>
                                  <a:cubicBezTo>
                                    <a:pt x="469106" y="414416"/>
                                    <a:pt x="487204" y="432514"/>
                                    <a:pt x="487204" y="455374"/>
                                  </a:cubicBezTo>
                                  <a:lnTo>
                                    <a:pt x="487204" y="455374"/>
                                  </a:lnTo>
                                  <a:close/>
                                  <a:moveTo>
                                    <a:pt x="528161" y="580151"/>
                                  </a:moveTo>
                                  <a:lnTo>
                                    <a:pt x="363379" y="580151"/>
                                  </a:lnTo>
                                  <a:lnTo>
                                    <a:pt x="363379" y="548719"/>
                                  </a:lnTo>
                                  <a:cubicBezTo>
                                    <a:pt x="363379" y="542051"/>
                                    <a:pt x="366236" y="536336"/>
                                    <a:pt x="371951" y="532526"/>
                                  </a:cubicBezTo>
                                  <a:cubicBezTo>
                                    <a:pt x="384334" y="523954"/>
                                    <a:pt x="397669" y="517286"/>
                                    <a:pt x="411956" y="512524"/>
                                  </a:cubicBezTo>
                                  <a:cubicBezTo>
                                    <a:pt x="423386" y="509666"/>
                                    <a:pt x="434816" y="507761"/>
                                    <a:pt x="446246" y="507761"/>
                                  </a:cubicBezTo>
                                  <a:cubicBezTo>
                                    <a:pt x="457676" y="507761"/>
                                    <a:pt x="469106" y="509666"/>
                                    <a:pt x="480536" y="512524"/>
                                  </a:cubicBezTo>
                                  <a:cubicBezTo>
                                    <a:pt x="494824" y="516334"/>
                                    <a:pt x="509111" y="523001"/>
                                    <a:pt x="520541" y="532526"/>
                                  </a:cubicBezTo>
                                  <a:cubicBezTo>
                                    <a:pt x="525304" y="536336"/>
                                    <a:pt x="529114" y="543004"/>
                                    <a:pt x="529114" y="548719"/>
                                  </a:cubicBezTo>
                                  <a:lnTo>
                                    <a:pt x="528161" y="580151"/>
                                  </a:lnTo>
                                  <a:close/>
                                  <a:moveTo>
                                    <a:pt x="663416" y="374411"/>
                                  </a:moveTo>
                                  <a:cubicBezTo>
                                    <a:pt x="663416" y="380126"/>
                                    <a:pt x="664369" y="385841"/>
                                    <a:pt x="666274" y="391556"/>
                                  </a:cubicBezTo>
                                  <a:lnTo>
                                    <a:pt x="578644" y="437276"/>
                                  </a:lnTo>
                                  <a:cubicBezTo>
                                    <a:pt x="568166" y="416321"/>
                                    <a:pt x="551974" y="399176"/>
                                    <a:pt x="532924" y="385841"/>
                                  </a:cubicBezTo>
                                  <a:lnTo>
                                    <a:pt x="611029" y="240109"/>
                                  </a:lnTo>
                                  <a:cubicBezTo>
                                    <a:pt x="623411" y="244871"/>
                                    <a:pt x="636746" y="246776"/>
                                    <a:pt x="650081" y="246776"/>
                                  </a:cubicBezTo>
                                  <a:cubicBezTo>
                                    <a:pt x="657701" y="246776"/>
                                    <a:pt x="665321" y="245824"/>
                                    <a:pt x="672941" y="244871"/>
                                  </a:cubicBezTo>
                                  <a:lnTo>
                                    <a:pt x="697706" y="311546"/>
                                  </a:lnTo>
                                  <a:cubicBezTo>
                                    <a:pt x="674846" y="324881"/>
                                    <a:pt x="662464" y="348694"/>
                                    <a:pt x="663416" y="374411"/>
                                  </a:cubicBezTo>
                                  <a:close/>
                                  <a:moveTo>
                                    <a:pt x="784384" y="412511"/>
                                  </a:moveTo>
                                  <a:lnTo>
                                    <a:pt x="695801" y="412511"/>
                                  </a:lnTo>
                                  <a:lnTo>
                                    <a:pt x="695801" y="395366"/>
                                  </a:lnTo>
                                  <a:cubicBezTo>
                                    <a:pt x="695801" y="391556"/>
                                    <a:pt x="697706" y="388699"/>
                                    <a:pt x="700564" y="386794"/>
                                  </a:cubicBezTo>
                                  <a:cubicBezTo>
                                    <a:pt x="707231" y="382031"/>
                                    <a:pt x="714851" y="378221"/>
                                    <a:pt x="722471" y="376316"/>
                                  </a:cubicBezTo>
                                  <a:cubicBezTo>
                                    <a:pt x="728186" y="374411"/>
                                    <a:pt x="734854" y="373459"/>
                                    <a:pt x="740569" y="373459"/>
                                  </a:cubicBezTo>
                                  <a:cubicBezTo>
                                    <a:pt x="746284" y="373459"/>
                                    <a:pt x="752951" y="374411"/>
                                    <a:pt x="758666" y="376316"/>
                                  </a:cubicBezTo>
                                  <a:cubicBezTo>
                                    <a:pt x="766286" y="378221"/>
                                    <a:pt x="772954" y="382031"/>
                                    <a:pt x="779621" y="386794"/>
                                  </a:cubicBezTo>
                                  <a:cubicBezTo>
                                    <a:pt x="782479" y="388699"/>
                                    <a:pt x="784384" y="392509"/>
                                    <a:pt x="784384" y="395366"/>
                                  </a:cubicBezTo>
                                  <a:lnTo>
                                    <a:pt x="784384" y="412511"/>
                                  </a:lnTo>
                                  <a:close/>
                                </a:path>
                              </a:pathLst>
                            </a:custGeom>
                            <a:solidFill>
                              <a:srgbClr val="000000"/>
                            </a:solid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grpSp>
                  </p:grpSp>
                </p:grpSp>
              </p:grpSp>
            </p:grpSp>
          </p:grpSp>
        </p:grpSp>
      </p:grpSp>
      <p:sp>
        <p:nvSpPr>
          <p:cNvPr id="33" name="Freeform: Shape 32">
            <a:extLst>
              <a:ext uri="{FF2B5EF4-FFF2-40B4-BE49-F238E27FC236}">
                <a16:creationId xmlns:a16="http://schemas.microsoft.com/office/drawing/2014/main" id="{2CA33659-F577-4CF2-BEDA-DC153C7A6602}"/>
              </a:ext>
            </a:extLst>
          </p:cNvPr>
          <p:cNvSpPr/>
          <p:nvPr/>
        </p:nvSpPr>
        <p:spPr>
          <a:xfrm>
            <a:off x="5066960" y="2419232"/>
            <a:ext cx="1624811" cy="1557964"/>
          </a:xfrm>
          <a:custGeom>
            <a:avLst/>
            <a:gdLst/>
            <a:ahLst/>
            <a:cxnLst/>
            <a:rect l="l" t="t" r="r" b="b"/>
            <a:pathLst>
              <a:path w="364331" h="428625" extrusionOk="0">
                <a:moveTo>
                  <a:pt x="247220" y="177997"/>
                </a:moveTo>
                <a:lnTo>
                  <a:pt x="199535" y="177997"/>
                </a:lnTo>
                <a:cubicBezTo>
                  <a:pt x="179176" y="177997"/>
                  <a:pt x="162567" y="194070"/>
                  <a:pt x="162567" y="214430"/>
                </a:cubicBezTo>
                <a:lnTo>
                  <a:pt x="162567" y="254078"/>
                </a:lnTo>
                <a:lnTo>
                  <a:pt x="138456" y="254078"/>
                </a:lnTo>
                <a:lnTo>
                  <a:pt x="138456" y="222466"/>
                </a:lnTo>
                <a:cubicBezTo>
                  <a:pt x="138456" y="211215"/>
                  <a:pt x="138992" y="196749"/>
                  <a:pt x="130955" y="187641"/>
                </a:cubicBezTo>
                <a:cubicBezTo>
                  <a:pt x="126133" y="182283"/>
                  <a:pt x="120776" y="177997"/>
                  <a:pt x="114882" y="173710"/>
                </a:cubicBezTo>
                <a:cubicBezTo>
                  <a:pt x="110596" y="171031"/>
                  <a:pt x="106309" y="167817"/>
                  <a:pt x="103095" y="163530"/>
                </a:cubicBezTo>
                <a:cubicBezTo>
                  <a:pt x="101487" y="161387"/>
                  <a:pt x="100416" y="158708"/>
                  <a:pt x="99344" y="156030"/>
                </a:cubicBezTo>
                <a:cubicBezTo>
                  <a:pt x="105774" y="153351"/>
                  <a:pt x="112739" y="152815"/>
                  <a:pt x="119168" y="153351"/>
                </a:cubicBezTo>
                <a:cubicBezTo>
                  <a:pt x="122383" y="153351"/>
                  <a:pt x="125062" y="151208"/>
                  <a:pt x="125062" y="147993"/>
                </a:cubicBezTo>
                <a:cubicBezTo>
                  <a:pt x="125598" y="144778"/>
                  <a:pt x="123454" y="142099"/>
                  <a:pt x="120776" y="141028"/>
                </a:cubicBezTo>
                <a:cubicBezTo>
                  <a:pt x="112739" y="139956"/>
                  <a:pt x="104166" y="141028"/>
                  <a:pt x="96130" y="143707"/>
                </a:cubicBezTo>
                <a:cubicBezTo>
                  <a:pt x="96130" y="142635"/>
                  <a:pt x="96130" y="141563"/>
                  <a:pt x="95594" y="141028"/>
                </a:cubicBezTo>
                <a:cubicBezTo>
                  <a:pt x="95058" y="136206"/>
                  <a:pt x="96130" y="131384"/>
                  <a:pt x="97201" y="126562"/>
                </a:cubicBezTo>
                <a:cubicBezTo>
                  <a:pt x="101487" y="115310"/>
                  <a:pt x="112203" y="110488"/>
                  <a:pt x="122383" y="106738"/>
                </a:cubicBezTo>
                <a:cubicBezTo>
                  <a:pt x="123990" y="106202"/>
                  <a:pt x="126133" y="105666"/>
                  <a:pt x="128812" y="105130"/>
                </a:cubicBezTo>
                <a:lnTo>
                  <a:pt x="130420" y="104595"/>
                </a:lnTo>
                <a:lnTo>
                  <a:pt x="130955" y="104595"/>
                </a:lnTo>
                <a:cubicBezTo>
                  <a:pt x="133634" y="105130"/>
                  <a:pt x="135777" y="105666"/>
                  <a:pt x="137921" y="106202"/>
                </a:cubicBezTo>
                <a:lnTo>
                  <a:pt x="140599" y="106738"/>
                </a:lnTo>
                <a:lnTo>
                  <a:pt x="143814" y="107273"/>
                </a:lnTo>
                <a:cubicBezTo>
                  <a:pt x="149172" y="113703"/>
                  <a:pt x="151851" y="121740"/>
                  <a:pt x="151315" y="129776"/>
                </a:cubicBezTo>
                <a:cubicBezTo>
                  <a:pt x="150779" y="137813"/>
                  <a:pt x="147029" y="145314"/>
                  <a:pt x="140599" y="150672"/>
                </a:cubicBezTo>
                <a:cubicBezTo>
                  <a:pt x="138456" y="152815"/>
                  <a:pt x="137921" y="156565"/>
                  <a:pt x="140064" y="159244"/>
                </a:cubicBezTo>
                <a:cubicBezTo>
                  <a:pt x="142207" y="161387"/>
                  <a:pt x="145422" y="161923"/>
                  <a:pt x="148100" y="159780"/>
                </a:cubicBezTo>
                <a:cubicBezTo>
                  <a:pt x="151851" y="156565"/>
                  <a:pt x="155066" y="152815"/>
                  <a:pt x="157209" y="148529"/>
                </a:cubicBezTo>
                <a:lnTo>
                  <a:pt x="157744" y="148529"/>
                </a:lnTo>
                <a:cubicBezTo>
                  <a:pt x="166853" y="147457"/>
                  <a:pt x="175961" y="144778"/>
                  <a:pt x="183998" y="140492"/>
                </a:cubicBezTo>
                <a:cubicBezTo>
                  <a:pt x="185069" y="139420"/>
                  <a:pt x="186141" y="138349"/>
                  <a:pt x="186677" y="136741"/>
                </a:cubicBezTo>
                <a:cubicBezTo>
                  <a:pt x="187212" y="135134"/>
                  <a:pt x="186677" y="133527"/>
                  <a:pt x="185605" y="132455"/>
                </a:cubicBezTo>
                <a:cubicBezTo>
                  <a:pt x="183462" y="129776"/>
                  <a:pt x="180247" y="129240"/>
                  <a:pt x="177568" y="130848"/>
                </a:cubicBezTo>
                <a:cubicBezTo>
                  <a:pt x="172746" y="133527"/>
                  <a:pt x="167924" y="135670"/>
                  <a:pt x="162031" y="136206"/>
                </a:cubicBezTo>
                <a:cubicBezTo>
                  <a:pt x="162567" y="134598"/>
                  <a:pt x="163102" y="132455"/>
                  <a:pt x="163102" y="130848"/>
                </a:cubicBezTo>
                <a:cubicBezTo>
                  <a:pt x="163638" y="123883"/>
                  <a:pt x="162567" y="116918"/>
                  <a:pt x="159888" y="111024"/>
                </a:cubicBezTo>
                <a:cubicBezTo>
                  <a:pt x="164174" y="111560"/>
                  <a:pt x="168460" y="112095"/>
                  <a:pt x="172746" y="112095"/>
                </a:cubicBezTo>
                <a:cubicBezTo>
                  <a:pt x="176497" y="112095"/>
                  <a:pt x="180247" y="111560"/>
                  <a:pt x="183998" y="111024"/>
                </a:cubicBezTo>
                <a:cubicBezTo>
                  <a:pt x="190963" y="119596"/>
                  <a:pt x="200071" y="125490"/>
                  <a:pt x="210787" y="128169"/>
                </a:cubicBezTo>
                <a:cubicBezTo>
                  <a:pt x="224717" y="135134"/>
                  <a:pt x="237576" y="144242"/>
                  <a:pt x="237576" y="159244"/>
                </a:cubicBezTo>
                <a:cubicBezTo>
                  <a:pt x="237576" y="161387"/>
                  <a:pt x="238647" y="164066"/>
                  <a:pt x="240255" y="165138"/>
                </a:cubicBezTo>
                <a:cubicBezTo>
                  <a:pt x="242398" y="166209"/>
                  <a:pt x="244541" y="166209"/>
                  <a:pt x="246684" y="165138"/>
                </a:cubicBezTo>
                <a:cubicBezTo>
                  <a:pt x="248827" y="164066"/>
                  <a:pt x="249899" y="161387"/>
                  <a:pt x="249363" y="159244"/>
                </a:cubicBezTo>
                <a:cubicBezTo>
                  <a:pt x="249363" y="147457"/>
                  <a:pt x="244005" y="136741"/>
                  <a:pt x="234897" y="129776"/>
                </a:cubicBezTo>
                <a:cubicBezTo>
                  <a:pt x="242398" y="129240"/>
                  <a:pt x="248827" y="125490"/>
                  <a:pt x="253649" y="120132"/>
                </a:cubicBezTo>
                <a:cubicBezTo>
                  <a:pt x="255792" y="117453"/>
                  <a:pt x="255257" y="113703"/>
                  <a:pt x="253114" y="111560"/>
                </a:cubicBezTo>
                <a:cubicBezTo>
                  <a:pt x="250435" y="109417"/>
                  <a:pt x="246684" y="109952"/>
                  <a:pt x="244541" y="112095"/>
                </a:cubicBezTo>
                <a:cubicBezTo>
                  <a:pt x="241862" y="115310"/>
                  <a:pt x="234897" y="117989"/>
                  <a:pt x="224717" y="117453"/>
                </a:cubicBezTo>
                <a:cubicBezTo>
                  <a:pt x="214537" y="117453"/>
                  <a:pt x="204357" y="113703"/>
                  <a:pt x="196857" y="107273"/>
                </a:cubicBezTo>
                <a:cubicBezTo>
                  <a:pt x="205429" y="103523"/>
                  <a:pt x="212930" y="97094"/>
                  <a:pt x="217752" y="89057"/>
                </a:cubicBezTo>
                <a:cubicBezTo>
                  <a:pt x="219359" y="86378"/>
                  <a:pt x="218288" y="82628"/>
                  <a:pt x="215609" y="80484"/>
                </a:cubicBezTo>
                <a:cubicBezTo>
                  <a:pt x="212930" y="78877"/>
                  <a:pt x="209179" y="79949"/>
                  <a:pt x="207572" y="82628"/>
                </a:cubicBezTo>
                <a:cubicBezTo>
                  <a:pt x="198464" y="99237"/>
                  <a:pt x="179176" y="104059"/>
                  <a:pt x="148636" y="96558"/>
                </a:cubicBezTo>
                <a:cubicBezTo>
                  <a:pt x="155601" y="90664"/>
                  <a:pt x="158816" y="81556"/>
                  <a:pt x="157744" y="72448"/>
                </a:cubicBezTo>
                <a:cubicBezTo>
                  <a:pt x="157744" y="70305"/>
                  <a:pt x="156673" y="68161"/>
                  <a:pt x="154530" y="67090"/>
                </a:cubicBezTo>
                <a:cubicBezTo>
                  <a:pt x="152387" y="66018"/>
                  <a:pt x="150244" y="66018"/>
                  <a:pt x="148100" y="67626"/>
                </a:cubicBezTo>
                <a:cubicBezTo>
                  <a:pt x="145957" y="68697"/>
                  <a:pt x="145422" y="71376"/>
                  <a:pt x="145422" y="73519"/>
                </a:cubicBezTo>
                <a:cubicBezTo>
                  <a:pt x="145957" y="87450"/>
                  <a:pt x="138456" y="90128"/>
                  <a:pt x="126133" y="93879"/>
                </a:cubicBezTo>
                <a:cubicBezTo>
                  <a:pt x="124526" y="94415"/>
                  <a:pt x="122383" y="94950"/>
                  <a:pt x="120776" y="95486"/>
                </a:cubicBezTo>
                <a:cubicBezTo>
                  <a:pt x="117561" y="87985"/>
                  <a:pt x="110596" y="82092"/>
                  <a:pt x="102559" y="79949"/>
                </a:cubicBezTo>
                <a:cubicBezTo>
                  <a:pt x="100416" y="79413"/>
                  <a:pt x="98273" y="79949"/>
                  <a:pt x="96665" y="81556"/>
                </a:cubicBezTo>
                <a:cubicBezTo>
                  <a:pt x="95058" y="83163"/>
                  <a:pt x="94522" y="85306"/>
                  <a:pt x="95058" y="87985"/>
                </a:cubicBezTo>
                <a:cubicBezTo>
                  <a:pt x="95594" y="90128"/>
                  <a:pt x="97201" y="91736"/>
                  <a:pt x="99880" y="92272"/>
                </a:cubicBezTo>
                <a:cubicBezTo>
                  <a:pt x="104166" y="93343"/>
                  <a:pt x="107381" y="96558"/>
                  <a:pt x="109524" y="100308"/>
                </a:cubicBezTo>
                <a:lnTo>
                  <a:pt x="109524" y="100844"/>
                </a:lnTo>
                <a:cubicBezTo>
                  <a:pt x="99344" y="105130"/>
                  <a:pt x="91308" y="113167"/>
                  <a:pt x="87557" y="123347"/>
                </a:cubicBezTo>
                <a:cubicBezTo>
                  <a:pt x="86486" y="125490"/>
                  <a:pt x="85950" y="128169"/>
                  <a:pt x="85950" y="130848"/>
                </a:cubicBezTo>
                <a:cubicBezTo>
                  <a:pt x="84878" y="129776"/>
                  <a:pt x="83807" y="128705"/>
                  <a:pt x="83271" y="127097"/>
                </a:cubicBezTo>
                <a:cubicBezTo>
                  <a:pt x="81128" y="122811"/>
                  <a:pt x="79520" y="117453"/>
                  <a:pt x="78985" y="112631"/>
                </a:cubicBezTo>
                <a:cubicBezTo>
                  <a:pt x="78449" y="110488"/>
                  <a:pt x="76841" y="108345"/>
                  <a:pt x="75234" y="107809"/>
                </a:cubicBezTo>
                <a:cubicBezTo>
                  <a:pt x="73091" y="106738"/>
                  <a:pt x="70948" y="107273"/>
                  <a:pt x="69341" y="108881"/>
                </a:cubicBezTo>
                <a:cubicBezTo>
                  <a:pt x="67733" y="110488"/>
                  <a:pt x="66662" y="112631"/>
                  <a:pt x="67733" y="114774"/>
                </a:cubicBezTo>
                <a:cubicBezTo>
                  <a:pt x="68805" y="121204"/>
                  <a:pt x="70412" y="127097"/>
                  <a:pt x="73627" y="132455"/>
                </a:cubicBezTo>
                <a:cubicBezTo>
                  <a:pt x="76841" y="137813"/>
                  <a:pt x="81128" y="142099"/>
                  <a:pt x="87021" y="144778"/>
                </a:cubicBezTo>
                <a:cubicBezTo>
                  <a:pt x="87557" y="152279"/>
                  <a:pt x="90236" y="159780"/>
                  <a:pt x="93987" y="166745"/>
                </a:cubicBezTo>
                <a:cubicBezTo>
                  <a:pt x="90236" y="171567"/>
                  <a:pt x="85414" y="175318"/>
                  <a:pt x="80056" y="178532"/>
                </a:cubicBezTo>
                <a:cubicBezTo>
                  <a:pt x="78449" y="179604"/>
                  <a:pt x="77377" y="181747"/>
                  <a:pt x="76841" y="183890"/>
                </a:cubicBezTo>
                <a:cubicBezTo>
                  <a:pt x="76841" y="186033"/>
                  <a:pt x="77913" y="188176"/>
                  <a:pt x="80056" y="189248"/>
                </a:cubicBezTo>
                <a:cubicBezTo>
                  <a:pt x="82199" y="190320"/>
                  <a:pt x="84342" y="190320"/>
                  <a:pt x="85950" y="188712"/>
                </a:cubicBezTo>
                <a:cubicBezTo>
                  <a:pt x="91308" y="184962"/>
                  <a:pt x="96130" y="181211"/>
                  <a:pt x="100416" y="176389"/>
                </a:cubicBezTo>
                <a:cubicBezTo>
                  <a:pt x="103631" y="179068"/>
                  <a:pt x="106845" y="181211"/>
                  <a:pt x="110060" y="183354"/>
                </a:cubicBezTo>
                <a:cubicBezTo>
                  <a:pt x="115418" y="186569"/>
                  <a:pt x="119704" y="190320"/>
                  <a:pt x="123990" y="195142"/>
                </a:cubicBezTo>
                <a:cubicBezTo>
                  <a:pt x="128812" y="201035"/>
                  <a:pt x="128812" y="212287"/>
                  <a:pt x="128812" y="221931"/>
                </a:cubicBezTo>
                <a:lnTo>
                  <a:pt x="128812" y="254078"/>
                </a:lnTo>
                <a:lnTo>
                  <a:pt x="104166" y="254078"/>
                </a:lnTo>
                <a:cubicBezTo>
                  <a:pt x="104166" y="214430"/>
                  <a:pt x="84878" y="212287"/>
                  <a:pt x="82735" y="211215"/>
                </a:cubicBezTo>
                <a:cubicBezTo>
                  <a:pt x="74698" y="209072"/>
                  <a:pt x="53803" y="197820"/>
                  <a:pt x="48981" y="175318"/>
                </a:cubicBezTo>
                <a:cubicBezTo>
                  <a:pt x="48445" y="174246"/>
                  <a:pt x="48445" y="172639"/>
                  <a:pt x="48445" y="171567"/>
                </a:cubicBezTo>
                <a:cubicBezTo>
                  <a:pt x="39337" y="158708"/>
                  <a:pt x="39873" y="141028"/>
                  <a:pt x="50052" y="128705"/>
                </a:cubicBezTo>
                <a:cubicBezTo>
                  <a:pt x="48981" y="124954"/>
                  <a:pt x="48445" y="121204"/>
                  <a:pt x="48445" y="117453"/>
                </a:cubicBezTo>
                <a:cubicBezTo>
                  <a:pt x="48445" y="100308"/>
                  <a:pt x="60768" y="85306"/>
                  <a:pt x="77913" y="82092"/>
                </a:cubicBezTo>
                <a:cubicBezTo>
                  <a:pt x="83271" y="67090"/>
                  <a:pt x="97201" y="56910"/>
                  <a:pt x="112739" y="57446"/>
                </a:cubicBezTo>
                <a:cubicBezTo>
                  <a:pt x="115418" y="57446"/>
                  <a:pt x="118632" y="57982"/>
                  <a:pt x="121311" y="58517"/>
                </a:cubicBezTo>
                <a:cubicBezTo>
                  <a:pt x="127741" y="51016"/>
                  <a:pt x="136849" y="46730"/>
                  <a:pt x="147029" y="45659"/>
                </a:cubicBezTo>
                <a:cubicBezTo>
                  <a:pt x="157209" y="45123"/>
                  <a:pt x="166853" y="48338"/>
                  <a:pt x="174354" y="55303"/>
                </a:cubicBezTo>
                <a:cubicBezTo>
                  <a:pt x="183998" y="48873"/>
                  <a:pt x="195785" y="47266"/>
                  <a:pt x="206501" y="50481"/>
                </a:cubicBezTo>
                <a:cubicBezTo>
                  <a:pt x="217752" y="53695"/>
                  <a:pt x="226324" y="62268"/>
                  <a:pt x="230075" y="72983"/>
                </a:cubicBezTo>
                <a:lnTo>
                  <a:pt x="232218" y="72983"/>
                </a:lnTo>
                <a:cubicBezTo>
                  <a:pt x="252578" y="72983"/>
                  <a:pt x="268651" y="89057"/>
                  <a:pt x="269187" y="109417"/>
                </a:cubicBezTo>
                <a:lnTo>
                  <a:pt x="269187" y="111024"/>
                </a:lnTo>
                <a:cubicBezTo>
                  <a:pt x="281510" y="117989"/>
                  <a:pt x="288475" y="131384"/>
                  <a:pt x="287404" y="145314"/>
                </a:cubicBezTo>
                <a:cubicBezTo>
                  <a:pt x="283117" y="164066"/>
                  <a:pt x="266508" y="178532"/>
                  <a:pt x="247220" y="177997"/>
                </a:cubicBezTo>
                <a:close/>
                <a:moveTo>
                  <a:pt x="361341" y="234254"/>
                </a:moveTo>
                <a:lnTo>
                  <a:pt x="324372" y="170496"/>
                </a:lnTo>
                <a:lnTo>
                  <a:pt x="324372" y="168353"/>
                </a:lnTo>
                <a:cubicBezTo>
                  <a:pt x="326516" y="109417"/>
                  <a:pt x="296512" y="54231"/>
                  <a:pt x="245613" y="24763"/>
                </a:cubicBezTo>
                <a:cubicBezTo>
                  <a:pt x="194713" y="-5241"/>
                  <a:pt x="132027" y="-5241"/>
                  <a:pt x="81128" y="24763"/>
                </a:cubicBezTo>
                <a:cubicBezTo>
                  <a:pt x="30229" y="54231"/>
                  <a:pt x="225" y="109417"/>
                  <a:pt x="2368" y="168353"/>
                </a:cubicBezTo>
                <a:cubicBezTo>
                  <a:pt x="2368" y="218716"/>
                  <a:pt x="25406" y="266400"/>
                  <a:pt x="65590" y="296940"/>
                </a:cubicBezTo>
                <a:lnTo>
                  <a:pt x="65590" y="430885"/>
                </a:lnTo>
                <a:lnTo>
                  <a:pt x="234897" y="430885"/>
                </a:lnTo>
                <a:lnTo>
                  <a:pt x="234897" y="367127"/>
                </a:lnTo>
                <a:lnTo>
                  <a:pt x="261150" y="367127"/>
                </a:lnTo>
                <a:cubicBezTo>
                  <a:pt x="278295" y="367127"/>
                  <a:pt x="294369" y="360698"/>
                  <a:pt x="306156" y="348375"/>
                </a:cubicBezTo>
                <a:cubicBezTo>
                  <a:pt x="317943" y="336588"/>
                  <a:pt x="324372" y="319979"/>
                  <a:pt x="324372" y="303369"/>
                </a:cubicBezTo>
                <a:lnTo>
                  <a:pt x="324372" y="271223"/>
                </a:lnTo>
                <a:lnTo>
                  <a:pt x="347947" y="271223"/>
                </a:lnTo>
                <a:cubicBezTo>
                  <a:pt x="361877" y="270151"/>
                  <a:pt x="374200" y="254078"/>
                  <a:pt x="361341" y="234254"/>
                </a:cubicBezTo>
                <a:close/>
              </a:path>
            </a:pathLst>
          </a:custGeom>
          <a:solidFill>
            <a:srgbClr val="000000"/>
          </a:solid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sp>
        <p:nvSpPr>
          <p:cNvPr id="7" name="TextBox 6">
            <a:extLst>
              <a:ext uri="{FF2B5EF4-FFF2-40B4-BE49-F238E27FC236}">
                <a16:creationId xmlns:a16="http://schemas.microsoft.com/office/drawing/2014/main" id="{51CED0DF-9D83-4475-8185-0685EA7329BD}"/>
              </a:ext>
            </a:extLst>
          </p:cNvPr>
          <p:cNvSpPr txBox="1"/>
          <p:nvPr/>
        </p:nvSpPr>
        <p:spPr>
          <a:xfrm>
            <a:off x="3685322" y="2896887"/>
            <a:ext cx="1683534" cy="646331"/>
          </a:xfrm>
          <a:prstGeom prst="rect">
            <a:avLst/>
          </a:prstGeom>
          <a:noFill/>
        </p:spPr>
        <p:txBody>
          <a:bodyPr wrap="square" rtlCol="0">
            <a:spAutoFit/>
          </a:bodyPr>
          <a:lstStyle/>
          <a:p>
            <a:r>
              <a:rPr lang="en-US" dirty="0"/>
              <a:t>Modeler’s mental model</a:t>
            </a:r>
          </a:p>
        </p:txBody>
      </p:sp>
      <p:sp>
        <p:nvSpPr>
          <p:cNvPr id="8" name="Arrow: Down 7">
            <a:extLst>
              <a:ext uri="{FF2B5EF4-FFF2-40B4-BE49-F238E27FC236}">
                <a16:creationId xmlns:a16="http://schemas.microsoft.com/office/drawing/2014/main" id="{0B69F4DF-F7EC-4427-8BBF-E3D236598C1F}"/>
              </a:ext>
            </a:extLst>
          </p:cNvPr>
          <p:cNvSpPr/>
          <p:nvPr/>
        </p:nvSpPr>
        <p:spPr>
          <a:xfrm rot="16200000">
            <a:off x="6846357" y="2819202"/>
            <a:ext cx="440757" cy="62112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Content Placeholder 2">
            <a:extLst>
              <a:ext uri="{FF2B5EF4-FFF2-40B4-BE49-F238E27FC236}">
                <a16:creationId xmlns:a16="http://schemas.microsoft.com/office/drawing/2014/main" id="{8EFE717D-9880-4FF7-A627-1077B962F7B3}"/>
              </a:ext>
            </a:extLst>
          </p:cNvPr>
          <p:cNvSpPr txBox="1">
            <a:spLocks/>
          </p:cNvSpPr>
          <p:nvPr/>
        </p:nvSpPr>
        <p:spPr>
          <a:xfrm>
            <a:off x="811796" y="5457899"/>
            <a:ext cx="10356168" cy="107602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accent2"/>
                </a:solidFill>
              </a:rPr>
              <a:t>What if each agent could make its own decisions?</a:t>
            </a:r>
          </a:p>
          <a:p>
            <a:endParaRPr lang="en-US" dirty="0"/>
          </a:p>
          <a:p>
            <a:endParaRPr lang="en-US" dirty="0"/>
          </a:p>
        </p:txBody>
      </p:sp>
      <p:pic>
        <p:nvPicPr>
          <p:cNvPr id="11" name="Content Placeholder 10" descr="File:ChatGPT logo.svg - Wikipedia">
            <a:extLst>
              <a:ext uri="{FF2B5EF4-FFF2-40B4-BE49-F238E27FC236}">
                <a16:creationId xmlns:a16="http://schemas.microsoft.com/office/drawing/2014/main" id="{8970FD7A-639C-DC44-94A6-9750C6D9A09D}"/>
              </a:ext>
            </a:extLst>
          </p:cNvPr>
          <p:cNvPicPr>
            <a:picLocks noGrp="1" noChangeAspect="1"/>
          </p:cNvPicPr>
          <p:nvPr>
            <p:ph idx="1"/>
          </p:nvPr>
        </p:nvPicPr>
        <p:blipFill>
          <a:blip r:embed="rId2"/>
          <a:stretch>
            <a:fillRect/>
          </a:stretch>
        </p:blipFill>
        <p:spPr/>
      </p:pic>
    </p:spTree>
    <p:extLst>
      <p:ext uri="{BB962C8B-B14F-4D97-AF65-F5344CB8AC3E}">
        <p14:creationId xmlns:p14="http://schemas.microsoft.com/office/powerpoint/2010/main" val="2633762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7" grpId="0"/>
      <p:bldP spid="8" grpId="0" animBg="1"/>
      <p:bldP spid="3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181AB-946D-44CB-B8F0-03B10E8FC7E9}"/>
              </a:ext>
            </a:extLst>
          </p:cNvPr>
          <p:cNvSpPr>
            <a:spLocks noGrp="1"/>
          </p:cNvSpPr>
          <p:nvPr>
            <p:ph type="title"/>
          </p:nvPr>
        </p:nvSpPr>
        <p:spPr>
          <a:xfrm>
            <a:off x="313509" y="365125"/>
            <a:ext cx="11739154" cy="949869"/>
          </a:xfrm>
        </p:spPr>
        <p:txBody>
          <a:bodyPr lIns="91440" tIns="45720" rIns="91440" bIns="45720" anchor="t">
            <a:noAutofit/>
          </a:bodyPr>
          <a:lstStyle/>
          <a:p>
            <a:r>
              <a:rPr lang="en-US" sz="3200" b="1" dirty="0">
                <a:solidFill>
                  <a:schemeClr val="tx1"/>
                </a:solidFill>
                <a:latin typeface="Arial"/>
              </a:rPr>
              <a:t>Generative agent-based model</a:t>
            </a:r>
          </a:p>
        </p:txBody>
      </p:sp>
      <p:sp>
        <p:nvSpPr>
          <p:cNvPr id="4" name="Footer Placeholder 3">
            <a:extLst>
              <a:ext uri="{FF2B5EF4-FFF2-40B4-BE49-F238E27FC236}">
                <a16:creationId xmlns:a16="http://schemas.microsoft.com/office/drawing/2014/main" id="{83EC87BE-CD28-4C99-A10A-3A8EE00E21ED}"/>
              </a:ext>
            </a:extLst>
          </p:cNvPr>
          <p:cNvSpPr>
            <a:spLocks noGrp="1"/>
          </p:cNvSpPr>
          <p:nvPr>
            <p:ph type="ftr" sz="quarter" idx="11"/>
          </p:nvPr>
        </p:nvSpPr>
        <p:spPr/>
        <p:txBody>
          <a:bodyPr/>
          <a:lstStyle/>
          <a:p>
            <a:r>
              <a:rPr lang="en-US"/>
              <a:t>Navid Ghaffarzadegan (2024) Generative Agent-Based Modeling</a:t>
            </a:r>
          </a:p>
        </p:txBody>
      </p:sp>
      <p:sp>
        <p:nvSpPr>
          <p:cNvPr id="5" name="Slide Number Placeholder 4">
            <a:extLst>
              <a:ext uri="{FF2B5EF4-FFF2-40B4-BE49-F238E27FC236}">
                <a16:creationId xmlns:a16="http://schemas.microsoft.com/office/drawing/2014/main" id="{1548AD18-4C50-43AD-881C-686175E62348}"/>
              </a:ext>
            </a:extLst>
          </p:cNvPr>
          <p:cNvSpPr>
            <a:spLocks noGrp="1"/>
          </p:cNvSpPr>
          <p:nvPr>
            <p:ph type="sldNum" sz="quarter" idx="12"/>
          </p:nvPr>
        </p:nvSpPr>
        <p:spPr/>
        <p:txBody>
          <a:bodyPr/>
          <a:lstStyle/>
          <a:p>
            <a:fld id="{371A3544-C5AA-4FA3-B01F-3674D325DFC6}" type="slidenum">
              <a:rPr lang="en-US" smtClean="0"/>
              <a:t>5</a:t>
            </a:fld>
            <a:endParaRPr lang="en-US"/>
          </a:p>
        </p:txBody>
      </p:sp>
      <p:grpSp>
        <p:nvGrpSpPr>
          <p:cNvPr id="13" name="Group 12">
            <a:extLst>
              <a:ext uri="{FF2B5EF4-FFF2-40B4-BE49-F238E27FC236}">
                <a16:creationId xmlns:a16="http://schemas.microsoft.com/office/drawing/2014/main" id="{0C43A2E9-B1EF-4289-A9D0-BC9CB710FF18}"/>
              </a:ext>
            </a:extLst>
          </p:cNvPr>
          <p:cNvGrpSpPr/>
          <p:nvPr/>
        </p:nvGrpSpPr>
        <p:grpSpPr>
          <a:xfrm>
            <a:off x="997527" y="1302326"/>
            <a:ext cx="9984509" cy="3616759"/>
            <a:chOff x="2707511" y="2710781"/>
            <a:chExt cx="5276979" cy="2138439"/>
          </a:xfrm>
        </p:grpSpPr>
        <p:grpSp>
          <p:nvGrpSpPr>
            <p:cNvPr id="14" name="Group 13">
              <a:extLst>
                <a:ext uri="{FF2B5EF4-FFF2-40B4-BE49-F238E27FC236}">
                  <a16:creationId xmlns:a16="http://schemas.microsoft.com/office/drawing/2014/main" id="{76C9600F-FCE2-4C1D-BFE2-F3CC75292E35}"/>
                </a:ext>
              </a:extLst>
            </p:cNvPr>
            <p:cNvGrpSpPr/>
            <p:nvPr/>
          </p:nvGrpSpPr>
          <p:grpSpPr>
            <a:xfrm>
              <a:off x="2707511" y="2710781"/>
              <a:ext cx="5276979" cy="2138439"/>
              <a:chOff x="2707500" y="2710775"/>
              <a:chExt cx="5277000" cy="2138450"/>
            </a:xfrm>
          </p:grpSpPr>
          <p:sp>
            <p:nvSpPr>
              <p:cNvPr id="15" name="Rectangle 14">
                <a:extLst>
                  <a:ext uri="{FF2B5EF4-FFF2-40B4-BE49-F238E27FC236}">
                    <a16:creationId xmlns:a16="http://schemas.microsoft.com/office/drawing/2014/main" id="{FB9445BA-7005-4004-88B8-B458F631D61B}"/>
                  </a:ext>
                </a:extLst>
              </p:cNvPr>
              <p:cNvSpPr/>
              <p:nvPr/>
            </p:nvSpPr>
            <p:spPr>
              <a:xfrm>
                <a:off x="2707500" y="2710775"/>
                <a:ext cx="5277000" cy="2138450"/>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16" name="Group 15">
                <a:extLst>
                  <a:ext uri="{FF2B5EF4-FFF2-40B4-BE49-F238E27FC236}">
                    <a16:creationId xmlns:a16="http://schemas.microsoft.com/office/drawing/2014/main" id="{9C0BB36A-5E44-4FD4-810A-3CD28A49FD5B}"/>
                  </a:ext>
                </a:extLst>
              </p:cNvPr>
              <p:cNvGrpSpPr/>
              <p:nvPr/>
            </p:nvGrpSpPr>
            <p:grpSpPr>
              <a:xfrm>
                <a:off x="2707511" y="2710781"/>
                <a:ext cx="5276979" cy="2138439"/>
                <a:chOff x="2707500" y="2710775"/>
                <a:chExt cx="5277000" cy="2138450"/>
              </a:xfrm>
            </p:grpSpPr>
            <p:sp>
              <p:nvSpPr>
                <p:cNvPr id="17" name="Rectangle 16">
                  <a:extLst>
                    <a:ext uri="{FF2B5EF4-FFF2-40B4-BE49-F238E27FC236}">
                      <a16:creationId xmlns:a16="http://schemas.microsoft.com/office/drawing/2014/main" id="{234AE5F8-F638-455F-8A33-0372AF1238E9}"/>
                    </a:ext>
                  </a:extLst>
                </p:cNvPr>
                <p:cNvSpPr/>
                <p:nvPr/>
              </p:nvSpPr>
              <p:spPr>
                <a:xfrm>
                  <a:off x="2707500" y="2710775"/>
                  <a:ext cx="5277000" cy="2138450"/>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18" name="Group 17">
                  <a:extLst>
                    <a:ext uri="{FF2B5EF4-FFF2-40B4-BE49-F238E27FC236}">
                      <a16:creationId xmlns:a16="http://schemas.microsoft.com/office/drawing/2014/main" id="{FC99774E-7039-4320-A588-E5DDBE72E15B}"/>
                    </a:ext>
                  </a:extLst>
                </p:cNvPr>
                <p:cNvGrpSpPr/>
                <p:nvPr/>
              </p:nvGrpSpPr>
              <p:grpSpPr>
                <a:xfrm>
                  <a:off x="2707511" y="2710781"/>
                  <a:ext cx="5276979" cy="2138439"/>
                  <a:chOff x="2707500" y="2710775"/>
                  <a:chExt cx="5277000" cy="2138450"/>
                </a:xfrm>
              </p:grpSpPr>
              <p:sp>
                <p:nvSpPr>
                  <p:cNvPr id="19" name="Rectangle 18">
                    <a:extLst>
                      <a:ext uri="{FF2B5EF4-FFF2-40B4-BE49-F238E27FC236}">
                        <a16:creationId xmlns:a16="http://schemas.microsoft.com/office/drawing/2014/main" id="{967A9A72-51A3-409B-9B98-5A72D8643F96}"/>
                      </a:ext>
                    </a:extLst>
                  </p:cNvPr>
                  <p:cNvSpPr/>
                  <p:nvPr/>
                </p:nvSpPr>
                <p:spPr>
                  <a:xfrm>
                    <a:off x="2707500" y="2710775"/>
                    <a:ext cx="5277000" cy="2138450"/>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20" name="Group 19">
                    <a:extLst>
                      <a:ext uri="{FF2B5EF4-FFF2-40B4-BE49-F238E27FC236}">
                        <a16:creationId xmlns:a16="http://schemas.microsoft.com/office/drawing/2014/main" id="{EDDC2DB5-BC4D-45F3-B529-703473B28980}"/>
                      </a:ext>
                    </a:extLst>
                  </p:cNvPr>
                  <p:cNvGrpSpPr/>
                  <p:nvPr/>
                </p:nvGrpSpPr>
                <p:grpSpPr>
                  <a:xfrm>
                    <a:off x="2707511" y="2710781"/>
                    <a:ext cx="5276979" cy="2138439"/>
                    <a:chOff x="2707500" y="2710775"/>
                    <a:chExt cx="5277025" cy="2138525"/>
                  </a:xfrm>
                </p:grpSpPr>
                <p:sp>
                  <p:nvSpPr>
                    <p:cNvPr id="21" name="Rectangle 20">
                      <a:extLst>
                        <a:ext uri="{FF2B5EF4-FFF2-40B4-BE49-F238E27FC236}">
                          <a16:creationId xmlns:a16="http://schemas.microsoft.com/office/drawing/2014/main" id="{B56D96C3-C1DE-4406-8331-DD31B80833F7}"/>
                        </a:ext>
                      </a:extLst>
                    </p:cNvPr>
                    <p:cNvSpPr/>
                    <p:nvPr/>
                  </p:nvSpPr>
                  <p:spPr>
                    <a:xfrm>
                      <a:off x="2707500" y="2710775"/>
                      <a:ext cx="5277025" cy="2138525"/>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22" name="Group 21">
                      <a:extLst>
                        <a:ext uri="{FF2B5EF4-FFF2-40B4-BE49-F238E27FC236}">
                          <a16:creationId xmlns:a16="http://schemas.microsoft.com/office/drawing/2014/main" id="{3CD1B58E-DCB6-4524-8B49-E49716870B57}"/>
                        </a:ext>
                      </a:extLst>
                    </p:cNvPr>
                    <p:cNvGrpSpPr/>
                    <p:nvPr/>
                  </p:nvGrpSpPr>
                  <p:grpSpPr>
                    <a:xfrm>
                      <a:off x="2707511" y="2710781"/>
                      <a:ext cx="5276979" cy="2138439"/>
                      <a:chOff x="2707500" y="2710775"/>
                      <a:chExt cx="5291300" cy="2152750"/>
                    </a:xfrm>
                  </p:grpSpPr>
                  <p:sp>
                    <p:nvSpPr>
                      <p:cNvPr id="23" name="Rectangle 22">
                        <a:extLst>
                          <a:ext uri="{FF2B5EF4-FFF2-40B4-BE49-F238E27FC236}">
                            <a16:creationId xmlns:a16="http://schemas.microsoft.com/office/drawing/2014/main" id="{4BBCF8D1-6CC0-4FAA-A8DC-1EF748175FBC}"/>
                          </a:ext>
                        </a:extLst>
                      </p:cNvPr>
                      <p:cNvSpPr/>
                      <p:nvPr/>
                    </p:nvSpPr>
                    <p:spPr>
                      <a:xfrm>
                        <a:off x="2707500" y="2710775"/>
                        <a:ext cx="5291300" cy="2152750"/>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24" name="Group 23">
                        <a:extLst>
                          <a:ext uri="{FF2B5EF4-FFF2-40B4-BE49-F238E27FC236}">
                            <a16:creationId xmlns:a16="http://schemas.microsoft.com/office/drawing/2014/main" id="{9759CA3A-4659-4CFC-94AD-5CCFA706BA08}"/>
                          </a:ext>
                        </a:extLst>
                      </p:cNvPr>
                      <p:cNvGrpSpPr/>
                      <p:nvPr/>
                    </p:nvGrpSpPr>
                    <p:grpSpPr>
                      <a:xfrm>
                        <a:off x="2707511" y="2710781"/>
                        <a:ext cx="5276976" cy="2138439"/>
                        <a:chOff x="2683660" y="2771159"/>
                        <a:chExt cx="5305525" cy="2151840"/>
                      </a:xfrm>
                    </p:grpSpPr>
                    <p:sp>
                      <p:nvSpPr>
                        <p:cNvPr id="25" name="Rectangle 24">
                          <a:extLst>
                            <a:ext uri="{FF2B5EF4-FFF2-40B4-BE49-F238E27FC236}">
                              <a16:creationId xmlns:a16="http://schemas.microsoft.com/office/drawing/2014/main" id="{F639B689-C86E-4A65-A59C-874FF74A3CE0}"/>
                            </a:ext>
                          </a:extLst>
                        </p:cNvPr>
                        <p:cNvSpPr/>
                        <p:nvPr/>
                      </p:nvSpPr>
                      <p:spPr>
                        <a:xfrm>
                          <a:off x="2683660" y="2771159"/>
                          <a:ext cx="5305525" cy="2151825"/>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26" name="Group 25">
                          <a:extLst>
                            <a:ext uri="{FF2B5EF4-FFF2-40B4-BE49-F238E27FC236}">
                              <a16:creationId xmlns:a16="http://schemas.microsoft.com/office/drawing/2014/main" id="{077AAE52-1B40-48E0-B03D-47861311EB20}"/>
                            </a:ext>
                          </a:extLst>
                        </p:cNvPr>
                        <p:cNvGrpSpPr/>
                        <p:nvPr/>
                      </p:nvGrpSpPr>
                      <p:grpSpPr>
                        <a:xfrm>
                          <a:off x="2683660" y="2771159"/>
                          <a:ext cx="5305398" cy="2151840"/>
                          <a:chOff x="-19153" y="134159"/>
                          <a:chExt cx="5305398" cy="2151840"/>
                        </a:xfrm>
                      </p:grpSpPr>
                      <p:sp>
                        <p:nvSpPr>
                          <p:cNvPr id="27" name="Rectangle 26">
                            <a:extLst>
                              <a:ext uri="{FF2B5EF4-FFF2-40B4-BE49-F238E27FC236}">
                                <a16:creationId xmlns:a16="http://schemas.microsoft.com/office/drawing/2014/main" id="{53F4B7F4-3BAE-4D28-9F66-BF402A617636}"/>
                              </a:ext>
                            </a:extLst>
                          </p:cNvPr>
                          <p:cNvSpPr/>
                          <p:nvPr/>
                        </p:nvSpPr>
                        <p:spPr>
                          <a:xfrm>
                            <a:off x="-19153" y="134159"/>
                            <a:ext cx="5305398" cy="2151840"/>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28" name="Group 27">
                            <a:extLst>
                              <a:ext uri="{FF2B5EF4-FFF2-40B4-BE49-F238E27FC236}">
                                <a16:creationId xmlns:a16="http://schemas.microsoft.com/office/drawing/2014/main" id="{2F0F4A47-D162-4A47-906B-E3EA560B4AAF}"/>
                              </a:ext>
                            </a:extLst>
                          </p:cNvPr>
                          <p:cNvGrpSpPr/>
                          <p:nvPr/>
                        </p:nvGrpSpPr>
                        <p:grpSpPr>
                          <a:xfrm>
                            <a:off x="3453831" y="552449"/>
                            <a:ext cx="1803970" cy="1600201"/>
                            <a:chOff x="3339531" y="142874"/>
                            <a:chExt cx="1803970" cy="1600201"/>
                          </a:xfrm>
                        </p:grpSpPr>
                        <p:sp>
                          <p:nvSpPr>
                            <p:cNvPr id="29" name="Rectangle 28">
                              <a:extLst>
                                <a:ext uri="{FF2B5EF4-FFF2-40B4-BE49-F238E27FC236}">
                                  <a16:creationId xmlns:a16="http://schemas.microsoft.com/office/drawing/2014/main" id="{0C38F42E-8FD7-47C6-B70E-EAA67EF18038}"/>
                                </a:ext>
                              </a:extLst>
                            </p:cNvPr>
                            <p:cNvSpPr/>
                            <p:nvPr/>
                          </p:nvSpPr>
                          <p:spPr>
                            <a:xfrm>
                              <a:off x="3448050" y="457200"/>
                              <a:ext cx="1581150" cy="1285875"/>
                            </a:xfrm>
                            <a:prstGeom prst="rect">
                              <a:avLst/>
                            </a:prstGeom>
                            <a:solidFill>
                              <a:srgbClr val="C4E0B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algn="ctr">
                                <a:lnSpc>
                                  <a:spcPct val="107000"/>
                                </a:lnSpc>
                                <a:spcBef>
                                  <a:spcPts val="0"/>
                                </a:spcBef>
                                <a:spcAft>
                                  <a:spcPts val="800"/>
                                </a:spcAft>
                              </a:pPr>
                              <a:r>
                                <a:rPr lang="en-US" sz="2000" dirty="0">
                                  <a:effectLst/>
                                  <a:latin typeface="Calibri" panose="020F0502020204030204" pitchFamily="34" charset="0"/>
                                  <a:ea typeface="Calibri" panose="020F0502020204030204" pitchFamily="34" charset="0"/>
                                </a:rPr>
                                <a:t> </a:t>
                              </a:r>
                            </a:p>
                            <a:p>
                              <a:pPr marL="0" marR="0" algn="ctr">
                                <a:lnSpc>
                                  <a:spcPct val="107000"/>
                                </a:lnSpc>
                                <a:spcBef>
                                  <a:spcPts val="0"/>
                                </a:spcBef>
                                <a:spcAft>
                                  <a:spcPts val="800"/>
                                </a:spcAft>
                              </a:pPr>
                              <a:r>
                                <a:rPr lang="en-US" sz="2000" dirty="0">
                                  <a:effectLst/>
                                  <a:latin typeface="Calibri" panose="020F0502020204030204" pitchFamily="34" charset="0"/>
                                  <a:ea typeface="Calibri" panose="020F0502020204030204" pitchFamily="34" charset="0"/>
                                </a:rPr>
                                <a:t> </a:t>
                              </a:r>
                            </a:p>
                            <a:p>
                              <a:pPr marL="0" marR="0" algn="ctr">
                                <a:lnSpc>
                                  <a:spcPct val="107000"/>
                                </a:lnSpc>
                                <a:spcBef>
                                  <a:spcPts val="0"/>
                                </a:spcBef>
                                <a:spcAft>
                                  <a:spcPts val="800"/>
                                </a:spcAft>
                              </a:pPr>
                              <a:r>
                                <a:rPr lang="en-US" sz="2000" dirty="0">
                                  <a:solidFill>
                                    <a:srgbClr val="000000"/>
                                  </a:solidFill>
                                  <a:effectLst/>
                                  <a:latin typeface="Calibri" panose="020F0502020204030204" pitchFamily="34" charset="0"/>
                                  <a:ea typeface="Calibri" panose="020F0502020204030204" pitchFamily="34" charset="0"/>
                                </a:rPr>
                                <a:t>Model of interactions</a:t>
                              </a:r>
                              <a:endParaRPr lang="en-US" sz="2000" dirty="0">
                                <a:effectLst/>
                                <a:latin typeface="Calibri" panose="020F0502020204030204" pitchFamily="34" charset="0"/>
                                <a:ea typeface="Calibri" panose="020F0502020204030204" pitchFamily="34" charset="0"/>
                              </a:endParaRPr>
                            </a:p>
                          </p:txBody>
                        </p:sp>
                        <p:sp>
                          <p:nvSpPr>
                            <p:cNvPr id="30" name="Rectangle 29">
                              <a:extLst>
                                <a:ext uri="{FF2B5EF4-FFF2-40B4-BE49-F238E27FC236}">
                                  <a16:creationId xmlns:a16="http://schemas.microsoft.com/office/drawing/2014/main" id="{CB01DD27-AC56-43D9-94CC-5518A43E0314}"/>
                                </a:ext>
                              </a:extLst>
                            </p:cNvPr>
                            <p:cNvSpPr/>
                            <p:nvPr/>
                          </p:nvSpPr>
                          <p:spPr>
                            <a:xfrm>
                              <a:off x="3339531" y="142874"/>
                              <a:ext cx="1803970" cy="352425"/>
                            </a:xfrm>
                            <a:prstGeom prst="rect">
                              <a:avLst/>
                            </a:prstGeom>
                            <a:noFill/>
                            <a:ln>
                              <a:noFill/>
                            </a:ln>
                          </p:spPr>
                          <p:txBody>
                            <a:bodyPr spcFirstLastPara="1" wrap="square" lIns="91425" tIns="45700" rIns="91425" bIns="45700" anchor="t" anchorCtr="0">
                              <a:noAutofit/>
                            </a:bodyPr>
                            <a:lstStyle/>
                            <a:p>
                              <a:pPr marL="0" marR="0" algn="ctr">
                                <a:lnSpc>
                                  <a:spcPct val="107000"/>
                                </a:lnSpc>
                                <a:spcBef>
                                  <a:spcPts val="0"/>
                                </a:spcBef>
                                <a:spcAft>
                                  <a:spcPts val="800"/>
                                </a:spcAft>
                              </a:pPr>
                              <a:r>
                                <a:rPr lang="en-US" sz="2000" i="1" dirty="0">
                                  <a:solidFill>
                                    <a:srgbClr val="000000"/>
                                  </a:solidFill>
                                  <a:effectLst/>
                                  <a:latin typeface="Calibri" panose="020F0502020204030204" pitchFamily="34" charset="0"/>
                                  <a:ea typeface="Calibri" panose="020F0502020204030204" pitchFamily="34" charset="0"/>
                                </a:rPr>
                                <a:t>A Mechanistic Model </a:t>
                              </a:r>
                              <a:endParaRPr lang="en-US" sz="2000" dirty="0">
                                <a:effectLst/>
                                <a:latin typeface="Calibri" panose="020F0502020204030204" pitchFamily="34" charset="0"/>
                                <a:ea typeface="Calibri" panose="020F0502020204030204" pitchFamily="34" charset="0"/>
                              </a:endParaRPr>
                            </a:p>
                          </p:txBody>
                        </p:sp>
                        <p:sp>
                          <p:nvSpPr>
                            <p:cNvPr id="31" name="Freeform: Shape 30">
                              <a:extLst>
                                <a:ext uri="{FF2B5EF4-FFF2-40B4-BE49-F238E27FC236}">
                                  <a16:creationId xmlns:a16="http://schemas.microsoft.com/office/drawing/2014/main" id="{A9D24552-5A7C-42D6-AC91-58409EB6A795}"/>
                                </a:ext>
                              </a:extLst>
                            </p:cNvPr>
                            <p:cNvSpPr/>
                            <p:nvPr/>
                          </p:nvSpPr>
                          <p:spPr>
                            <a:xfrm>
                              <a:off x="3971925" y="571500"/>
                              <a:ext cx="533400" cy="495300"/>
                            </a:xfrm>
                            <a:custGeom>
                              <a:avLst/>
                              <a:gdLst/>
                              <a:ahLst/>
                              <a:cxnLst/>
                              <a:rect l="l" t="t" r="r" b="b"/>
                              <a:pathLst>
                                <a:path w="819150" h="752475" extrusionOk="0">
                                  <a:moveTo>
                                    <a:pt x="740569" y="296306"/>
                                  </a:moveTo>
                                  <a:cubicBezTo>
                                    <a:pt x="737711" y="296306"/>
                                    <a:pt x="734854" y="296306"/>
                                    <a:pt x="731996" y="296306"/>
                                  </a:cubicBezTo>
                                  <a:lnTo>
                                    <a:pt x="707231" y="229631"/>
                                  </a:lnTo>
                                  <a:cubicBezTo>
                                    <a:pt x="764381" y="197246"/>
                                    <a:pt x="784384" y="124856"/>
                                    <a:pt x="752951" y="67706"/>
                                  </a:cubicBezTo>
                                  <a:cubicBezTo>
                                    <a:pt x="720566" y="10556"/>
                                    <a:pt x="648176" y="-9446"/>
                                    <a:pt x="591026" y="21986"/>
                                  </a:cubicBezTo>
                                  <a:cubicBezTo>
                                    <a:pt x="563404" y="37226"/>
                                    <a:pt x="542449" y="63896"/>
                                    <a:pt x="534829" y="94376"/>
                                  </a:cubicBezTo>
                                  <a:lnTo>
                                    <a:pt x="446246" y="84851"/>
                                  </a:lnTo>
                                  <a:cubicBezTo>
                                    <a:pt x="439579" y="42941"/>
                                    <a:pt x="400526" y="13414"/>
                                    <a:pt x="358616" y="20081"/>
                                  </a:cubicBezTo>
                                  <a:cubicBezTo>
                                    <a:pt x="320516" y="25796"/>
                                    <a:pt x="292894" y="58181"/>
                                    <a:pt x="292894" y="96281"/>
                                  </a:cubicBezTo>
                                  <a:cubicBezTo>
                                    <a:pt x="292894" y="109616"/>
                                    <a:pt x="296704" y="122951"/>
                                    <a:pt x="303371" y="135334"/>
                                  </a:cubicBezTo>
                                  <a:lnTo>
                                    <a:pt x="196691" y="240109"/>
                                  </a:lnTo>
                                  <a:cubicBezTo>
                                    <a:pt x="176689" y="224869"/>
                                    <a:pt x="151924" y="216296"/>
                                    <a:pt x="126206" y="216296"/>
                                  </a:cubicBezTo>
                                  <a:cubicBezTo>
                                    <a:pt x="60484" y="216296"/>
                                    <a:pt x="7144" y="269636"/>
                                    <a:pt x="7144" y="335359"/>
                                  </a:cubicBezTo>
                                  <a:cubicBezTo>
                                    <a:pt x="7144" y="401081"/>
                                    <a:pt x="60484" y="454421"/>
                                    <a:pt x="126206" y="454421"/>
                                  </a:cubicBezTo>
                                  <a:lnTo>
                                    <a:pt x="150019" y="597296"/>
                                  </a:lnTo>
                                  <a:cubicBezTo>
                                    <a:pt x="110966" y="614441"/>
                                    <a:pt x="92869" y="660161"/>
                                    <a:pt x="110014" y="699214"/>
                                  </a:cubicBezTo>
                                  <a:cubicBezTo>
                                    <a:pt x="127159" y="738266"/>
                                    <a:pt x="172879" y="756364"/>
                                    <a:pt x="211931" y="739219"/>
                                  </a:cubicBezTo>
                                  <a:cubicBezTo>
                                    <a:pt x="248126" y="723979"/>
                                    <a:pt x="266224" y="683974"/>
                                    <a:pt x="255746" y="645874"/>
                                  </a:cubicBezTo>
                                  <a:lnTo>
                                    <a:pt x="339566" y="602059"/>
                                  </a:lnTo>
                                  <a:cubicBezTo>
                                    <a:pt x="393859" y="662066"/>
                                    <a:pt x="487204" y="666829"/>
                                    <a:pt x="548164" y="612536"/>
                                  </a:cubicBezTo>
                                  <a:cubicBezTo>
                                    <a:pt x="578644" y="584914"/>
                                    <a:pt x="596741" y="544909"/>
                                    <a:pt x="596741" y="503951"/>
                                  </a:cubicBezTo>
                                  <a:cubicBezTo>
                                    <a:pt x="596741" y="493474"/>
                                    <a:pt x="595789" y="482044"/>
                                    <a:pt x="592931" y="471566"/>
                                  </a:cubicBezTo>
                                  <a:lnTo>
                                    <a:pt x="685324" y="423941"/>
                                  </a:lnTo>
                                  <a:cubicBezTo>
                                    <a:pt x="713899" y="456326"/>
                                    <a:pt x="762476" y="459184"/>
                                    <a:pt x="794861" y="430609"/>
                                  </a:cubicBezTo>
                                  <a:cubicBezTo>
                                    <a:pt x="827246" y="402034"/>
                                    <a:pt x="830104" y="353456"/>
                                    <a:pt x="801529" y="321071"/>
                                  </a:cubicBezTo>
                                  <a:cubicBezTo>
                                    <a:pt x="783431" y="305831"/>
                                    <a:pt x="762476" y="296306"/>
                                    <a:pt x="740569" y="296306"/>
                                  </a:cubicBezTo>
                                  <a:lnTo>
                                    <a:pt x="740569" y="296306"/>
                                  </a:lnTo>
                                  <a:close/>
                                  <a:moveTo>
                                    <a:pt x="740569" y="324881"/>
                                  </a:moveTo>
                                  <a:cubicBezTo>
                                    <a:pt x="752951" y="324881"/>
                                    <a:pt x="762476" y="334406"/>
                                    <a:pt x="762476" y="346789"/>
                                  </a:cubicBezTo>
                                  <a:cubicBezTo>
                                    <a:pt x="762476" y="359171"/>
                                    <a:pt x="752951" y="368696"/>
                                    <a:pt x="740569" y="368696"/>
                                  </a:cubicBezTo>
                                  <a:cubicBezTo>
                                    <a:pt x="728186" y="368696"/>
                                    <a:pt x="718661" y="359171"/>
                                    <a:pt x="718661" y="346789"/>
                                  </a:cubicBezTo>
                                  <a:cubicBezTo>
                                    <a:pt x="718661" y="346789"/>
                                    <a:pt x="718661" y="346789"/>
                                    <a:pt x="718661" y="346789"/>
                                  </a:cubicBezTo>
                                  <a:cubicBezTo>
                                    <a:pt x="718661" y="334406"/>
                                    <a:pt x="728186" y="324881"/>
                                    <a:pt x="740569" y="324881"/>
                                  </a:cubicBezTo>
                                  <a:lnTo>
                                    <a:pt x="740569" y="324881"/>
                                  </a:lnTo>
                                  <a:close/>
                                  <a:moveTo>
                                    <a:pt x="649129" y="53419"/>
                                  </a:moveTo>
                                  <a:cubicBezTo>
                                    <a:pt x="667226" y="53419"/>
                                    <a:pt x="682466" y="68659"/>
                                    <a:pt x="682466" y="86756"/>
                                  </a:cubicBezTo>
                                  <a:cubicBezTo>
                                    <a:pt x="682466" y="104854"/>
                                    <a:pt x="667226" y="120094"/>
                                    <a:pt x="649129" y="120094"/>
                                  </a:cubicBezTo>
                                  <a:cubicBezTo>
                                    <a:pt x="631031" y="120094"/>
                                    <a:pt x="615791" y="104854"/>
                                    <a:pt x="615791" y="86756"/>
                                  </a:cubicBezTo>
                                  <a:cubicBezTo>
                                    <a:pt x="615791" y="86756"/>
                                    <a:pt x="615791" y="86756"/>
                                    <a:pt x="615791" y="86756"/>
                                  </a:cubicBezTo>
                                  <a:cubicBezTo>
                                    <a:pt x="615791" y="68659"/>
                                    <a:pt x="630079" y="53419"/>
                                    <a:pt x="649129" y="53419"/>
                                  </a:cubicBezTo>
                                  <a:close/>
                                  <a:moveTo>
                                    <a:pt x="581501" y="162004"/>
                                  </a:moveTo>
                                  <a:cubicBezTo>
                                    <a:pt x="581501" y="157241"/>
                                    <a:pt x="584359" y="151526"/>
                                    <a:pt x="588169" y="148669"/>
                                  </a:cubicBezTo>
                                  <a:cubicBezTo>
                                    <a:pt x="597694" y="142001"/>
                                    <a:pt x="609124" y="136286"/>
                                    <a:pt x="620554" y="133429"/>
                                  </a:cubicBezTo>
                                  <a:cubicBezTo>
                                    <a:pt x="629126" y="130571"/>
                                    <a:pt x="638651" y="129619"/>
                                    <a:pt x="648176" y="129619"/>
                                  </a:cubicBezTo>
                                  <a:cubicBezTo>
                                    <a:pt x="657701" y="129619"/>
                                    <a:pt x="667226" y="131524"/>
                                    <a:pt x="675799" y="133429"/>
                                  </a:cubicBezTo>
                                  <a:cubicBezTo>
                                    <a:pt x="687229" y="136286"/>
                                    <a:pt x="698659" y="142001"/>
                                    <a:pt x="708184" y="149621"/>
                                  </a:cubicBezTo>
                                  <a:cubicBezTo>
                                    <a:pt x="711994" y="152479"/>
                                    <a:pt x="714851" y="158194"/>
                                    <a:pt x="714851" y="162956"/>
                                  </a:cubicBezTo>
                                  <a:lnTo>
                                    <a:pt x="714851" y="188674"/>
                                  </a:lnTo>
                                  <a:lnTo>
                                    <a:pt x="581501" y="188674"/>
                                  </a:lnTo>
                                  <a:lnTo>
                                    <a:pt x="581501" y="162004"/>
                                  </a:lnTo>
                                  <a:close/>
                                  <a:moveTo>
                                    <a:pt x="369094" y="47704"/>
                                  </a:moveTo>
                                  <a:cubicBezTo>
                                    <a:pt x="381476" y="47704"/>
                                    <a:pt x="391001" y="57229"/>
                                    <a:pt x="391001" y="69611"/>
                                  </a:cubicBezTo>
                                  <a:cubicBezTo>
                                    <a:pt x="391001" y="81994"/>
                                    <a:pt x="381476" y="91519"/>
                                    <a:pt x="369094" y="91519"/>
                                  </a:cubicBezTo>
                                  <a:cubicBezTo>
                                    <a:pt x="356711" y="91519"/>
                                    <a:pt x="347186" y="81994"/>
                                    <a:pt x="347186" y="69611"/>
                                  </a:cubicBezTo>
                                  <a:cubicBezTo>
                                    <a:pt x="347186" y="69611"/>
                                    <a:pt x="347186" y="69611"/>
                                    <a:pt x="347186" y="69611"/>
                                  </a:cubicBezTo>
                                  <a:cubicBezTo>
                                    <a:pt x="347186" y="58181"/>
                                    <a:pt x="356711" y="47704"/>
                                    <a:pt x="369094" y="47704"/>
                                  </a:cubicBezTo>
                                  <a:lnTo>
                                    <a:pt x="369094" y="47704"/>
                                  </a:lnTo>
                                  <a:close/>
                                  <a:moveTo>
                                    <a:pt x="324326" y="119141"/>
                                  </a:moveTo>
                                  <a:cubicBezTo>
                                    <a:pt x="324326" y="115331"/>
                                    <a:pt x="326231" y="112474"/>
                                    <a:pt x="329089" y="110569"/>
                                  </a:cubicBezTo>
                                  <a:cubicBezTo>
                                    <a:pt x="335756" y="105806"/>
                                    <a:pt x="343376" y="102949"/>
                                    <a:pt x="350996" y="101044"/>
                                  </a:cubicBezTo>
                                  <a:cubicBezTo>
                                    <a:pt x="356711" y="99139"/>
                                    <a:pt x="363379" y="98186"/>
                                    <a:pt x="369094" y="98186"/>
                                  </a:cubicBezTo>
                                  <a:cubicBezTo>
                                    <a:pt x="374809" y="98186"/>
                                    <a:pt x="381476" y="99139"/>
                                    <a:pt x="387191" y="101044"/>
                                  </a:cubicBezTo>
                                  <a:cubicBezTo>
                                    <a:pt x="394811" y="102949"/>
                                    <a:pt x="401479" y="106759"/>
                                    <a:pt x="408146" y="111521"/>
                                  </a:cubicBezTo>
                                  <a:cubicBezTo>
                                    <a:pt x="411004" y="113426"/>
                                    <a:pt x="412909" y="117236"/>
                                    <a:pt x="412909" y="120094"/>
                                  </a:cubicBezTo>
                                  <a:lnTo>
                                    <a:pt x="412909" y="137239"/>
                                  </a:lnTo>
                                  <a:lnTo>
                                    <a:pt x="325279" y="137239"/>
                                  </a:lnTo>
                                  <a:lnTo>
                                    <a:pt x="325279" y="119141"/>
                                  </a:lnTo>
                                  <a:close/>
                                  <a:moveTo>
                                    <a:pt x="124301" y="262969"/>
                                  </a:moveTo>
                                  <a:cubicBezTo>
                                    <a:pt x="142399" y="262969"/>
                                    <a:pt x="157639" y="278209"/>
                                    <a:pt x="157639" y="296306"/>
                                  </a:cubicBezTo>
                                  <a:cubicBezTo>
                                    <a:pt x="157639" y="314404"/>
                                    <a:pt x="142399" y="329644"/>
                                    <a:pt x="124301" y="329644"/>
                                  </a:cubicBezTo>
                                  <a:cubicBezTo>
                                    <a:pt x="106204" y="329644"/>
                                    <a:pt x="90964" y="314404"/>
                                    <a:pt x="90964" y="296306"/>
                                  </a:cubicBezTo>
                                  <a:cubicBezTo>
                                    <a:pt x="90964" y="296306"/>
                                    <a:pt x="90964" y="296306"/>
                                    <a:pt x="90964" y="296306"/>
                                  </a:cubicBezTo>
                                  <a:cubicBezTo>
                                    <a:pt x="91916" y="278209"/>
                                    <a:pt x="106204" y="262969"/>
                                    <a:pt x="124301" y="262969"/>
                                  </a:cubicBezTo>
                                  <a:lnTo>
                                    <a:pt x="124301" y="262969"/>
                                  </a:lnTo>
                                  <a:close/>
                                  <a:moveTo>
                                    <a:pt x="57626" y="397271"/>
                                  </a:moveTo>
                                  <a:lnTo>
                                    <a:pt x="57626" y="371554"/>
                                  </a:lnTo>
                                  <a:cubicBezTo>
                                    <a:pt x="57626" y="366791"/>
                                    <a:pt x="60484" y="361076"/>
                                    <a:pt x="64294" y="358219"/>
                                  </a:cubicBezTo>
                                  <a:cubicBezTo>
                                    <a:pt x="73819" y="351551"/>
                                    <a:pt x="85249" y="345836"/>
                                    <a:pt x="96679" y="342979"/>
                                  </a:cubicBezTo>
                                  <a:cubicBezTo>
                                    <a:pt x="105251" y="340121"/>
                                    <a:pt x="114776" y="339169"/>
                                    <a:pt x="124301" y="339169"/>
                                  </a:cubicBezTo>
                                  <a:cubicBezTo>
                                    <a:pt x="133826" y="339169"/>
                                    <a:pt x="143351" y="341074"/>
                                    <a:pt x="151924" y="342979"/>
                                  </a:cubicBezTo>
                                  <a:cubicBezTo>
                                    <a:pt x="163354" y="345836"/>
                                    <a:pt x="174784" y="351551"/>
                                    <a:pt x="184309" y="359171"/>
                                  </a:cubicBezTo>
                                  <a:cubicBezTo>
                                    <a:pt x="188119" y="362029"/>
                                    <a:pt x="190976" y="367744"/>
                                    <a:pt x="190976" y="372506"/>
                                  </a:cubicBezTo>
                                  <a:lnTo>
                                    <a:pt x="190976" y="398224"/>
                                  </a:lnTo>
                                  <a:lnTo>
                                    <a:pt x="57626" y="397271"/>
                                  </a:lnTo>
                                  <a:close/>
                                  <a:moveTo>
                                    <a:pt x="222409" y="707786"/>
                                  </a:moveTo>
                                  <a:lnTo>
                                    <a:pt x="133826" y="707786"/>
                                  </a:lnTo>
                                  <a:lnTo>
                                    <a:pt x="133826" y="690641"/>
                                  </a:lnTo>
                                  <a:cubicBezTo>
                                    <a:pt x="133826" y="686831"/>
                                    <a:pt x="135731" y="683974"/>
                                    <a:pt x="138589" y="682069"/>
                                  </a:cubicBezTo>
                                  <a:cubicBezTo>
                                    <a:pt x="145256" y="677306"/>
                                    <a:pt x="152876" y="673496"/>
                                    <a:pt x="160496" y="671591"/>
                                  </a:cubicBezTo>
                                  <a:cubicBezTo>
                                    <a:pt x="166211" y="669686"/>
                                    <a:pt x="172879" y="668734"/>
                                    <a:pt x="178594" y="668734"/>
                                  </a:cubicBezTo>
                                  <a:cubicBezTo>
                                    <a:pt x="184309" y="668734"/>
                                    <a:pt x="190976" y="669686"/>
                                    <a:pt x="196691" y="671591"/>
                                  </a:cubicBezTo>
                                  <a:cubicBezTo>
                                    <a:pt x="204311" y="673496"/>
                                    <a:pt x="210979" y="677306"/>
                                    <a:pt x="217646" y="682069"/>
                                  </a:cubicBezTo>
                                  <a:cubicBezTo>
                                    <a:pt x="220504" y="683974"/>
                                    <a:pt x="222409" y="687784"/>
                                    <a:pt x="222409" y="690641"/>
                                  </a:cubicBezTo>
                                  <a:lnTo>
                                    <a:pt x="222409" y="707786"/>
                                  </a:lnTo>
                                  <a:close/>
                                  <a:moveTo>
                                    <a:pt x="155734" y="641111"/>
                                  </a:moveTo>
                                  <a:cubicBezTo>
                                    <a:pt x="155734" y="628729"/>
                                    <a:pt x="165259" y="619204"/>
                                    <a:pt x="177641" y="619204"/>
                                  </a:cubicBezTo>
                                  <a:cubicBezTo>
                                    <a:pt x="190024" y="619204"/>
                                    <a:pt x="199549" y="628729"/>
                                    <a:pt x="199549" y="641111"/>
                                  </a:cubicBezTo>
                                  <a:cubicBezTo>
                                    <a:pt x="199549" y="653494"/>
                                    <a:pt x="190024" y="663019"/>
                                    <a:pt x="177641" y="663019"/>
                                  </a:cubicBezTo>
                                  <a:cubicBezTo>
                                    <a:pt x="166211" y="663971"/>
                                    <a:pt x="156686" y="653494"/>
                                    <a:pt x="155734" y="641111"/>
                                  </a:cubicBezTo>
                                  <a:lnTo>
                                    <a:pt x="155734" y="641111"/>
                                  </a:lnTo>
                                  <a:close/>
                                  <a:moveTo>
                                    <a:pt x="231934" y="614441"/>
                                  </a:moveTo>
                                  <a:cubicBezTo>
                                    <a:pt x="219551" y="602059"/>
                                    <a:pt x="202406" y="594439"/>
                                    <a:pt x="185261" y="592534"/>
                                  </a:cubicBezTo>
                                  <a:lnTo>
                                    <a:pt x="161449" y="449659"/>
                                  </a:lnTo>
                                  <a:cubicBezTo>
                                    <a:pt x="184309" y="442039"/>
                                    <a:pt x="204311" y="427751"/>
                                    <a:pt x="218599" y="408701"/>
                                  </a:cubicBezTo>
                                  <a:lnTo>
                                    <a:pt x="307181" y="455374"/>
                                  </a:lnTo>
                                  <a:cubicBezTo>
                                    <a:pt x="292894" y="493474"/>
                                    <a:pt x="295751" y="536336"/>
                                    <a:pt x="314801" y="572531"/>
                                  </a:cubicBezTo>
                                  <a:lnTo>
                                    <a:pt x="231934" y="614441"/>
                                  </a:lnTo>
                                  <a:close/>
                                  <a:moveTo>
                                    <a:pt x="325279" y="420131"/>
                                  </a:moveTo>
                                  <a:lnTo>
                                    <a:pt x="237649" y="374411"/>
                                  </a:lnTo>
                                  <a:cubicBezTo>
                                    <a:pt x="241459" y="362029"/>
                                    <a:pt x="243364" y="349646"/>
                                    <a:pt x="243364" y="336311"/>
                                  </a:cubicBezTo>
                                  <a:cubicBezTo>
                                    <a:pt x="243364" y="311546"/>
                                    <a:pt x="235744" y="287734"/>
                                    <a:pt x="221456" y="267731"/>
                                  </a:cubicBezTo>
                                  <a:lnTo>
                                    <a:pt x="328136" y="163909"/>
                                  </a:lnTo>
                                  <a:cubicBezTo>
                                    <a:pt x="364331" y="185816"/>
                                    <a:pt x="411956" y="175339"/>
                                    <a:pt x="433864" y="139144"/>
                                  </a:cubicBezTo>
                                  <a:cubicBezTo>
                                    <a:pt x="436721" y="134381"/>
                                    <a:pt x="438626" y="129619"/>
                                    <a:pt x="440531" y="124856"/>
                                  </a:cubicBezTo>
                                  <a:lnTo>
                                    <a:pt x="529114" y="134381"/>
                                  </a:lnTo>
                                  <a:cubicBezTo>
                                    <a:pt x="531019" y="168671"/>
                                    <a:pt x="548164" y="201056"/>
                                    <a:pt x="575786" y="222011"/>
                                  </a:cubicBezTo>
                                  <a:lnTo>
                                    <a:pt x="497681" y="367744"/>
                                  </a:lnTo>
                                  <a:cubicBezTo>
                                    <a:pt x="435769" y="342979"/>
                                    <a:pt x="364331" y="364886"/>
                                    <a:pt x="325279" y="420131"/>
                                  </a:cubicBezTo>
                                  <a:lnTo>
                                    <a:pt x="325279" y="420131"/>
                                  </a:lnTo>
                                  <a:close/>
                                  <a:moveTo>
                                    <a:pt x="487204" y="455374"/>
                                  </a:moveTo>
                                  <a:cubicBezTo>
                                    <a:pt x="487204" y="478234"/>
                                    <a:pt x="468154" y="496331"/>
                                    <a:pt x="445294" y="496331"/>
                                  </a:cubicBezTo>
                                  <a:cubicBezTo>
                                    <a:pt x="422434" y="496331"/>
                                    <a:pt x="404336" y="478234"/>
                                    <a:pt x="404336" y="455374"/>
                                  </a:cubicBezTo>
                                  <a:cubicBezTo>
                                    <a:pt x="404336" y="432514"/>
                                    <a:pt x="422434" y="414416"/>
                                    <a:pt x="445294" y="414416"/>
                                  </a:cubicBezTo>
                                  <a:cubicBezTo>
                                    <a:pt x="445294" y="414416"/>
                                    <a:pt x="445294" y="414416"/>
                                    <a:pt x="446246" y="414416"/>
                                  </a:cubicBezTo>
                                  <a:cubicBezTo>
                                    <a:pt x="469106" y="414416"/>
                                    <a:pt x="487204" y="432514"/>
                                    <a:pt x="487204" y="455374"/>
                                  </a:cubicBezTo>
                                  <a:lnTo>
                                    <a:pt x="487204" y="455374"/>
                                  </a:lnTo>
                                  <a:close/>
                                  <a:moveTo>
                                    <a:pt x="528161" y="580151"/>
                                  </a:moveTo>
                                  <a:lnTo>
                                    <a:pt x="363379" y="580151"/>
                                  </a:lnTo>
                                  <a:lnTo>
                                    <a:pt x="363379" y="548719"/>
                                  </a:lnTo>
                                  <a:cubicBezTo>
                                    <a:pt x="363379" y="542051"/>
                                    <a:pt x="366236" y="536336"/>
                                    <a:pt x="371951" y="532526"/>
                                  </a:cubicBezTo>
                                  <a:cubicBezTo>
                                    <a:pt x="384334" y="523954"/>
                                    <a:pt x="397669" y="517286"/>
                                    <a:pt x="411956" y="512524"/>
                                  </a:cubicBezTo>
                                  <a:cubicBezTo>
                                    <a:pt x="423386" y="509666"/>
                                    <a:pt x="434816" y="507761"/>
                                    <a:pt x="446246" y="507761"/>
                                  </a:cubicBezTo>
                                  <a:cubicBezTo>
                                    <a:pt x="457676" y="507761"/>
                                    <a:pt x="469106" y="509666"/>
                                    <a:pt x="480536" y="512524"/>
                                  </a:cubicBezTo>
                                  <a:cubicBezTo>
                                    <a:pt x="494824" y="516334"/>
                                    <a:pt x="509111" y="523001"/>
                                    <a:pt x="520541" y="532526"/>
                                  </a:cubicBezTo>
                                  <a:cubicBezTo>
                                    <a:pt x="525304" y="536336"/>
                                    <a:pt x="529114" y="543004"/>
                                    <a:pt x="529114" y="548719"/>
                                  </a:cubicBezTo>
                                  <a:lnTo>
                                    <a:pt x="528161" y="580151"/>
                                  </a:lnTo>
                                  <a:close/>
                                  <a:moveTo>
                                    <a:pt x="663416" y="374411"/>
                                  </a:moveTo>
                                  <a:cubicBezTo>
                                    <a:pt x="663416" y="380126"/>
                                    <a:pt x="664369" y="385841"/>
                                    <a:pt x="666274" y="391556"/>
                                  </a:cubicBezTo>
                                  <a:lnTo>
                                    <a:pt x="578644" y="437276"/>
                                  </a:lnTo>
                                  <a:cubicBezTo>
                                    <a:pt x="568166" y="416321"/>
                                    <a:pt x="551974" y="399176"/>
                                    <a:pt x="532924" y="385841"/>
                                  </a:cubicBezTo>
                                  <a:lnTo>
                                    <a:pt x="611029" y="240109"/>
                                  </a:lnTo>
                                  <a:cubicBezTo>
                                    <a:pt x="623411" y="244871"/>
                                    <a:pt x="636746" y="246776"/>
                                    <a:pt x="650081" y="246776"/>
                                  </a:cubicBezTo>
                                  <a:cubicBezTo>
                                    <a:pt x="657701" y="246776"/>
                                    <a:pt x="665321" y="245824"/>
                                    <a:pt x="672941" y="244871"/>
                                  </a:cubicBezTo>
                                  <a:lnTo>
                                    <a:pt x="697706" y="311546"/>
                                  </a:lnTo>
                                  <a:cubicBezTo>
                                    <a:pt x="674846" y="324881"/>
                                    <a:pt x="662464" y="348694"/>
                                    <a:pt x="663416" y="374411"/>
                                  </a:cubicBezTo>
                                  <a:close/>
                                  <a:moveTo>
                                    <a:pt x="784384" y="412511"/>
                                  </a:moveTo>
                                  <a:lnTo>
                                    <a:pt x="695801" y="412511"/>
                                  </a:lnTo>
                                  <a:lnTo>
                                    <a:pt x="695801" y="395366"/>
                                  </a:lnTo>
                                  <a:cubicBezTo>
                                    <a:pt x="695801" y="391556"/>
                                    <a:pt x="697706" y="388699"/>
                                    <a:pt x="700564" y="386794"/>
                                  </a:cubicBezTo>
                                  <a:cubicBezTo>
                                    <a:pt x="707231" y="382031"/>
                                    <a:pt x="714851" y="378221"/>
                                    <a:pt x="722471" y="376316"/>
                                  </a:cubicBezTo>
                                  <a:cubicBezTo>
                                    <a:pt x="728186" y="374411"/>
                                    <a:pt x="734854" y="373459"/>
                                    <a:pt x="740569" y="373459"/>
                                  </a:cubicBezTo>
                                  <a:cubicBezTo>
                                    <a:pt x="746284" y="373459"/>
                                    <a:pt x="752951" y="374411"/>
                                    <a:pt x="758666" y="376316"/>
                                  </a:cubicBezTo>
                                  <a:cubicBezTo>
                                    <a:pt x="766286" y="378221"/>
                                    <a:pt x="772954" y="382031"/>
                                    <a:pt x="779621" y="386794"/>
                                  </a:cubicBezTo>
                                  <a:cubicBezTo>
                                    <a:pt x="782479" y="388699"/>
                                    <a:pt x="784384" y="392509"/>
                                    <a:pt x="784384" y="395366"/>
                                  </a:cubicBezTo>
                                  <a:lnTo>
                                    <a:pt x="784384" y="412511"/>
                                  </a:lnTo>
                                  <a:close/>
                                </a:path>
                              </a:pathLst>
                            </a:custGeom>
                            <a:solidFill>
                              <a:srgbClr val="000000"/>
                            </a:solid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grpSp>
                  </p:grpSp>
                </p:grpSp>
              </p:grpSp>
            </p:grpSp>
          </p:grpSp>
        </p:grpSp>
      </p:grpSp>
      <p:sp>
        <p:nvSpPr>
          <p:cNvPr id="38" name="Rectangle 37">
            <a:extLst>
              <a:ext uri="{FF2B5EF4-FFF2-40B4-BE49-F238E27FC236}">
                <a16:creationId xmlns:a16="http://schemas.microsoft.com/office/drawing/2014/main" id="{914F9914-3E09-41B9-8452-8618CE43287F}"/>
              </a:ext>
            </a:extLst>
          </p:cNvPr>
          <p:cNvSpPr/>
          <p:nvPr/>
        </p:nvSpPr>
        <p:spPr>
          <a:xfrm>
            <a:off x="1301722" y="2493680"/>
            <a:ext cx="2967462" cy="2146780"/>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algn="ctr">
              <a:lnSpc>
                <a:spcPct val="107000"/>
              </a:lnSpc>
              <a:spcBef>
                <a:spcPts val="0"/>
              </a:spcBef>
              <a:spcAft>
                <a:spcPts val="800"/>
              </a:spcAft>
            </a:pPr>
            <a:r>
              <a:rPr lang="en-US" sz="2000" dirty="0">
                <a:effectLst/>
                <a:latin typeface="Calibri" panose="020F0502020204030204" pitchFamily="34" charset="0"/>
                <a:ea typeface="Calibri" panose="020F0502020204030204" pitchFamily="34" charset="0"/>
              </a:rPr>
              <a:t> </a:t>
            </a:r>
          </a:p>
          <a:p>
            <a:pPr marL="0" marR="0" algn="ctr">
              <a:lnSpc>
                <a:spcPct val="107000"/>
              </a:lnSpc>
              <a:spcBef>
                <a:spcPts val="0"/>
              </a:spcBef>
              <a:spcAft>
                <a:spcPts val="800"/>
              </a:spcAft>
            </a:pPr>
            <a:r>
              <a:rPr lang="en-US" sz="2000" dirty="0">
                <a:effectLst/>
                <a:latin typeface="Calibri" panose="020F0502020204030204" pitchFamily="34" charset="0"/>
                <a:ea typeface="Calibri" panose="020F0502020204030204" pitchFamily="34" charset="0"/>
              </a:rPr>
              <a:t> </a:t>
            </a:r>
          </a:p>
          <a:p>
            <a:pPr marL="0" marR="0" algn="ctr">
              <a:lnSpc>
                <a:spcPct val="107000"/>
              </a:lnSpc>
              <a:spcBef>
                <a:spcPts val="0"/>
              </a:spcBef>
              <a:spcAft>
                <a:spcPts val="800"/>
              </a:spcAft>
            </a:pPr>
            <a:r>
              <a:rPr lang="en-US" sz="2000" dirty="0">
                <a:solidFill>
                  <a:srgbClr val="000000"/>
                </a:solidFill>
                <a:effectLst/>
                <a:latin typeface="Calibri" panose="020F0502020204030204" pitchFamily="34" charset="0"/>
                <a:ea typeface="Calibri" panose="020F0502020204030204" pitchFamily="34" charset="0"/>
              </a:rPr>
              <a:t>Model of reasoning and decision </a:t>
            </a:r>
            <a:endParaRPr lang="en-US" sz="2000" dirty="0">
              <a:effectLst/>
              <a:latin typeface="Calibri" panose="020F0502020204030204" pitchFamily="34" charset="0"/>
              <a:ea typeface="Calibri" panose="020F0502020204030204" pitchFamily="34" charset="0"/>
            </a:endParaRPr>
          </a:p>
        </p:txBody>
      </p:sp>
      <p:sp>
        <p:nvSpPr>
          <p:cNvPr id="39" name="Rectangle 38">
            <a:extLst>
              <a:ext uri="{FF2B5EF4-FFF2-40B4-BE49-F238E27FC236}">
                <a16:creationId xmlns:a16="http://schemas.microsoft.com/office/drawing/2014/main" id="{80AF8B4B-88AC-480B-90C4-8CD70A6413A1}"/>
              </a:ext>
            </a:extLst>
          </p:cNvPr>
          <p:cNvSpPr/>
          <p:nvPr/>
        </p:nvSpPr>
        <p:spPr>
          <a:xfrm>
            <a:off x="1194464" y="1968912"/>
            <a:ext cx="3342862" cy="445258"/>
          </a:xfrm>
          <a:prstGeom prst="rect">
            <a:avLst/>
          </a:prstGeom>
          <a:noFill/>
          <a:ln>
            <a:noFill/>
          </a:ln>
        </p:spPr>
        <p:txBody>
          <a:bodyPr spcFirstLastPara="1" wrap="square" lIns="91425" tIns="45700" rIns="91425" bIns="45700" anchor="t" anchorCtr="0">
            <a:noAutofit/>
          </a:bodyPr>
          <a:lstStyle/>
          <a:p>
            <a:pPr marL="0" marR="0" algn="ctr">
              <a:lnSpc>
                <a:spcPct val="107000"/>
              </a:lnSpc>
              <a:spcBef>
                <a:spcPts val="0"/>
              </a:spcBef>
              <a:spcAft>
                <a:spcPts val="800"/>
              </a:spcAft>
            </a:pPr>
            <a:r>
              <a:rPr lang="en-US" sz="2000" i="1" dirty="0">
                <a:solidFill>
                  <a:srgbClr val="000000"/>
                </a:solidFill>
                <a:effectLst/>
                <a:latin typeface="Calibri" panose="020F0502020204030204" pitchFamily="34" charset="0"/>
                <a:ea typeface="Calibri" panose="020F0502020204030204" pitchFamily="34" charset="0"/>
              </a:rPr>
              <a:t>A Large Language Model </a:t>
            </a:r>
            <a:endParaRPr lang="en-US" sz="2000" dirty="0">
              <a:effectLst/>
              <a:latin typeface="Calibri" panose="020F0502020204030204" pitchFamily="34" charset="0"/>
              <a:ea typeface="Calibri" panose="020F0502020204030204" pitchFamily="34" charset="0"/>
            </a:endParaRPr>
          </a:p>
        </p:txBody>
      </p:sp>
      <p:sp>
        <p:nvSpPr>
          <p:cNvPr id="40" name="Freeform: Shape 39">
            <a:extLst>
              <a:ext uri="{FF2B5EF4-FFF2-40B4-BE49-F238E27FC236}">
                <a16:creationId xmlns:a16="http://schemas.microsoft.com/office/drawing/2014/main" id="{4470C5DB-34B7-4870-A268-40CE9509266C}"/>
              </a:ext>
            </a:extLst>
          </p:cNvPr>
          <p:cNvSpPr/>
          <p:nvPr/>
        </p:nvSpPr>
        <p:spPr>
          <a:xfrm>
            <a:off x="2445803" y="2684505"/>
            <a:ext cx="683767" cy="715593"/>
          </a:xfrm>
          <a:custGeom>
            <a:avLst/>
            <a:gdLst/>
            <a:ahLst/>
            <a:cxnLst/>
            <a:rect l="l" t="t" r="r" b="b"/>
            <a:pathLst>
              <a:path w="364331" h="428625" extrusionOk="0">
                <a:moveTo>
                  <a:pt x="247220" y="177997"/>
                </a:moveTo>
                <a:lnTo>
                  <a:pt x="199535" y="177997"/>
                </a:lnTo>
                <a:cubicBezTo>
                  <a:pt x="179176" y="177997"/>
                  <a:pt x="162567" y="194070"/>
                  <a:pt x="162567" y="214430"/>
                </a:cubicBezTo>
                <a:lnTo>
                  <a:pt x="162567" y="254078"/>
                </a:lnTo>
                <a:lnTo>
                  <a:pt x="138456" y="254078"/>
                </a:lnTo>
                <a:lnTo>
                  <a:pt x="138456" y="222466"/>
                </a:lnTo>
                <a:cubicBezTo>
                  <a:pt x="138456" y="211215"/>
                  <a:pt x="138992" y="196749"/>
                  <a:pt x="130955" y="187641"/>
                </a:cubicBezTo>
                <a:cubicBezTo>
                  <a:pt x="126133" y="182283"/>
                  <a:pt x="120776" y="177997"/>
                  <a:pt x="114882" y="173710"/>
                </a:cubicBezTo>
                <a:cubicBezTo>
                  <a:pt x="110596" y="171031"/>
                  <a:pt x="106309" y="167817"/>
                  <a:pt x="103095" y="163530"/>
                </a:cubicBezTo>
                <a:cubicBezTo>
                  <a:pt x="101487" y="161387"/>
                  <a:pt x="100416" y="158708"/>
                  <a:pt x="99344" y="156030"/>
                </a:cubicBezTo>
                <a:cubicBezTo>
                  <a:pt x="105774" y="153351"/>
                  <a:pt x="112739" y="152815"/>
                  <a:pt x="119168" y="153351"/>
                </a:cubicBezTo>
                <a:cubicBezTo>
                  <a:pt x="122383" y="153351"/>
                  <a:pt x="125062" y="151208"/>
                  <a:pt x="125062" y="147993"/>
                </a:cubicBezTo>
                <a:cubicBezTo>
                  <a:pt x="125598" y="144778"/>
                  <a:pt x="123454" y="142099"/>
                  <a:pt x="120776" y="141028"/>
                </a:cubicBezTo>
                <a:cubicBezTo>
                  <a:pt x="112739" y="139956"/>
                  <a:pt x="104166" y="141028"/>
                  <a:pt x="96130" y="143707"/>
                </a:cubicBezTo>
                <a:cubicBezTo>
                  <a:pt x="96130" y="142635"/>
                  <a:pt x="96130" y="141563"/>
                  <a:pt x="95594" y="141028"/>
                </a:cubicBezTo>
                <a:cubicBezTo>
                  <a:pt x="95058" y="136206"/>
                  <a:pt x="96130" y="131384"/>
                  <a:pt x="97201" y="126562"/>
                </a:cubicBezTo>
                <a:cubicBezTo>
                  <a:pt x="101487" y="115310"/>
                  <a:pt x="112203" y="110488"/>
                  <a:pt x="122383" y="106738"/>
                </a:cubicBezTo>
                <a:cubicBezTo>
                  <a:pt x="123990" y="106202"/>
                  <a:pt x="126133" y="105666"/>
                  <a:pt x="128812" y="105130"/>
                </a:cubicBezTo>
                <a:lnTo>
                  <a:pt x="130420" y="104595"/>
                </a:lnTo>
                <a:lnTo>
                  <a:pt x="130955" y="104595"/>
                </a:lnTo>
                <a:cubicBezTo>
                  <a:pt x="133634" y="105130"/>
                  <a:pt x="135777" y="105666"/>
                  <a:pt x="137921" y="106202"/>
                </a:cubicBezTo>
                <a:lnTo>
                  <a:pt x="140599" y="106738"/>
                </a:lnTo>
                <a:lnTo>
                  <a:pt x="143814" y="107273"/>
                </a:lnTo>
                <a:cubicBezTo>
                  <a:pt x="149172" y="113703"/>
                  <a:pt x="151851" y="121740"/>
                  <a:pt x="151315" y="129776"/>
                </a:cubicBezTo>
                <a:cubicBezTo>
                  <a:pt x="150779" y="137813"/>
                  <a:pt x="147029" y="145314"/>
                  <a:pt x="140599" y="150672"/>
                </a:cubicBezTo>
                <a:cubicBezTo>
                  <a:pt x="138456" y="152815"/>
                  <a:pt x="137921" y="156565"/>
                  <a:pt x="140064" y="159244"/>
                </a:cubicBezTo>
                <a:cubicBezTo>
                  <a:pt x="142207" y="161387"/>
                  <a:pt x="145422" y="161923"/>
                  <a:pt x="148100" y="159780"/>
                </a:cubicBezTo>
                <a:cubicBezTo>
                  <a:pt x="151851" y="156565"/>
                  <a:pt x="155066" y="152815"/>
                  <a:pt x="157209" y="148529"/>
                </a:cubicBezTo>
                <a:lnTo>
                  <a:pt x="157744" y="148529"/>
                </a:lnTo>
                <a:cubicBezTo>
                  <a:pt x="166853" y="147457"/>
                  <a:pt x="175961" y="144778"/>
                  <a:pt x="183998" y="140492"/>
                </a:cubicBezTo>
                <a:cubicBezTo>
                  <a:pt x="185069" y="139420"/>
                  <a:pt x="186141" y="138349"/>
                  <a:pt x="186677" y="136741"/>
                </a:cubicBezTo>
                <a:cubicBezTo>
                  <a:pt x="187212" y="135134"/>
                  <a:pt x="186677" y="133527"/>
                  <a:pt x="185605" y="132455"/>
                </a:cubicBezTo>
                <a:cubicBezTo>
                  <a:pt x="183462" y="129776"/>
                  <a:pt x="180247" y="129240"/>
                  <a:pt x="177568" y="130848"/>
                </a:cubicBezTo>
                <a:cubicBezTo>
                  <a:pt x="172746" y="133527"/>
                  <a:pt x="167924" y="135670"/>
                  <a:pt x="162031" y="136206"/>
                </a:cubicBezTo>
                <a:cubicBezTo>
                  <a:pt x="162567" y="134598"/>
                  <a:pt x="163102" y="132455"/>
                  <a:pt x="163102" y="130848"/>
                </a:cubicBezTo>
                <a:cubicBezTo>
                  <a:pt x="163638" y="123883"/>
                  <a:pt x="162567" y="116918"/>
                  <a:pt x="159888" y="111024"/>
                </a:cubicBezTo>
                <a:cubicBezTo>
                  <a:pt x="164174" y="111560"/>
                  <a:pt x="168460" y="112095"/>
                  <a:pt x="172746" y="112095"/>
                </a:cubicBezTo>
                <a:cubicBezTo>
                  <a:pt x="176497" y="112095"/>
                  <a:pt x="180247" y="111560"/>
                  <a:pt x="183998" y="111024"/>
                </a:cubicBezTo>
                <a:cubicBezTo>
                  <a:pt x="190963" y="119596"/>
                  <a:pt x="200071" y="125490"/>
                  <a:pt x="210787" y="128169"/>
                </a:cubicBezTo>
                <a:cubicBezTo>
                  <a:pt x="224717" y="135134"/>
                  <a:pt x="237576" y="144242"/>
                  <a:pt x="237576" y="159244"/>
                </a:cubicBezTo>
                <a:cubicBezTo>
                  <a:pt x="237576" y="161387"/>
                  <a:pt x="238647" y="164066"/>
                  <a:pt x="240255" y="165138"/>
                </a:cubicBezTo>
                <a:cubicBezTo>
                  <a:pt x="242398" y="166209"/>
                  <a:pt x="244541" y="166209"/>
                  <a:pt x="246684" y="165138"/>
                </a:cubicBezTo>
                <a:cubicBezTo>
                  <a:pt x="248827" y="164066"/>
                  <a:pt x="249899" y="161387"/>
                  <a:pt x="249363" y="159244"/>
                </a:cubicBezTo>
                <a:cubicBezTo>
                  <a:pt x="249363" y="147457"/>
                  <a:pt x="244005" y="136741"/>
                  <a:pt x="234897" y="129776"/>
                </a:cubicBezTo>
                <a:cubicBezTo>
                  <a:pt x="242398" y="129240"/>
                  <a:pt x="248827" y="125490"/>
                  <a:pt x="253649" y="120132"/>
                </a:cubicBezTo>
                <a:cubicBezTo>
                  <a:pt x="255792" y="117453"/>
                  <a:pt x="255257" y="113703"/>
                  <a:pt x="253114" y="111560"/>
                </a:cubicBezTo>
                <a:cubicBezTo>
                  <a:pt x="250435" y="109417"/>
                  <a:pt x="246684" y="109952"/>
                  <a:pt x="244541" y="112095"/>
                </a:cubicBezTo>
                <a:cubicBezTo>
                  <a:pt x="241862" y="115310"/>
                  <a:pt x="234897" y="117989"/>
                  <a:pt x="224717" y="117453"/>
                </a:cubicBezTo>
                <a:cubicBezTo>
                  <a:pt x="214537" y="117453"/>
                  <a:pt x="204357" y="113703"/>
                  <a:pt x="196857" y="107273"/>
                </a:cubicBezTo>
                <a:cubicBezTo>
                  <a:pt x="205429" y="103523"/>
                  <a:pt x="212930" y="97094"/>
                  <a:pt x="217752" y="89057"/>
                </a:cubicBezTo>
                <a:cubicBezTo>
                  <a:pt x="219359" y="86378"/>
                  <a:pt x="218288" y="82628"/>
                  <a:pt x="215609" y="80484"/>
                </a:cubicBezTo>
                <a:cubicBezTo>
                  <a:pt x="212930" y="78877"/>
                  <a:pt x="209179" y="79949"/>
                  <a:pt x="207572" y="82628"/>
                </a:cubicBezTo>
                <a:cubicBezTo>
                  <a:pt x="198464" y="99237"/>
                  <a:pt x="179176" y="104059"/>
                  <a:pt x="148636" y="96558"/>
                </a:cubicBezTo>
                <a:cubicBezTo>
                  <a:pt x="155601" y="90664"/>
                  <a:pt x="158816" y="81556"/>
                  <a:pt x="157744" y="72448"/>
                </a:cubicBezTo>
                <a:cubicBezTo>
                  <a:pt x="157744" y="70305"/>
                  <a:pt x="156673" y="68161"/>
                  <a:pt x="154530" y="67090"/>
                </a:cubicBezTo>
                <a:cubicBezTo>
                  <a:pt x="152387" y="66018"/>
                  <a:pt x="150244" y="66018"/>
                  <a:pt x="148100" y="67626"/>
                </a:cubicBezTo>
                <a:cubicBezTo>
                  <a:pt x="145957" y="68697"/>
                  <a:pt x="145422" y="71376"/>
                  <a:pt x="145422" y="73519"/>
                </a:cubicBezTo>
                <a:cubicBezTo>
                  <a:pt x="145957" y="87450"/>
                  <a:pt x="138456" y="90128"/>
                  <a:pt x="126133" y="93879"/>
                </a:cubicBezTo>
                <a:cubicBezTo>
                  <a:pt x="124526" y="94415"/>
                  <a:pt x="122383" y="94950"/>
                  <a:pt x="120776" y="95486"/>
                </a:cubicBezTo>
                <a:cubicBezTo>
                  <a:pt x="117561" y="87985"/>
                  <a:pt x="110596" y="82092"/>
                  <a:pt x="102559" y="79949"/>
                </a:cubicBezTo>
                <a:cubicBezTo>
                  <a:pt x="100416" y="79413"/>
                  <a:pt x="98273" y="79949"/>
                  <a:pt x="96665" y="81556"/>
                </a:cubicBezTo>
                <a:cubicBezTo>
                  <a:pt x="95058" y="83163"/>
                  <a:pt x="94522" y="85306"/>
                  <a:pt x="95058" y="87985"/>
                </a:cubicBezTo>
                <a:cubicBezTo>
                  <a:pt x="95594" y="90128"/>
                  <a:pt x="97201" y="91736"/>
                  <a:pt x="99880" y="92272"/>
                </a:cubicBezTo>
                <a:cubicBezTo>
                  <a:pt x="104166" y="93343"/>
                  <a:pt x="107381" y="96558"/>
                  <a:pt x="109524" y="100308"/>
                </a:cubicBezTo>
                <a:lnTo>
                  <a:pt x="109524" y="100844"/>
                </a:lnTo>
                <a:cubicBezTo>
                  <a:pt x="99344" y="105130"/>
                  <a:pt x="91308" y="113167"/>
                  <a:pt x="87557" y="123347"/>
                </a:cubicBezTo>
                <a:cubicBezTo>
                  <a:pt x="86486" y="125490"/>
                  <a:pt x="85950" y="128169"/>
                  <a:pt x="85950" y="130848"/>
                </a:cubicBezTo>
                <a:cubicBezTo>
                  <a:pt x="84878" y="129776"/>
                  <a:pt x="83807" y="128705"/>
                  <a:pt x="83271" y="127097"/>
                </a:cubicBezTo>
                <a:cubicBezTo>
                  <a:pt x="81128" y="122811"/>
                  <a:pt x="79520" y="117453"/>
                  <a:pt x="78985" y="112631"/>
                </a:cubicBezTo>
                <a:cubicBezTo>
                  <a:pt x="78449" y="110488"/>
                  <a:pt x="76841" y="108345"/>
                  <a:pt x="75234" y="107809"/>
                </a:cubicBezTo>
                <a:cubicBezTo>
                  <a:pt x="73091" y="106738"/>
                  <a:pt x="70948" y="107273"/>
                  <a:pt x="69341" y="108881"/>
                </a:cubicBezTo>
                <a:cubicBezTo>
                  <a:pt x="67733" y="110488"/>
                  <a:pt x="66662" y="112631"/>
                  <a:pt x="67733" y="114774"/>
                </a:cubicBezTo>
                <a:cubicBezTo>
                  <a:pt x="68805" y="121204"/>
                  <a:pt x="70412" y="127097"/>
                  <a:pt x="73627" y="132455"/>
                </a:cubicBezTo>
                <a:cubicBezTo>
                  <a:pt x="76841" y="137813"/>
                  <a:pt x="81128" y="142099"/>
                  <a:pt x="87021" y="144778"/>
                </a:cubicBezTo>
                <a:cubicBezTo>
                  <a:pt x="87557" y="152279"/>
                  <a:pt x="90236" y="159780"/>
                  <a:pt x="93987" y="166745"/>
                </a:cubicBezTo>
                <a:cubicBezTo>
                  <a:pt x="90236" y="171567"/>
                  <a:pt x="85414" y="175318"/>
                  <a:pt x="80056" y="178532"/>
                </a:cubicBezTo>
                <a:cubicBezTo>
                  <a:pt x="78449" y="179604"/>
                  <a:pt x="77377" y="181747"/>
                  <a:pt x="76841" y="183890"/>
                </a:cubicBezTo>
                <a:cubicBezTo>
                  <a:pt x="76841" y="186033"/>
                  <a:pt x="77913" y="188176"/>
                  <a:pt x="80056" y="189248"/>
                </a:cubicBezTo>
                <a:cubicBezTo>
                  <a:pt x="82199" y="190320"/>
                  <a:pt x="84342" y="190320"/>
                  <a:pt x="85950" y="188712"/>
                </a:cubicBezTo>
                <a:cubicBezTo>
                  <a:pt x="91308" y="184962"/>
                  <a:pt x="96130" y="181211"/>
                  <a:pt x="100416" y="176389"/>
                </a:cubicBezTo>
                <a:cubicBezTo>
                  <a:pt x="103631" y="179068"/>
                  <a:pt x="106845" y="181211"/>
                  <a:pt x="110060" y="183354"/>
                </a:cubicBezTo>
                <a:cubicBezTo>
                  <a:pt x="115418" y="186569"/>
                  <a:pt x="119704" y="190320"/>
                  <a:pt x="123990" y="195142"/>
                </a:cubicBezTo>
                <a:cubicBezTo>
                  <a:pt x="128812" y="201035"/>
                  <a:pt x="128812" y="212287"/>
                  <a:pt x="128812" y="221931"/>
                </a:cubicBezTo>
                <a:lnTo>
                  <a:pt x="128812" y="254078"/>
                </a:lnTo>
                <a:lnTo>
                  <a:pt x="104166" y="254078"/>
                </a:lnTo>
                <a:cubicBezTo>
                  <a:pt x="104166" y="214430"/>
                  <a:pt x="84878" y="212287"/>
                  <a:pt x="82735" y="211215"/>
                </a:cubicBezTo>
                <a:cubicBezTo>
                  <a:pt x="74698" y="209072"/>
                  <a:pt x="53803" y="197820"/>
                  <a:pt x="48981" y="175318"/>
                </a:cubicBezTo>
                <a:cubicBezTo>
                  <a:pt x="48445" y="174246"/>
                  <a:pt x="48445" y="172639"/>
                  <a:pt x="48445" y="171567"/>
                </a:cubicBezTo>
                <a:cubicBezTo>
                  <a:pt x="39337" y="158708"/>
                  <a:pt x="39873" y="141028"/>
                  <a:pt x="50052" y="128705"/>
                </a:cubicBezTo>
                <a:cubicBezTo>
                  <a:pt x="48981" y="124954"/>
                  <a:pt x="48445" y="121204"/>
                  <a:pt x="48445" y="117453"/>
                </a:cubicBezTo>
                <a:cubicBezTo>
                  <a:pt x="48445" y="100308"/>
                  <a:pt x="60768" y="85306"/>
                  <a:pt x="77913" y="82092"/>
                </a:cubicBezTo>
                <a:cubicBezTo>
                  <a:pt x="83271" y="67090"/>
                  <a:pt x="97201" y="56910"/>
                  <a:pt x="112739" y="57446"/>
                </a:cubicBezTo>
                <a:cubicBezTo>
                  <a:pt x="115418" y="57446"/>
                  <a:pt x="118632" y="57982"/>
                  <a:pt x="121311" y="58517"/>
                </a:cubicBezTo>
                <a:cubicBezTo>
                  <a:pt x="127741" y="51016"/>
                  <a:pt x="136849" y="46730"/>
                  <a:pt x="147029" y="45659"/>
                </a:cubicBezTo>
                <a:cubicBezTo>
                  <a:pt x="157209" y="45123"/>
                  <a:pt x="166853" y="48338"/>
                  <a:pt x="174354" y="55303"/>
                </a:cubicBezTo>
                <a:cubicBezTo>
                  <a:pt x="183998" y="48873"/>
                  <a:pt x="195785" y="47266"/>
                  <a:pt x="206501" y="50481"/>
                </a:cubicBezTo>
                <a:cubicBezTo>
                  <a:pt x="217752" y="53695"/>
                  <a:pt x="226324" y="62268"/>
                  <a:pt x="230075" y="72983"/>
                </a:cubicBezTo>
                <a:lnTo>
                  <a:pt x="232218" y="72983"/>
                </a:lnTo>
                <a:cubicBezTo>
                  <a:pt x="252578" y="72983"/>
                  <a:pt x="268651" y="89057"/>
                  <a:pt x="269187" y="109417"/>
                </a:cubicBezTo>
                <a:lnTo>
                  <a:pt x="269187" y="111024"/>
                </a:lnTo>
                <a:cubicBezTo>
                  <a:pt x="281510" y="117989"/>
                  <a:pt x="288475" y="131384"/>
                  <a:pt x="287404" y="145314"/>
                </a:cubicBezTo>
                <a:cubicBezTo>
                  <a:pt x="283117" y="164066"/>
                  <a:pt x="266508" y="178532"/>
                  <a:pt x="247220" y="177997"/>
                </a:cubicBezTo>
                <a:close/>
                <a:moveTo>
                  <a:pt x="361341" y="234254"/>
                </a:moveTo>
                <a:lnTo>
                  <a:pt x="324372" y="170496"/>
                </a:lnTo>
                <a:lnTo>
                  <a:pt x="324372" y="168353"/>
                </a:lnTo>
                <a:cubicBezTo>
                  <a:pt x="326516" y="109417"/>
                  <a:pt x="296512" y="54231"/>
                  <a:pt x="245613" y="24763"/>
                </a:cubicBezTo>
                <a:cubicBezTo>
                  <a:pt x="194713" y="-5241"/>
                  <a:pt x="132027" y="-5241"/>
                  <a:pt x="81128" y="24763"/>
                </a:cubicBezTo>
                <a:cubicBezTo>
                  <a:pt x="30229" y="54231"/>
                  <a:pt x="225" y="109417"/>
                  <a:pt x="2368" y="168353"/>
                </a:cubicBezTo>
                <a:cubicBezTo>
                  <a:pt x="2368" y="218716"/>
                  <a:pt x="25406" y="266400"/>
                  <a:pt x="65590" y="296940"/>
                </a:cubicBezTo>
                <a:lnTo>
                  <a:pt x="65590" y="430885"/>
                </a:lnTo>
                <a:lnTo>
                  <a:pt x="234897" y="430885"/>
                </a:lnTo>
                <a:lnTo>
                  <a:pt x="234897" y="367127"/>
                </a:lnTo>
                <a:lnTo>
                  <a:pt x="261150" y="367127"/>
                </a:lnTo>
                <a:cubicBezTo>
                  <a:pt x="278295" y="367127"/>
                  <a:pt x="294369" y="360698"/>
                  <a:pt x="306156" y="348375"/>
                </a:cubicBezTo>
                <a:cubicBezTo>
                  <a:pt x="317943" y="336588"/>
                  <a:pt x="324372" y="319979"/>
                  <a:pt x="324372" y="303369"/>
                </a:cubicBezTo>
                <a:lnTo>
                  <a:pt x="324372" y="271223"/>
                </a:lnTo>
                <a:lnTo>
                  <a:pt x="347947" y="271223"/>
                </a:lnTo>
                <a:cubicBezTo>
                  <a:pt x="361877" y="270151"/>
                  <a:pt x="374200" y="254078"/>
                  <a:pt x="361341" y="234254"/>
                </a:cubicBezTo>
                <a:close/>
              </a:path>
            </a:pathLst>
          </a:custGeom>
          <a:solidFill>
            <a:srgbClr val="000000"/>
          </a:solid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dirty="0">
                <a:effectLst/>
                <a:latin typeface="Calibri" panose="020F0502020204030204" pitchFamily="34" charset="0"/>
                <a:ea typeface="Calibri" panose="020F0502020204030204" pitchFamily="34" charset="0"/>
              </a:rPr>
              <a:t> </a:t>
            </a:r>
          </a:p>
        </p:txBody>
      </p:sp>
      <p:sp>
        <p:nvSpPr>
          <p:cNvPr id="8" name="Content Placeholder 2">
            <a:extLst>
              <a:ext uri="{FF2B5EF4-FFF2-40B4-BE49-F238E27FC236}">
                <a16:creationId xmlns:a16="http://schemas.microsoft.com/office/drawing/2014/main" id="{9B43D762-9837-FC85-2B07-500224815BC2}"/>
              </a:ext>
            </a:extLst>
          </p:cNvPr>
          <p:cNvSpPr txBox="1">
            <a:spLocks/>
          </p:cNvSpPr>
          <p:nvPr/>
        </p:nvSpPr>
        <p:spPr>
          <a:xfrm>
            <a:off x="811796" y="5457899"/>
            <a:ext cx="10356168" cy="107602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accent2"/>
                </a:solidFill>
              </a:rPr>
              <a:t>What if each agent could make its own decisions?</a:t>
            </a:r>
          </a:p>
          <a:p>
            <a:endParaRPr lang="en-US" dirty="0"/>
          </a:p>
          <a:p>
            <a:endParaRPr lang="en-US" dirty="0"/>
          </a:p>
        </p:txBody>
      </p:sp>
    </p:spTree>
    <p:extLst>
      <p:ext uri="{BB962C8B-B14F-4D97-AF65-F5344CB8AC3E}">
        <p14:creationId xmlns:p14="http://schemas.microsoft.com/office/powerpoint/2010/main" val="2155244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181AB-946D-44CB-B8F0-03B10E8FC7E9}"/>
              </a:ext>
            </a:extLst>
          </p:cNvPr>
          <p:cNvSpPr>
            <a:spLocks noGrp="1"/>
          </p:cNvSpPr>
          <p:nvPr>
            <p:ph type="title"/>
          </p:nvPr>
        </p:nvSpPr>
        <p:spPr>
          <a:xfrm>
            <a:off x="313509" y="365125"/>
            <a:ext cx="11739154" cy="949869"/>
          </a:xfrm>
        </p:spPr>
        <p:txBody>
          <a:bodyPr lIns="91440" tIns="45720" rIns="91440" bIns="45720" anchor="t">
            <a:noAutofit/>
          </a:bodyPr>
          <a:lstStyle/>
          <a:p>
            <a:r>
              <a:rPr lang="en-US" sz="3200" b="1" dirty="0">
                <a:solidFill>
                  <a:schemeClr val="tx1"/>
                </a:solidFill>
                <a:latin typeface="Arial"/>
              </a:rPr>
              <a:t>Generative agent-based model</a:t>
            </a:r>
            <a:endParaRPr lang="en-US" sz="3200">
              <a:solidFill>
                <a:schemeClr val="tx1"/>
              </a:solidFill>
              <a:latin typeface="Arial"/>
            </a:endParaRPr>
          </a:p>
        </p:txBody>
      </p:sp>
      <p:sp>
        <p:nvSpPr>
          <p:cNvPr id="4" name="Footer Placeholder 3">
            <a:extLst>
              <a:ext uri="{FF2B5EF4-FFF2-40B4-BE49-F238E27FC236}">
                <a16:creationId xmlns:a16="http://schemas.microsoft.com/office/drawing/2014/main" id="{83EC87BE-CD28-4C99-A10A-3A8EE00E21ED}"/>
              </a:ext>
            </a:extLst>
          </p:cNvPr>
          <p:cNvSpPr>
            <a:spLocks noGrp="1"/>
          </p:cNvSpPr>
          <p:nvPr>
            <p:ph type="ftr" sz="quarter" idx="11"/>
          </p:nvPr>
        </p:nvSpPr>
        <p:spPr/>
        <p:txBody>
          <a:bodyPr/>
          <a:lstStyle/>
          <a:p>
            <a:r>
              <a:rPr lang="en-US"/>
              <a:t>Navid Ghaffarzadegan (2024) Generative Agent-Based Modeling</a:t>
            </a:r>
          </a:p>
        </p:txBody>
      </p:sp>
      <p:sp>
        <p:nvSpPr>
          <p:cNvPr id="5" name="Slide Number Placeholder 4">
            <a:extLst>
              <a:ext uri="{FF2B5EF4-FFF2-40B4-BE49-F238E27FC236}">
                <a16:creationId xmlns:a16="http://schemas.microsoft.com/office/drawing/2014/main" id="{1548AD18-4C50-43AD-881C-686175E62348}"/>
              </a:ext>
            </a:extLst>
          </p:cNvPr>
          <p:cNvSpPr>
            <a:spLocks noGrp="1"/>
          </p:cNvSpPr>
          <p:nvPr>
            <p:ph type="sldNum" sz="quarter" idx="12"/>
          </p:nvPr>
        </p:nvSpPr>
        <p:spPr/>
        <p:txBody>
          <a:bodyPr/>
          <a:lstStyle/>
          <a:p>
            <a:fld id="{371A3544-C5AA-4FA3-B01F-3674D325DFC6}" type="slidenum">
              <a:rPr lang="en-US" smtClean="0"/>
              <a:t>6</a:t>
            </a:fld>
            <a:endParaRPr lang="en-US"/>
          </a:p>
        </p:txBody>
      </p:sp>
      <p:grpSp>
        <p:nvGrpSpPr>
          <p:cNvPr id="33" name="Group 32">
            <a:extLst>
              <a:ext uri="{FF2B5EF4-FFF2-40B4-BE49-F238E27FC236}">
                <a16:creationId xmlns:a16="http://schemas.microsoft.com/office/drawing/2014/main" id="{82C3878E-BC20-4E4D-A9E8-A42E23FEE6BE}"/>
              </a:ext>
            </a:extLst>
          </p:cNvPr>
          <p:cNvGrpSpPr/>
          <p:nvPr/>
        </p:nvGrpSpPr>
        <p:grpSpPr>
          <a:xfrm>
            <a:off x="997527" y="1302326"/>
            <a:ext cx="9984509" cy="3616759"/>
            <a:chOff x="2707511" y="2710781"/>
            <a:chExt cx="5276979" cy="2138439"/>
          </a:xfrm>
        </p:grpSpPr>
        <p:grpSp>
          <p:nvGrpSpPr>
            <p:cNvPr id="34" name="Group 33">
              <a:extLst>
                <a:ext uri="{FF2B5EF4-FFF2-40B4-BE49-F238E27FC236}">
                  <a16:creationId xmlns:a16="http://schemas.microsoft.com/office/drawing/2014/main" id="{3D588167-D1D9-4E02-A586-A2302B575A31}"/>
                </a:ext>
              </a:extLst>
            </p:cNvPr>
            <p:cNvGrpSpPr/>
            <p:nvPr/>
          </p:nvGrpSpPr>
          <p:grpSpPr>
            <a:xfrm>
              <a:off x="2707511" y="2710781"/>
              <a:ext cx="5276979" cy="2138439"/>
              <a:chOff x="2707500" y="2710775"/>
              <a:chExt cx="5277000" cy="2138450"/>
            </a:xfrm>
          </p:grpSpPr>
          <p:sp>
            <p:nvSpPr>
              <p:cNvPr id="35" name="Rectangle 34">
                <a:extLst>
                  <a:ext uri="{FF2B5EF4-FFF2-40B4-BE49-F238E27FC236}">
                    <a16:creationId xmlns:a16="http://schemas.microsoft.com/office/drawing/2014/main" id="{499C5E92-69CB-42D7-A8C9-D37A83928C2C}"/>
                  </a:ext>
                </a:extLst>
              </p:cNvPr>
              <p:cNvSpPr/>
              <p:nvPr/>
            </p:nvSpPr>
            <p:spPr>
              <a:xfrm>
                <a:off x="2707500" y="2710775"/>
                <a:ext cx="5277000" cy="2138450"/>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36" name="Group 35">
                <a:extLst>
                  <a:ext uri="{FF2B5EF4-FFF2-40B4-BE49-F238E27FC236}">
                    <a16:creationId xmlns:a16="http://schemas.microsoft.com/office/drawing/2014/main" id="{6CED5356-3B81-460B-833C-280A79027993}"/>
                  </a:ext>
                </a:extLst>
              </p:cNvPr>
              <p:cNvGrpSpPr/>
              <p:nvPr/>
            </p:nvGrpSpPr>
            <p:grpSpPr>
              <a:xfrm>
                <a:off x="2707511" y="2710781"/>
                <a:ext cx="5276979" cy="2138439"/>
                <a:chOff x="2707500" y="2710775"/>
                <a:chExt cx="5277000" cy="2138450"/>
              </a:xfrm>
            </p:grpSpPr>
            <p:sp>
              <p:nvSpPr>
                <p:cNvPr id="37" name="Rectangle 36">
                  <a:extLst>
                    <a:ext uri="{FF2B5EF4-FFF2-40B4-BE49-F238E27FC236}">
                      <a16:creationId xmlns:a16="http://schemas.microsoft.com/office/drawing/2014/main" id="{65347E79-F538-498A-959A-E245B74C6B93}"/>
                    </a:ext>
                  </a:extLst>
                </p:cNvPr>
                <p:cNvSpPr/>
                <p:nvPr/>
              </p:nvSpPr>
              <p:spPr>
                <a:xfrm>
                  <a:off x="2707500" y="2710775"/>
                  <a:ext cx="5277000" cy="2138450"/>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41" name="Group 40">
                  <a:extLst>
                    <a:ext uri="{FF2B5EF4-FFF2-40B4-BE49-F238E27FC236}">
                      <a16:creationId xmlns:a16="http://schemas.microsoft.com/office/drawing/2014/main" id="{13A5C290-AA27-486F-BC15-45772802952F}"/>
                    </a:ext>
                  </a:extLst>
                </p:cNvPr>
                <p:cNvGrpSpPr/>
                <p:nvPr/>
              </p:nvGrpSpPr>
              <p:grpSpPr>
                <a:xfrm>
                  <a:off x="2707511" y="2710781"/>
                  <a:ext cx="5276979" cy="2138439"/>
                  <a:chOff x="2707500" y="2710775"/>
                  <a:chExt cx="5277000" cy="2138450"/>
                </a:xfrm>
              </p:grpSpPr>
              <p:sp>
                <p:nvSpPr>
                  <p:cNvPr id="42" name="Rectangle 41">
                    <a:extLst>
                      <a:ext uri="{FF2B5EF4-FFF2-40B4-BE49-F238E27FC236}">
                        <a16:creationId xmlns:a16="http://schemas.microsoft.com/office/drawing/2014/main" id="{A5E1D4F4-0DFA-46EB-82A5-23909BDA97E7}"/>
                      </a:ext>
                    </a:extLst>
                  </p:cNvPr>
                  <p:cNvSpPr/>
                  <p:nvPr/>
                </p:nvSpPr>
                <p:spPr>
                  <a:xfrm>
                    <a:off x="2707500" y="2710775"/>
                    <a:ext cx="5277000" cy="2138450"/>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43" name="Group 42">
                    <a:extLst>
                      <a:ext uri="{FF2B5EF4-FFF2-40B4-BE49-F238E27FC236}">
                        <a16:creationId xmlns:a16="http://schemas.microsoft.com/office/drawing/2014/main" id="{D88B2198-D6F0-4B7E-8649-9409EA1F0B4E}"/>
                      </a:ext>
                    </a:extLst>
                  </p:cNvPr>
                  <p:cNvGrpSpPr/>
                  <p:nvPr/>
                </p:nvGrpSpPr>
                <p:grpSpPr>
                  <a:xfrm>
                    <a:off x="2707511" y="2710781"/>
                    <a:ext cx="5276979" cy="2138439"/>
                    <a:chOff x="2707500" y="2710775"/>
                    <a:chExt cx="5277025" cy="2138525"/>
                  </a:xfrm>
                </p:grpSpPr>
                <p:sp>
                  <p:nvSpPr>
                    <p:cNvPr id="44" name="Rectangle 43">
                      <a:extLst>
                        <a:ext uri="{FF2B5EF4-FFF2-40B4-BE49-F238E27FC236}">
                          <a16:creationId xmlns:a16="http://schemas.microsoft.com/office/drawing/2014/main" id="{631109BB-4702-4C0E-B828-25C2A6B600F6}"/>
                        </a:ext>
                      </a:extLst>
                    </p:cNvPr>
                    <p:cNvSpPr/>
                    <p:nvPr/>
                  </p:nvSpPr>
                  <p:spPr>
                    <a:xfrm>
                      <a:off x="2707500" y="2710775"/>
                      <a:ext cx="5277025" cy="2138525"/>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45" name="Group 44">
                      <a:extLst>
                        <a:ext uri="{FF2B5EF4-FFF2-40B4-BE49-F238E27FC236}">
                          <a16:creationId xmlns:a16="http://schemas.microsoft.com/office/drawing/2014/main" id="{BB1B74B7-847A-40D4-B3A4-15C0B2F68990}"/>
                        </a:ext>
                      </a:extLst>
                    </p:cNvPr>
                    <p:cNvGrpSpPr/>
                    <p:nvPr/>
                  </p:nvGrpSpPr>
                  <p:grpSpPr>
                    <a:xfrm>
                      <a:off x="2707511" y="2710781"/>
                      <a:ext cx="5276979" cy="2138439"/>
                      <a:chOff x="2707500" y="2710775"/>
                      <a:chExt cx="5291300" cy="2152750"/>
                    </a:xfrm>
                  </p:grpSpPr>
                  <p:sp>
                    <p:nvSpPr>
                      <p:cNvPr id="46" name="Rectangle 45">
                        <a:extLst>
                          <a:ext uri="{FF2B5EF4-FFF2-40B4-BE49-F238E27FC236}">
                            <a16:creationId xmlns:a16="http://schemas.microsoft.com/office/drawing/2014/main" id="{7CB8148A-FD7D-4BBF-83DF-4245DCC3A0E8}"/>
                          </a:ext>
                        </a:extLst>
                      </p:cNvPr>
                      <p:cNvSpPr/>
                      <p:nvPr/>
                    </p:nvSpPr>
                    <p:spPr>
                      <a:xfrm>
                        <a:off x="2707500" y="2710775"/>
                        <a:ext cx="5291300" cy="2152750"/>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47" name="Group 46">
                        <a:extLst>
                          <a:ext uri="{FF2B5EF4-FFF2-40B4-BE49-F238E27FC236}">
                            <a16:creationId xmlns:a16="http://schemas.microsoft.com/office/drawing/2014/main" id="{70A0E8E7-31CE-4480-9BB8-5CE6BD0B252F}"/>
                          </a:ext>
                        </a:extLst>
                      </p:cNvPr>
                      <p:cNvGrpSpPr/>
                      <p:nvPr/>
                    </p:nvGrpSpPr>
                    <p:grpSpPr>
                      <a:xfrm>
                        <a:off x="2707511" y="2710781"/>
                        <a:ext cx="5276979" cy="2138439"/>
                        <a:chOff x="2683660" y="2771159"/>
                        <a:chExt cx="5305528" cy="2151840"/>
                      </a:xfrm>
                    </p:grpSpPr>
                    <p:sp>
                      <p:nvSpPr>
                        <p:cNvPr id="48" name="Rectangle 47">
                          <a:extLst>
                            <a:ext uri="{FF2B5EF4-FFF2-40B4-BE49-F238E27FC236}">
                              <a16:creationId xmlns:a16="http://schemas.microsoft.com/office/drawing/2014/main" id="{2B4B8A4E-0F9E-4E81-B8D1-D4DC3552885F}"/>
                            </a:ext>
                          </a:extLst>
                        </p:cNvPr>
                        <p:cNvSpPr/>
                        <p:nvPr/>
                      </p:nvSpPr>
                      <p:spPr>
                        <a:xfrm>
                          <a:off x="2683660" y="2771159"/>
                          <a:ext cx="5305525" cy="2151825"/>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49" name="Group 48">
                          <a:extLst>
                            <a:ext uri="{FF2B5EF4-FFF2-40B4-BE49-F238E27FC236}">
                              <a16:creationId xmlns:a16="http://schemas.microsoft.com/office/drawing/2014/main" id="{EFF70324-DF3F-4C69-BDE4-1AD24D9798DB}"/>
                            </a:ext>
                          </a:extLst>
                        </p:cNvPr>
                        <p:cNvGrpSpPr/>
                        <p:nvPr/>
                      </p:nvGrpSpPr>
                      <p:grpSpPr>
                        <a:xfrm>
                          <a:off x="2683660" y="2771159"/>
                          <a:ext cx="5305528" cy="2151840"/>
                          <a:chOff x="-19153" y="134159"/>
                          <a:chExt cx="5305528" cy="2151840"/>
                        </a:xfrm>
                      </p:grpSpPr>
                      <p:sp>
                        <p:nvSpPr>
                          <p:cNvPr id="50" name="Rectangle 49">
                            <a:extLst>
                              <a:ext uri="{FF2B5EF4-FFF2-40B4-BE49-F238E27FC236}">
                                <a16:creationId xmlns:a16="http://schemas.microsoft.com/office/drawing/2014/main" id="{B80017CD-45DB-4F4D-8473-17FD42177BF5}"/>
                              </a:ext>
                            </a:extLst>
                          </p:cNvPr>
                          <p:cNvSpPr/>
                          <p:nvPr/>
                        </p:nvSpPr>
                        <p:spPr>
                          <a:xfrm>
                            <a:off x="-19153" y="134159"/>
                            <a:ext cx="5305398" cy="2151840"/>
                          </a:xfrm>
                          <a:prstGeom prst="rect">
                            <a:avLst/>
                          </a:prstGeom>
                          <a:no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sp>
                        <p:nvSpPr>
                          <p:cNvPr id="51" name="Rectangle: Rounded Corners 50">
                            <a:extLst>
                              <a:ext uri="{FF2B5EF4-FFF2-40B4-BE49-F238E27FC236}">
                                <a16:creationId xmlns:a16="http://schemas.microsoft.com/office/drawing/2014/main" id="{B5490E5A-9000-441A-9571-01CC9C54DFC2}"/>
                              </a:ext>
                            </a:extLst>
                          </p:cNvPr>
                          <p:cNvSpPr/>
                          <p:nvPr/>
                        </p:nvSpPr>
                        <p:spPr>
                          <a:xfrm>
                            <a:off x="0" y="460039"/>
                            <a:ext cx="5286375" cy="1825960"/>
                          </a:xfrm>
                          <a:prstGeom prst="roundRect">
                            <a:avLst>
                              <a:gd name="adj" fmla="val 16667"/>
                            </a:avLst>
                          </a:prstGeom>
                          <a:solidFill>
                            <a:srgbClr val="FBE4D4"/>
                          </a:solidFill>
                          <a:ln w="28575" cap="flat" cmpd="sng">
                            <a:solidFill>
                              <a:srgbClr val="FF0000"/>
                            </a:solidFill>
                            <a:prstDash val="dashDot"/>
                            <a:miter lim="800000"/>
                            <a:headEnd type="none" w="sm" len="sm"/>
                            <a:tailEnd type="none" w="sm" len="sm"/>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nvGrpSpPr>
                          <p:cNvPr id="52" name="Group 51">
                            <a:extLst>
                              <a:ext uri="{FF2B5EF4-FFF2-40B4-BE49-F238E27FC236}">
                                <a16:creationId xmlns:a16="http://schemas.microsoft.com/office/drawing/2014/main" id="{EA98E0EF-B789-41BE-8E01-A6FE6BC7CC64}"/>
                              </a:ext>
                            </a:extLst>
                          </p:cNvPr>
                          <p:cNvGrpSpPr/>
                          <p:nvPr/>
                        </p:nvGrpSpPr>
                        <p:grpSpPr>
                          <a:xfrm>
                            <a:off x="85725" y="533400"/>
                            <a:ext cx="5172076" cy="1653925"/>
                            <a:chOff x="-28575" y="123825"/>
                            <a:chExt cx="5172076" cy="1653925"/>
                          </a:xfrm>
                        </p:grpSpPr>
                        <p:cxnSp>
                          <p:nvCxnSpPr>
                            <p:cNvPr id="54" name="Straight Arrow Connector 53">
                              <a:extLst>
                                <a:ext uri="{FF2B5EF4-FFF2-40B4-BE49-F238E27FC236}">
                                  <a16:creationId xmlns:a16="http://schemas.microsoft.com/office/drawing/2014/main" id="{CB96137F-CB49-49A7-A9DE-402AC09F371C}"/>
                                </a:ext>
                              </a:extLst>
                            </p:cNvPr>
                            <p:cNvCxnSpPr/>
                            <p:nvPr/>
                          </p:nvCxnSpPr>
                          <p:spPr>
                            <a:xfrm>
                              <a:off x="1619250" y="647700"/>
                              <a:ext cx="1828800" cy="0"/>
                            </a:xfrm>
                            <a:prstGeom prst="straightConnector1">
                              <a:avLst/>
                            </a:prstGeom>
                            <a:noFill/>
                            <a:ln w="19050" cap="flat" cmpd="sng">
                              <a:solidFill>
                                <a:srgbClr val="002060"/>
                              </a:solidFill>
                              <a:prstDash val="dash"/>
                              <a:miter lim="800000"/>
                              <a:headEnd type="none" w="sm" len="sm"/>
                              <a:tailEnd type="stealth" w="med" len="med"/>
                            </a:ln>
                          </p:spPr>
                        </p:cxnSp>
                        <p:grpSp>
                          <p:nvGrpSpPr>
                            <p:cNvPr id="55" name="Group 54">
                              <a:extLst>
                                <a:ext uri="{FF2B5EF4-FFF2-40B4-BE49-F238E27FC236}">
                                  <a16:creationId xmlns:a16="http://schemas.microsoft.com/office/drawing/2014/main" id="{79D9EE6E-3D14-4B21-AFB2-BD82967797CB}"/>
                                </a:ext>
                              </a:extLst>
                            </p:cNvPr>
                            <p:cNvGrpSpPr/>
                            <p:nvPr/>
                          </p:nvGrpSpPr>
                          <p:grpSpPr>
                            <a:xfrm>
                              <a:off x="-28575" y="123825"/>
                              <a:ext cx="5172076" cy="1653925"/>
                              <a:chOff x="-28575" y="123825"/>
                              <a:chExt cx="5172076" cy="1653925"/>
                            </a:xfrm>
                          </p:grpSpPr>
                          <p:cxnSp>
                            <p:nvCxnSpPr>
                              <p:cNvPr id="56" name="Straight Arrow Connector 55">
                                <a:extLst>
                                  <a:ext uri="{FF2B5EF4-FFF2-40B4-BE49-F238E27FC236}">
                                    <a16:creationId xmlns:a16="http://schemas.microsoft.com/office/drawing/2014/main" id="{06C8651A-C2F2-4E44-B4EC-BD1C73B3F572}"/>
                                  </a:ext>
                                </a:extLst>
                              </p:cNvPr>
                              <p:cNvCxnSpPr/>
                              <p:nvPr/>
                            </p:nvCxnSpPr>
                            <p:spPr>
                              <a:xfrm rot="10800000">
                                <a:off x="1609725" y="1571625"/>
                                <a:ext cx="1828800" cy="0"/>
                              </a:xfrm>
                              <a:prstGeom prst="straightConnector1">
                                <a:avLst/>
                              </a:prstGeom>
                              <a:noFill/>
                              <a:ln w="19050" cap="flat" cmpd="sng">
                                <a:solidFill>
                                  <a:srgbClr val="1E4E79"/>
                                </a:solidFill>
                                <a:prstDash val="dash"/>
                                <a:miter lim="800000"/>
                                <a:headEnd type="none" w="sm" len="sm"/>
                                <a:tailEnd type="stealth" w="med" len="med"/>
                              </a:ln>
                            </p:spPr>
                          </p:cxnSp>
                          <p:grpSp>
                            <p:nvGrpSpPr>
                              <p:cNvPr id="57" name="Group 56">
                                <a:extLst>
                                  <a:ext uri="{FF2B5EF4-FFF2-40B4-BE49-F238E27FC236}">
                                    <a16:creationId xmlns:a16="http://schemas.microsoft.com/office/drawing/2014/main" id="{111B4374-293B-487E-ABDF-F5B006330414}"/>
                                  </a:ext>
                                </a:extLst>
                              </p:cNvPr>
                              <p:cNvGrpSpPr/>
                              <p:nvPr/>
                            </p:nvGrpSpPr>
                            <p:grpSpPr>
                              <a:xfrm>
                                <a:off x="-28575" y="123825"/>
                                <a:ext cx="5172076" cy="1653925"/>
                                <a:chOff x="-28575" y="123825"/>
                                <a:chExt cx="5172076" cy="1653925"/>
                              </a:xfrm>
                            </p:grpSpPr>
                            <p:sp>
                              <p:nvSpPr>
                                <p:cNvPr id="58" name="Rectangle 57">
                                  <a:extLst>
                                    <a:ext uri="{FF2B5EF4-FFF2-40B4-BE49-F238E27FC236}">
                                      <a16:creationId xmlns:a16="http://schemas.microsoft.com/office/drawing/2014/main" id="{8C905A30-F62D-4B6D-8339-6C8A2B96B5EE}"/>
                                    </a:ext>
                                  </a:extLst>
                                </p:cNvPr>
                                <p:cNvSpPr/>
                                <p:nvPr/>
                              </p:nvSpPr>
                              <p:spPr>
                                <a:xfrm>
                                  <a:off x="28575" y="438150"/>
                                  <a:ext cx="1581150" cy="1285875"/>
                                </a:xfrm>
                                <a:prstGeom prst="rect">
                                  <a:avLst/>
                                </a:prstGeom>
                                <a:solidFill>
                                  <a:srgbClr val="B3C6E7"/>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algn="ctr">
                                    <a:lnSpc>
                                      <a:spcPct val="107000"/>
                                    </a:lnSpc>
                                    <a:spcBef>
                                      <a:spcPts val="0"/>
                                    </a:spcBef>
                                    <a:spcAft>
                                      <a:spcPts val="800"/>
                                    </a:spcAft>
                                  </a:pPr>
                                  <a:r>
                                    <a:rPr lang="en-US" sz="2000">
                                      <a:effectLst/>
                                      <a:latin typeface="Calibri" panose="020F0502020204030204" pitchFamily="34" charset="0"/>
                                      <a:ea typeface="Calibri" panose="020F0502020204030204" pitchFamily="34" charset="0"/>
                                    </a:rPr>
                                    <a:t> </a:t>
                                  </a:r>
                                </a:p>
                                <a:p>
                                  <a:pPr marL="0" marR="0" algn="ctr">
                                    <a:lnSpc>
                                      <a:spcPct val="107000"/>
                                    </a:lnSpc>
                                    <a:spcBef>
                                      <a:spcPts val="0"/>
                                    </a:spcBef>
                                    <a:spcAft>
                                      <a:spcPts val="800"/>
                                    </a:spcAft>
                                  </a:pPr>
                                  <a:r>
                                    <a:rPr lang="en-US" sz="2000">
                                      <a:effectLst/>
                                      <a:latin typeface="Calibri" panose="020F0502020204030204" pitchFamily="34" charset="0"/>
                                      <a:ea typeface="Calibri" panose="020F0502020204030204" pitchFamily="34" charset="0"/>
                                    </a:rPr>
                                    <a:t> </a:t>
                                  </a:r>
                                </a:p>
                                <a:p>
                                  <a:pPr marL="0" marR="0" algn="ctr">
                                    <a:lnSpc>
                                      <a:spcPct val="107000"/>
                                    </a:lnSpc>
                                    <a:spcBef>
                                      <a:spcPts val="0"/>
                                    </a:spcBef>
                                    <a:spcAft>
                                      <a:spcPts val="800"/>
                                    </a:spcAft>
                                  </a:pPr>
                                  <a:r>
                                    <a:rPr lang="en-US" sz="2000">
                                      <a:solidFill>
                                        <a:srgbClr val="000000"/>
                                      </a:solidFill>
                                      <a:effectLst/>
                                      <a:latin typeface="Calibri" panose="020F0502020204030204" pitchFamily="34" charset="0"/>
                                      <a:ea typeface="Calibri" panose="020F0502020204030204" pitchFamily="34" charset="0"/>
                                    </a:rPr>
                                    <a:t>Model of reasoning and decision </a:t>
                                  </a:r>
                                  <a:endParaRPr lang="en-US" sz="2000">
                                    <a:effectLst/>
                                    <a:latin typeface="Calibri" panose="020F0502020204030204" pitchFamily="34" charset="0"/>
                                    <a:ea typeface="Calibri" panose="020F0502020204030204" pitchFamily="34" charset="0"/>
                                  </a:endParaRPr>
                                </a:p>
                              </p:txBody>
                            </p:sp>
                            <p:sp>
                              <p:nvSpPr>
                                <p:cNvPr id="59" name="Rectangle 58">
                                  <a:extLst>
                                    <a:ext uri="{FF2B5EF4-FFF2-40B4-BE49-F238E27FC236}">
                                      <a16:creationId xmlns:a16="http://schemas.microsoft.com/office/drawing/2014/main" id="{AD836B16-7D7D-4B84-B9D9-27E623216804}"/>
                                    </a:ext>
                                  </a:extLst>
                                </p:cNvPr>
                                <p:cNvSpPr/>
                                <p:nvPr/>
                              </p:nvSpPr>
                              <p:spPr>
                                <a:xfrm>
                                  <a:off x="3448050" y="457200"/>
                                  <a:ext cx="1581150" cy="1285875"/>
                                </a:xfrm>
                                <a:prstGeom prst="rect">
                                  <a:avLst/>
                                </a:prstGeom>
                                <a:solidFill>
                                  <a:srgbClr val="C4E0B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algn="ctr">
                                    <a:lnSpc>
                                      <a:spcPct val="107000"/>
                                    </a:lnSpc>
                                    <a:spcBef>
                                      <a:spcPts val="0"/>
                                    </a:spcBef>
                                    <a:spcAft>
                                      <a:spcPts val="800"/>
                                    </a:spcAft>
                                  </a:pPr>
                                  <a:r>
                                    <a:rPr lang="en-US" sz="2000" dirty="0">
                                      <a:effectLst/>
                                      <a:latin typeface="Calibri" panose="020F0502020204030204" pitchFamily="34" charset="0"/>
                                      <a:ea typeface="Calibri" panose="020F0502020204030204" pitchFamily="34" charset="0"/>
                                    </a:rPr>
                                    <a:t> </a:t>
                                  </a:r>
                                </a:p>
                                <a:p>
                                  <a:pPr marL="0" marR="0" algn="ctr">
                                    <a:lnSpc>
                                      <a:spcPct val="107000"/>
                                    </a:lnSpc>
                                    <a:spcBef>
                                      <a:spcPts val="0"/>
                                    </a:spcBef>
                                    <a:spcAft>
                                      <a:spcPts val="800"/>
                                    </a:spcAft>
                                  </a:pPr>
                                  <a:r>
                                    <a:rPr lang="en-US" sz="2000" dirty="0">
                                      <a:effectLst/>
                                      <a:latin typeface="Calibri" panose="020F0502020204030204" pitchFamily="34" charset="0"/>
                                      <a:ea typeface="Calibri" panose="020F0502020204030204" pitchFamily="34" charset="0"/>
                                    </a:rPr>
                                    <a:t> </a:t>
                                  </a:r>
                                </a:p>
                                <a:p>
                                  <a:pPr marL="0" marR="0" algn="ctr">
                                    <a:lnSpc>
                                      <a:spcPct val="107000"/>
                                    </a:lnSpc>
                                    <a:spcBef>
                                      <a:spcPts val="0"/>
                                    </a:spcBef>
                                    <a:spcAft>
                                      <a:spcPts val="800"/>
                                    </a:spcAft>
                                  </a:pPr>
                                  <a:r>
                                    <a:rPr lang="en-US" sz="2000" dirty="0">
                                      <a:solidFill>
                                        <a:srgbClr val="000000"/>
                                      </a:solidFill>
                                      <a:effectLst/>
                                      <a:latin typeface="Calibri" panose="020F0502020204030204" pitchFamily="34" charset="0"/>
                                      <a:ea typeface="Calibri" panose="020F0502020204030204" pitchFamily="34" charset="0"/>
                                    </a:rPr>
                                    <a:t>Model of interactions</a:t>
                                  </a:r>
                                  <a:endParaRPr lang="en-US" sz="2000" dirty="0">
                                    <a:effectLst/>
                                    <a:latin typeface="Calibri" panose="020F0502020204030204" pitchFamily="34" charset="0"/>
                                    <a:ea typeface="Calibri" panose="020F0502020204030204" pitchFamily="34" charset="0"/>
                                  </a:endParaRPr>
                                </a:p>
                              </p:txBody>
                            </p:sp>
                            <p:sp>
                              <p:nvSpPr>
                                <p:cNvPr id="60" name="Rectangle 59">
                                  <a:extLst>
                                    <a:ext uri="{FF2B5EF4-FFF2-40B4-BE49-F238E27FC236}">
                                      <a16:creationId xmlns:a16="http://schemas.microsoft.com/office/drawing/2014/main" id="{3866FC48-397C-48CD-AC1E-9860AB620193}"/>
                                    </a:ext>
                                  </a:extLst>
                                </p:cNvPr>
                                <p:cNvSpPr/>
                                <p:nvPr/>
                              </p:nvSpPr>
                              <p:spPr>
                                <a:xfrm>
                                  <a:off x="1771650" y="400050"/>
                                  <a:ext cx="1600200" cy="304800"/>
                                </a:xfrm>
                                <a:prstGeom prst="rect">
                                  <a:avLst/>
                                </a:prstGeom>
                                <a:noFill/>
                                <a:ln>
                                  <a:noFill/>
                                </a:ln>
                              </p:spPr>
                              <p:txBody>
                                <a:bodyPr spcFirstLastPara="1" wrap="square" lIns="91425" tIns="45700" rIns="91425" bIns="45700" anchor="t" anchorCtr="0">
                                  <a:noAutofit/>
                                </a:bodyPr>
                                <a:lstStyle/>
                                <a:p>
                                  <a:pPr marL="0" marR="0" algn="ctr">
                                    <a:lnSpc>
                                      <a:spcPct val="107000"/>
                                    </a:lnSpc>
                                    <a:spcBef>
                                      <a:spcPts val="0"/>
                                    </a:spcBef>
                                    <a:spcAft>
                                      <a:spcPts val="800"/>
                                    </a:spcAft>
                                  </a:pPr>
                                  <a:r>
                                    <a:rPr lang="en-US" sz="2000" dirty="0">
                                      <a:solidFill>
                                        <a:srgbClr val="0070C0"/>
                                      </a:solidFill>
                                      <a:effectLst/>
                                      <a:latin typeface="Calibri" panose="020F0502020204030204" pitchFamily="34" charset="0"/>
                                      <a:ea typeface="Calibri" panose="020F0502020204030204" pitchFamily="34" charset="0"/>
                                    </a:rPr>
                                    <a:t>Each agent’s decision</a:t>
                                  </a:r>
                                  <a:endParaRPr lang="en-US" sz="2000" dirty="0">
                                    <a:effectLst/>
                                    <a:latin typeface="Calibri" panose="020F0502020204030204" pitchFamily="34" charset="0"/>
                                    <a:ea typeface="Calibri" panose="020F0502020204030204" pitchFamily="34" charset="0"/>
                                  </a:endParaRPr>
                                </a:p>
                              </p:txBody>
                            </p:sp>
                            <p:sp>
                              <p:nvSpPr>
                                <p:cNvPr id="61" name="Rectangle 60">
                                  <a:extLst>
                                    <a:ext uri="{FF2B5EF4-FFF2-40B4-BE49-F238E27FC236}">
                                      <a16:creationId xmlns:a16="http://schemas.microsoft.com/office/drawing/2014/main" id="{51A129DB-BA39-45B8-8BFA-7EE64F4DA98B}"/>
                                    </a:ext>
                                  </a:extLst>
                                </p:cNvPr>
                                <p:cNvSpPr/>
                                <p:nvPr/>
                              </p:nvSpPr>
                              <p:spPr>
                                <a:xfrm>
                                  <a:off x="1609725" y="1244350"/>
                                  <a:ext cx="1823934" cy="533400"/>
                                </a:xfrm>
                                <a:prstGeom prst="rect">
                                  <a:avLst/>
                                </a:prstGeom>
                                <a:noFill/>
                                <a:ln>
                                  <a:noFill/>
                                </a:ln>
                              </p:spPr>
                              <p:txBody>
                                <a:bodyPr spcFirstLastPara="1" wrap="square" lIns="91425" tIns="45700" rIns="91425" bIns="45700" anchor="t" anchorCtr="0">
                                  <a:noAutofit/>
                                </a:bodyPr>
                                <a:lstStyle/>
                                <a:p>
                                  <a:pPr marL="0" marR="0" algn="ctr">
                                    <a:lnSpc>
                                      <a:spcPct val="150000"/>
                                    </a:lnSpc>
                                    <a:spcBef>
                                      <a:spcPts val="0"/>
                                    </a:spcBef>
                                    <a:spcAft>
                                      <a:spcPts val="800"/>
                                    </a:spcAft>
                                  </a:pPr>
                                  <a:r>
                                    <a:rPr lang="en-US" dirty="0">
                                      <a:solidFill>
                                        <a:srgbClr val="0070C0"/>
                                      </a:solidFill>
                                      <a:effectLst/>
                                      <a:latin typeface="Calibri" panose="020F0502020204030204" pitchFamily="34" charset="0"/>
                                      <a:ea typeface="Calibri" panose="020F0502020204030204" pitchFamily="34" charset="0"/>
                                    </a:rPr>
                                    <a:t>Information about each agent and the state of the system</a:t>
                                  </a:r>
                                  <a:endParaRPr lang="en-US" dirty="0">
                                    <a:effectLst/>
                                    <a:latin typeface="Calibri" panose="020F0502020204030204" pitchFamily="34" charset="0"/>
                                    <a:ea typeface="Calibri" panose="020F0502020204030204" pitchFamily="34" charset="0"/>
                                  </a:endParaRPr>
                                </a:p>
                              </p:txBody>
                            </p:sp>
                            <p:sp>
                              <p:nvSpPr>
                                <p:cNvPr id="62" name="Rectangle 61">
                                  <a:extLst>
                                    <a:ext uri="{FF2B5EF4-FFF2-40B4-BE49-F238E27FC236}">
                                      <a16:creationId xmlns:a16="http://schemas.microsoft.com/office/drawing/2014/main" id="{92C5783A-0632-41B4-9BDD-3A939EC3A94F}"/>
                                    </a:ext>
                                  </a:extLst>
                                </p:cNvPr>
                                <p:cNvSpPr/>
                                <p:nvPr/>
                              </p:nvSpPr>
                              <p:spPr>
                                <a:xfrm>
                                  <a:off x="-28575" y="123825"/>
                                  <a:ext cx="1781174" cy="266700"/>
                                </a:xfrm>
                                <a:prstGeom prst="rect">
                                  <a:avLst/>
                                </a:prstGeom>
                                <a:noFill/>
                                <a:ln>
                                  <a:noFill/>
                                </a:ln>
                              </p:spPr>
                              <p:txBody>
                                <a:bodyPr spcFirstLastPara="1" wrap="square" lIns="91425" tIns="45700" rIns="91425" bIns="45700" anchor="t" anchorCtr="0">
                                  <a:noAutofit/>
                                </a:bodyPr>
                                <a:lstStyle/>
                                <a:p>
                                  <a:pPr marL="0" marR="0" algn="ctr">
                                    <a:lnSpc>
                                      <a:spcPct val="107000"/>
                                    </a:lnSpc>
                                    <a:spcBef>
                                      <a:spcPts val="0"/>
                                    </a:spcBef>
                                    <a:spcAft>
                                      <a:spcPts val="800"/>
                                    </a:spcAft>
                                  </a:pPr>
                                  <a:r>
                                    <a:rPr lang="en-US" sz="2000" i="1" dirty="0">
                                      <a:solidFill>
                                        <a:srgbClr val="000000"/>
                                      </a:solidFill>
                                      <a:effectLst/>
                                      <a:latin typeface="Calibri" panose="020F0502020204030204" pitchFamily="34" charset="0"/>
                                      <a:ea typeface="Calibri" panose="020F0502020204030204" pitchFamily="34" charset="0"/>
                                    </a:rPr>
                                    <a:t>A Large Language Model </a:t>
                                  </a:r>
                                  <a:endParaRPr lang="en-US" sz="2000" dirty="0">
                                    <a:effectLst/>
                                    <a:latin typeface="Calibri" panose="020F0502020204030204" pitchFamily="34" charset="0"/>
                                    <a:ea typeface="Calibri" panose="020F0502020204030204" pitchFamily="34" charset="0"/>
                                  </a:endParaRPr>
                                </a:p>
                              </p:txBody>
                            </p:sp>
                            <p:sp>
                              <p:nvSpPr>
                                <p:cNvPr id="63" name="Rectangle 62">
                                  <a:extLst>
                                    <a:ext uri="{FF2B5EF4-FFF2-40B4-BE49-F238E27FC236}">
                                      <a16:creationId xmlns:a16="http://schemas.microsoft.com/office/drawing/2014/main" id="{BA9A060E-2E5A-4F2B-86DB-419CF4D347DA}"/>
                                    </a:ext>
                                  </a:extLst>
                                </p:cNvPr>
                                <p:cNvSpPr/>
                                <p:nvPr/>
                              </p:nvSpPr>
                              <p:spPr>
                                <a:xfrm>
                                  <a:off x="3339531" y="142874"/>
                                  <a:ext cx="1803970" cy="352425"/>
                                </a:xfrm>
                                <a:prstGeom prst="rect">
                                  <a:avLst/>
                                </a:prstGeom>
                                <a:noFill/>
                                <a:ln>
                                  <a:noFill/>
                                </a:ln>
                              </p:spPr>
                              <p:txBody>
                                <a:bodyPr spcFirstLastPara="1" wrap="square" lIns="91425" tIns="45700" rIns="91425" bIns="45700" anchor="t" anchorCtr="0">
                                  <a:noAutofit/>
                                </a:bodyPr>
                                <a:lstStyle/>
                                <a:p>
                                  <a:pPr marL="0" marR="0" algn="ctr">
                                    <a:lnSpc>
                                      <a:spcPct val="107000"/>
                                    </a:lnSpc>
                                    <a:spcBef>
                                      <a:spcPts val="0"/>
                                    </a:spcBef>
                                    <a:spcAft>
                                      <a:spcPts val="800"/>
                                    </a:spcAft>
                                  </a:pPr>
                                  <a:r>
                                    <a:rPr lang="en-US" sz="2000" i="1" dirty="0">
                                      <a:solidFill>
                                        <a:srgbClr val="000000"/>
                                      </a:solidFill>
                                      <a:effectLst/>
                                      <a:latin typeface="Calibri" panose="020F0502020204030204" pitchFamily="34" charset="0"/>
                                      <a:ea typeface="Calibri" panose="020F0502020204030204" pitchFamily="34" charset="0"/>
                                    </a:rPr>
                                    <a:t>A Mechanistic Model </a:t>
                                  </a:r>
                                  <a:endParaRPr lang="en-US" sz="2000" dirty="0">
                                    <a:effectLst/>
                                    <a:latin typeface="Calibri" panose="020F0502020204030204" pitchFamily="34" charset="0"/>
                                    <a:ea typeface="Calibri" panose="020F0502020204030204" pitchFamily="34" charset="0"/>
                                  </a:endParaRPr>
                                </a:p>
                              </p:txBody>
                            </p:sp>
                            <p:sp>
                              <p:nvSpPr>
                                <p:cNvPr id="64" name="Freeform: Shape 63">
                                  <a:extLst>
                                    <a:ext uri="{FF2B5EF4-FFF2-40B4-BE49-F238E27FC236}">
                                      <a16:creationId xmlns:a16="http://schemas.microsoft.com/office/drawing/2014/main" id="{AE5C0526-6749-4F33-98EB-1049E2F025BE}"/>
                                    </a:ext>
                                  </a:extLst>
                                </p:cNvPr>
                                <p:cNvSpPr/>
                                <p:nvPr/>
                              </p:nvSpPr>
                              <p:spPr>
                                <a:xfrm>
                                  <a:off x="638175" y="552450"/>
                                  <a:ext cx="364331" cy="428625"/>
                                </a:xfrm>
                                <a:custGeom>
                                  <a:avLst/>
                                  <a:gdLst/>
                                  <a:ahLst/>
                                  <a:cxnLst/>
                                  <a:rect l="l" t="t" r="r" b="b"/>
                                  <a:pathLst>
                                    <a:path w="364331" h="428625" extrusionOk="0">
                                      <a:moveTo>
                                        <a:pt x="247220" y="177997"/>
                                      </a:moveTo>
                                      <a:lnTo>
                                        <a:pt x="199535" y="177997"/>
                                      </a:lnTo>
                                      <a:cubicBezTo>
                                        <a:pt x="179176" y="177997"/>
                                        <a:pt x="162567" y="194070"/>
                                        <a:pt x="162567" y="214430"/>
                                      </a:cubicBezTo>
                                      <a:lnTo>
                                        <a:pt x="162567" y="254078"/>
                                      </a:lnTo>
                                      <a:lnTo>
                                        <a:pt x="138456" y="254078"/>
                                      </a:lnTo>
                                      <a:lnTo>
                                        <a:pt x="138456" y="222466"/>
                                      </a:lnTo>
                                      <a:cubicBezTo>
                                        <a:pt x="138456" y="211215"/>
                                        <a:pt x="138992" y="196749"/>
                                        <a:pt x="130955" y="187641"/>
                                      </a:cubicBezTo>
                                      <a:cubicBezTo>
                                        <a:pt x="126133" y="182283"/>
                                        <a:pt x="120776" y="177997"/>
                                        <a:pt x="114882" y="173710"/>
                                      </a:cubicBezTo>
                                      <a:cubicBezTo>
                                        <a:pt x="110596" y="171031"/>
                                        <a:pt x="106309" y="167817"/>
                                        <a:pt x="103095" y="163530"/>
                                      </a:cubicBezTo>
                                      <a:cubicBezTo>
                                        <a:pt x="101487" y="161387"/>
                                        <a:pt x="100416" y="158708"/>
                                        <a:pt x="99344" y="156030"/>
                                      </a:cubicBezTo>
                                      <a:cubicBezTo>
                                        <a:pt x="105774" y="153351"/>
                                        <a:pt x="112739" y="152815"/>
                                        <a:pt x="119168" y="153351"/>
                                      </a:cubicBezTo>
                                      <a:cubicBezTo>
                                        <a:pt x="122383" y="153351"/>
                                        <a:pt x="125062" y="151208"/>
                                        <a:pt x="125062" y="147993"/>
                                      </a:cubicBezTo>
                                      <a:cubicBezTo>
                                        <a:pt x="125598" y="144778"/>
                                        <a:pt x="123454" y="142099"/>
                                        <a:pt x="120776" y="141028"/>
                                      </a:cubicBezTo>
                                      <a:cubicBezTo>
                                        <a:pt x="112739" y="139956"/>
                                        <a:pt x="104166" y="141028"/>
                                        <a:pt x="96130" y="143707"/>
                                      </a:cubicBezTo>
                                      <a:cubicBezTo>
                                        <a:pt x="96130" y="142635"/>
                                        <a:pt x="96130" y="141563"/>
                                        <a:pt x="95594" y="141028"/>
                                      </a:cubicBezTo>
                                      <a:cubicBezTo>
                                        <a:pt x="95058" y="136206"/>
                                        <a:pt x="96130" y="131384"/>
                                        <a:pt x="97201" y="126562"/>
                                      </a:cubicBezTo>
                                      <a:cubicBezTo>
                                        <a:pt x="101487" y="115310"/>
                                        <a:pt x="112203" y="110488"/>
                                        <a:pt x="122383" y="106738"/>
                                      </a:cubicBezTo>
                                      <a:cubicBezTo>
                                        <a:pt x="123990" y="106202"/>
                                        <a:pt x="126133" y="105666"/>
                                        <a:pt x="128812" y="105130"/>
                                      </a:cubicBezTo>
                                      <a:lnTo>
                                        <a:pt x="130420" y="104595"/>
                                      </a:lnTo>
                                      <a:lnTo>
                                        <a:pt x="130955" y="104595"/>
                                      </a:lnTo>
                                      <a:cubicBezTo>
                                        <a:pt x="133634" y="105130"/>
                                        <a:pt x="135777" y="105666"/>
                                        <a:pt x="137921" y="106202"/>
                                      </a:cubicBezTo>
                                      <a:lnTo>
                                        <a:pt x="140599" y="106738"/>
                                      </a:lnTo>
                                      <a:lnTo>
                                        <a:pt x="143814" y="107273"/>
                                      </a:lnTo>
                                      <a:cubicBezTo>
                                        <a:pt x="149172" y="113703"/>
                                        <a:pt x="151851" y="121740"/>
                                        <a:pt x="151315" y="129776"/>
                                      </a:cubicBezTo>
                                      <a:cubicBezTo>
                                        <a:pt x="150779" y="137813"/>
                                        <a:pt x="147029" y="145314"/>
                                        <a:pt x="140599" y="150672"/>
                                      </a:cubicBezTo>
                                      <a:cubicBezTo>
                                        <a:pt x="138456" y="152815"/>
                                        <a:pt x="137921" y="156565"/>
                                        <a:pt x="140064" y="159244"/>
                                      </a:cubicBezTo>
                                      <a:cubicBezTo>
                                        <a:pt x="142207" y="161387"/>
                                        <a:pt x="145422" y="161923"/>
                                        <a:pt x="148100" y="159780"/>
                                      </a:cubicBezTo>
                                      <a:cubicBezTo>
                                        <a:pt x="151851" y="156565"/>
                                        <a:pt x="155066" y="152815"/>
                                        <a:pt x="157209" y="148529"/>
                                      </a:cubicBezTo>
                                      <a:lnTo>
                                        <a:pt x="157744" y="148529"/>
                                      </a:lnTo>
                                      <a:cubicBezTo>
                                        <a:pt x="166853" y="147457"/>
                                        <a:pt x="175961" y="144778"/>
                                        <a:pt x="183998" y="140492"/>
                                      </a:cubicBezTo>
                                      <a:cubicBezTo>
                                        <a:pt x="185069" y="139420"/>
                                        <a:pt x="186141" y="138349"/>
                                        <a:pt x="186677" y="136741"/>
                                      </a:cubicBezTo>
                                      <a:cubicBezTo>
                                        <a:pt x="187212" y="135134"/>
                                        <a:pt x="186677" y="133527"/>
                                        <a:pt x="185605" y="132455"/>
                                      </a:cubicBezTo>
                                      <a:cubicBezTo>
                                        <a:pt x="183462" y="129776"/>
                                        <a:pt x="180247" y="129240"/>
                                        <a:pt x="177568" y="130848"/>
                                      </a:cubicBezTo>
                                      <a:cubicBezTo>
                                        <a:pt x="172746" y="133527"/>
                                        <a:pt x="167924" y="135670"/>
                                        <a:pt x="162031" y="136206"/>
                                      </a:cubicBezTo>
                                      <a:cubicBezTo>
                                        <a:pt x="162567" y="134598"/>
                                        <a:pt x="163102" y="132455"/>
                                        <a:pt x="163102" y="130848"/>
                                      </a:cubicBezTo>
                                      <a:cubicBezTo>
                                        <a:pt x="163638" y="123883"/>
                                        <a:pt x="162567" y="116918"/>
                                        <a:pt x="159888" y="111024"/>
                                      </a:cubicBezTo>
                                      <a:cubicBezTo>
                                        <a:pt x="164174" y="111560"/>
                                        <a:pt x="168460" y="112095"/>
                                        <a:pt x="172746" y="112095"/>
                                      </a:cubicBezTo>
                                      <a:cubicBezTo>
                                        <a:pt x="176497" y="112095"/>
                                        <a:pt x="180247" y="111560"/>
                                        <a:pt x="183998" y="111024"/>
                                      </a:cubicBezTo>
                                      <a:cubicBezTo>
                                        <a:pt x="190963" y="119596"/>
                                        <a:pt x="200071" y="125490"/>
                                        <a:pt x="210787" y="128169"/>
                                      </a:cubicBezTo>
                                      <a:cubicBezTo>
                                        <a:pt x="224717" y="135134"/>
                                        <a:pt x="237576" y="144242"/>
                                        <a:pt x="237576" y="159244"/>
                                      </a:cubicBezTo>
                                      <a:cubicBezTo>
                                        <a:pt x="237576" y="161387"/>
                                        <a:pt x="238647" y="164066"/>
                                        <a:pt x="240255" y="165138"/>
                                      </a:cubicBezTo>
                                      <a:cubicBezTo>
                                        <a:pt x="242398" y="166209"/>
                                        <a:pt x="244541" y="166209"/>
                                        <a:pt x="246684" y="165138"/>
                                      </a:cubicBezTo>
                                      <a:cubicBezTo>
                                        <a:pt x="248827" y="164066"/>
                                        <a:pt x="249899" y="161387"/>
                                        <a:pt x="249363" y="159244"/>
                                      </a:cubicBezTo>
                                      <a:cubicBezTo>
                                        <a:pt x="249363" y="147457"/>
                                        <a:pt x="244005" y="136741"/>
                                        <a:pt x="234897" y="129776"/>
                                      </a:cubicBezTo>
                                      <a:cubicBezTo>
                                        <a:pt x="242398" y="129240"/>
                                        <a:pt x="248827" y="125490"/>
                                        <a:pt x="253649" y="120132"/>
                                      </a:cubicBezTo>
                                      <a:cubicBezTo>
                                        <a:pt x="255792" y="117453"/>
                                        <a:pt x="255257" y="113703"/>
                                        <a:pt x="253114" y="111560"/>
                                      </a:cubicBezTo>
                                      <a:cubicBezTo>
                                        <a:pt x="250435" y="109417"/>
                                        <a:pt x="246684" y="109952"/>
                                        <a:pt x="244541" y="112095"/>
                                      </a:cubicBezTo>
                                      <a:cubicBezTo>
                                        <a:pt x="241862" y="115310"/>
                                        <a:pt x="234897" y="117989"/>
                                        <a:pt x="224717" y="117453"/>
                                      </a:cubicBezTo>
                                      <a:cubicBezTo>
                                        <a:pt x="214537" y="117453"/>
                                        <a:pt x="204357" y="113703"/>
                                        <a:pt x="196857" y="107273"/>
                                      </a:cubicBezTo>
                                      <a:cubicBezTo>
                                        <a:pt x="205429" y="103523"/>
                                        <a:pt x="212930" y="97094"/>
                                        <a:pt x="217752" y="89057"/>
                                      </a:cubicBezTo>
                                      <a:cubicBezTo>
                                        <a:pt x="219359" y="86378"/>
                                        <a:pt x="218288" y="82628"/>
                                        <a:pt x="215609" y="80484"/>
                                      </a:cubicBezTo>
                                      <a:cubicBezTo>
                                        <a:pt x="212930" y="78877"/>
                                        <a:pt x="209179" y="79949"/>
                                        <a:pt x="207572" y="82628"/>
                                      </a:cubicBezTo>
                                      <a:cubicBezTo>
                                        <a:pt x="198464" y="99237"/>
                                        <a:pt x="179176" y="104059"/>
                                        <a:pt x="148636" y="96558"/>
                                      </a:cubicBezTo>
                                      <a:cubicBezTo>
                                        <a:pt x="155601" y="90664"/>
                                        <a:pt x="158816" y="81556"/>
                                        <a:pt x="157744" y="72448"/>
                                      </a:cubicBezTo>
                                      <a:cubicBezTo>
                                        <a:pt x="157744" y="70305"/>
                                        <a:pt x="156673" y="68161"/>
                                        <a:pt x="154530" y="67090"/>
                                      </a:cubicBezTo>
                                      <a:cubicBezTo>
                                        <a:pt x="152387" y="66018"/>
                                        <a:pt x="150244" y="66018"/>
                                        <a:pt x="148100" y="67626"/>
                                      </a:cubicBezTo>
                                      <a:cubicBezTo>
                                        <a:pt x="145957" y="68697"/>
                                        <a:pt x="145422" y="71376"/>
                                        <a:pt x="145422" y="73519"/>
                                      </a:cubicBezTo>
                                      <a:cubicBezTo>
                                        <a:pt x="145957" y="87450"/>
                                        <a:pt x="138456" y="90128"/>
                                        <a:pt x="126133" y="93879"/>
                                      </a:cubicBezTo>
                                      <a:cubicBezTo>
                                        <a:pt x="124526" y="94415"/>
                                        <a:pt x="122383" y="94950"/>
                                        <a:pt x="120776" y="95486"/>
                                      </a:cubicBezTo>
                                      <a:cubicBezTo>
                                        <a:pt x="117561" y="87985"/>
                                        <a:pt x="110596" y="82092"/>
                                        <a:pt x="102559" y="79949"/>
                                      </a:cubicBezTo>
                                      <a:cubicBezTo>
                                        <a:pt x="100416" y="79413"/>
                                        <a:pt x="98273" y="79949"/>
                                        <a:pt x="96665" y="81556"/>
                                      </a:cubicBezTo>
                                      <a:cubicBezTo>
                                        <a:pt x="95058" y="83163"/>
                                        <a:pt x="94522" y="85306"/>
                                        <a:pt x="95058" y="87985"/>
                                      </a:cubicBezTo>
                                      <a:cubicBezTo>
                                        <a:pt x="95594" y="90128"/>
                                        <a:pt x="97201" y="91736"/>
                                        <a:pt x="99880" y="92272"/>
                                      </a:cubicBezTo>
                                      <a:cubicBezTo>
                                        <a:pt x="104166" y="93343"/>
                                        <a:pt x="107381" y="96558"/>
                                        <a:pt x="109524" y="100308"/>
                                      </a:cubicBezTo>
                                      <a:lnTo>
                                        <a:pt x="109524" y="100844"/>
                                      </a:lnTo>
                                      <a:cubicBezTo>
                                        <a:pt x="99344" y="105130"/>
                                        <a:pt x="91308" y="113167"/>
                                        <a:pt x="87557" y="123347"/>
                                      </a:cubicBezTo>
                                      <a:cubicBezTo>
                                        <a:pt x="86486" y="125490"/>
                                        <a:pt x="85950" y="128169"/>
                                        <a:pt x="85950" y="130848"/>
                                      </a:cubicBezTo>
                                      <a:cubicBezTo>
                                        <a:pt x="84878" y="129776"/>
                                        <a:pt x="83807" y="128705"/>
                                        <a:pt x="83271" y="127097"/>
                                      </a:cubicBezTo>
                                      <a:cubicBezTo>
                                        <a:pt x="81128" y="122811"/>
                                        <a:pt x="79520" y="117453"/>
                                        <a:pt x="78985" y="112631"/>
                                      </a:cubicBezTo>
                                      <a:cubicBezTo>
                                        <a:pt x="78449" y="110488"/>
                                        <a:pt x="76841" y="108345"/>
                                        <a:pt x="75234" y="107809"/>
                                      </a:cubicBezTo>
                                      <a:cubicBezTo>
                                        <a:pt x="73091" y="106738"/>
                                        <a:pt x="70948" y="107273"/>
                                        <a:pt x="69341" y="108881"/>
                                      </a:cubicBezTo>
                                      <a:cubicBezTo>
                                        <a:pt x="67733" y="110488"/>
                                        <a:pt x="66662" y="112631"/>
                                        <a:pt x="67733" y="114774"/>
                                      </a:cubicBezTo>
                                      <a:cubicBezTo>
                                        <a:pt x="68805" y="121204"/>
                                        <a:pt x="70412" y="127097"/>
                                        <a:pt x="73627" y="132455"/>
                                      </a:cubicBezTo>
                                      <a:cubicBezTo>
                                        <a:pt x="76841" y="137813"/>
                                        <a:pt x="81128" y="142099"/>
                                        <a:pt x="87021" y="144778"/>
                                      </a:cubicBezTo>
                                      <a:cubicBezTo>
                                        <a:pt x="87557" y="152279"/>
                                        <a:pt x="90236" y="159780"/>
                                        <a:pt x="93987" y="166745"/>
                                      </a:cubicBezTo>
                                      <a:cubicBezTo>
                                        <a:pt x="90236" y="171567"/>
                                        <a:pt x="85414" y="175318"/>
                                        <a:pt x="80056" y="178532"/>
                                      </a:cubicBezTo>
                                      <a:cubicBezTo>
                                        <a:pt x="78449" y="179604"/>
                                        <a:pt x="77377" y="181747"/>
                                        <a:pt x="76841" y="183890"/>
                                      </a:cubicBezTo>
                                      <a:cubicBezTo>
                                        <a:pt x="76841" y="186033"/>
                                        <a:pt x="77913" y="188176"/>
                                        <a:pt x="80056" y="189248"/>
                                      </a:cubicBezTo>
                                      <a:cubicBezTo>
                                        <a:pt x="82199" y="190320"/>
                                        <a:pt x="84342" y="190320"/>
                                        <a:pt x="85950" y="188712"/>
                                      </a:cubicBezTo>
                                      <a:cubicBezTo>
                                        <a:pt x="91308" y="184962"/>
                                        <a:pt x="96130" y="181211"/>
                                        <a:pt x="100416" y="176389"/>
                                      </a:cubicBezTo>
                                      <a:cubicBezTo>
                                        <a:pt x="103631" y="179068"/>
                                        <a:pt x="106845" y="181211"/>
                                        <a:pt x="110060" y="183354"/>
                                      </a:cubicBezTo>
                                      <a:cubicBezTo>
                                        <a:pt x="115418" y="186569"/>
                                        <a:pt x="119704" y="190320"/>
                                        <a:pt x="123990" y="195142"/>
                                      </a:cubicBezTo>
                                      <a:cubicBezTo>
                                        <a:pt x="128812" y="201035"/>
                                        <a:pt x="128812" y="212287"/>
                                        <a:pt x="128812" y="221931"/>
                                      </a:cubicBezTo>
                                      <a:lnTo>
                                        <a:pt x="128812" y="254078"/>
                                      </a:lnTo>
                                      <a:lnTo>
                                        <a:pt x="104166" y="254078"/>
                                      </a:lnTo>
                                      <a:cubicBezTo>
                                        <a:pt x="104166" y="214430"/>
                                        <a:pt x="84878" y="212287"/>
                                        <a:pt x="82735" y="211215"/>
                                      </a:cubicBezTo>
                                      <a:cubicBezTo>
                                        <a:pt x="74698" y="209072"/>
                                        <a:pt x="53803" y="197820"/>
                                        <a:pt x="48981" y="175318"/>
                                      </a:cubicBezTo>
                                      <a:cubicBezTo>
                                        <a:pt x="48445" y="174246"/>
                                        <a:pt x="48445" y="172639"/>
                                        <a:pt x="48445" y="171567"/>
                                      </a:cubicBezTo>
                                      <a:cubicBezTo>
                                        <a:pt x="39337" y="158708"/>
                                        <a:pt x="39873" y="141028"/>
                                        <a:pt x="50052" y="128705"/>
                                      </a:cubicBezTo>
                                      <a:cubicBezTo>
                                        <a:pt x="48981" y="124954"/>
                                        <a:pt x="48445" y="121204"/>
                                        <a:pt x="48445" y="117453"/>
                                      </a:cubicBezTo>
                                      <a:cubicBezTo>
                                        <a:pt x="48445" y="100308"/>
                                        <a:pt x="60768" y="85306"/>
                                        <a:pt x="77913" y="82092"/>
                                      </a:cubicBezTo>
                                      <a:cubicBezTo>
                                        <a:pt x="83271" y="67090"/>
                                        <a:pt x="97201" y="56910"/>
                                        <a:pt x="112739" y="57446"/>
                                      </a:cubicBezTo>
                                      <a:cubicBezTo>
                                        <a:pt x="115418" y="57446"/>
                                        <a:pt x="118632" y="57982"/>
                                        <a:pt x="121311" y="58517"/>
                                      </a:cubicBezTo>
                                      <a:cubicBezTo>
                                        <a:pt x="127741" y="51016"/>
                                        <a:pt x="136849" y="46730"/>
                                        <a:pt x="147029" y="45659"/>
                                      </a:cubicBezTo>
                                      <a:cubicBezTo>
                                        <a:pt x="157209" y="45123"/>
                                        <a:pt x="166853" y="48338"/>
                                        <a:pt x="174354" y="55303"/>
                                      </a:cubicBezTo>
                                      <a:cubicBezTo>
                                        <a:pt x="183998" y="48873"/>
                                        <a:pt x="195785" y="47266"/>
                                        <a:pt x="206501" y="50481"/>
                                      </a:cubicBezTo>
                                      <a:cubicBezTo>
                                        <a:pt x="217752" y="53695"/>
                                        <a:pt x="226324" y="62268"/>
                                        <a:pt x="230075" y="72983"/>
                                      </a:cubicBezTo>
                                      <a:lnTo>
                                        <a:pt x="232218" y="72983"/>
                                      </a:lnTo>
                                      <a:cubicBezTo>
                                        <a:pt x="252578" y="72983"/>
                                        <a:pt x="268651" y="89057"/>
                                        <a:pt x="269187" y="109417"/>
                                      </a:cubicBezTo>
                                      <a:lnTo>
                                        <a:pt x="269187" y="111024"/>
                                      </a:lnTo>
                                      <a:cubicBezTo>
                                        <a:pt x="281510" y="117989"/>
                                        <a:pt x="288475" y="131384"/>
                                        <a:pt x="287404" y="145314"/>
                                      </a:cubicBezTo>
                                      <a:cubicBezTo>
                                        <a:pt x="283117" y="164066"/>
                                        <a:pt x="266508" y="178532"/>
                                        <a:pt x="247220" y="177997"/>
                                      </a:cubicBezTo>
                                      <a:close/>
                                      <a:moveTo>
                                        <a:pt x="361341" y="234254"/>
                                      </a:moveTo>
                                      <a:lnTo>
                                        <a:pt x="324372" y="170496"/>
                                      </a:lnTo>
                                      <a:lnTo>
                                        <a:pt x="324372" y="168353"/>
                                      </a:lnTo>
                                      <a:cubicBezTo>
                                        <a:pt x="326516" y="109417"/>
                                        <a:pt x="296512" y="54231"/>
                                        <a:pt x="245613" y="24763"/>
                                      </a:cubicBezTo>
                                      <a:cubicBezTo>
                                        <a:pt x="194713" y="-5241"/>
                                        <a:pt x="132027" y="-5241"/>
                                        <a:pt x="81128" y="24763"/>
                                      </a:cubicBezTo>
                                      <a:cubicBezTo>
                                        <a:pt x="30229" y="54231"/>
                                        <a:pt x="225" y="109417"/>
                                        <a:pt x="2368" y="168353"/>
                                      </a:cubicBezTo>
                                      <a:cubicBezTo>
                                        <a:pt x="2368" y="218716"/>
                                        <a:pt x="25406" y="266400"/>
                                        <a:pt x="65590" y="296940"/>
                                      </a:cubicBezTo>
                                      <a:lnTo>
                                        <a:pt x="65590" y="430885"/>
                                      </a:lnTo>
                                      <a:lnTo>
                                        <a:pt x="234897" y="430885"/>
                                      </a:lnTo>
                                      <a:lnTo>
                                        <a:pt x="234897" y="367127"/>
                                      </a:lnTo>
                                      <a:lnTo>
                                        <a:pt x="261150" y="367127"/>
                                      </a:lnTo>
                                      <a:cubicBezTo>
                                        <a:pt x="278295" y="367127"/>
                                        <a:pt x="294369" y="360698"/>
                                        <a:pt x="306156" y="348375"/>
                                      </a:cubicBezTo>
                                      <a:cubicBezTo>
                                        <a:pt x="317943" y="336588"/>
                                        <a:pt x="324372" y="319979"/>
                                        <a:pt x="324372" y="303369"/>
                                      </a:cubicBezTo>
                                      <a:lnTo>
                                        <a:pt x="324372" y="271223"/>
                                      </a:lnTo>
                                      <a:lnTo>
                                        <a:pt x="347947" y="271223"/>
                                      </a:lnTo>
                                      <a:cubicBezTo>
                                        <a:pt x="361877" y="270151"/>
                                        <a:pt x="374200" y="254078"/>
                                        <a:pt x="361341" y="234254"/>
                                      </a:cubicBezTo>
                                      <a:close/>
                                    </a:path>
                                  </a:pathLst>
                                </a:custGeom>
                                <a:solidFill>
                                  <a:srgbClr val="000000"/>
                                </a:solid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sp>
                              <p:nvSpPr>
                                <p:cNvPr id="65" name="Freeform: Shape 64">
                                  <a:extLst>
                                    <a:ext uri="{FF2B5EF4-FFF2-40B4-BE49-F238E27FC236}">
                                      <a16:creationId xmlns:a16="http://schemas.microsoft.com/office/drawing/2014/main" id="{F98BA94D-E414-4776-9EEA-D058AA638CEC}"/>
                                    </a:ext>
                                  </a:extLst>
                                </p:cNvPr>
                                <p:cNvSpPr/>
                                <p:nvPr/>
                              </p:nvSpPr>
                              <p:spPr>
                                <a:xfrm>
                                  <a:off x="3971925" y="571500"/>
                                  <a:ext cx="533400" cy="495300"/>
                                </a:xfrm>
                                <a:custGeom>
                                  <a:avLst/>
                                  <a:gdLst/>
                                  <a:ahLst/>
                                  <a:cxnLst/>
                                  <a:rect l="l" t="t" r="r" b="b"/>
                                  <a:pathLst>
                                    <a:path w="819150" h="752475" extrusionOk="0">
                                      <a:moveTo>
                                        <a:pt x="740569" y="296306"/>
                                      </a:moveTo>
                                      <a:cubicBezTo>
                                        <a:pt x="737711" y="296306"/>
                                        <a:pt x="734854" y="296306"/>
                                        <a:pt x="731996" y="296306"/>
                                      </a:cubicBezTo>
                                      <a:lnTo>
                                        <a:pt x="707231" y="229631"/>
                                      </a:lnTo>
                                      <a:cubicBezTo>
                                        <a:pt x="764381" y="197246"/>
                                        <a:pt x="784384" y="124856"/>
                                        <a:pt x="752951" y="67706"/>
                                      </a:cubicBezTo>
                                      <a:cubicBezTo>
                                        <a:pt x="720566" y="10556"/>
                                        <a:pt x="648176" y="-9446"/>
                                        <a:pt x="591026" y="21986"/>
                                      </a:cubicBezTo>
                                      <a:cubicBezTo>
                                        <a:pt x="563404" y="37226"/>
                                        <a:pt x="542449" y="63896"/>
                                        <a:pt x="534829" y="94376"/>
                                      </a:cubicBezTo>
                                      <a:lnTo>
                                        <a:pt x="446246" y="84851"/>
                                      </a:lnTo>
                                      <a:cubicBezTo>
                                        <a:pt x="439579" y="42941"/>
                                        <a:pt x="400526" y="13414"/>
                                        <a:pt x="358616" y="20081"/>
                                      </a:cubicBezTo>
                                      <a:cubicBezTo>
                                        <a:pt x="320516" y="25796"/>
                                        <a:pt x="292894" y="58181"/>
                                        <a:pt x="292894" y="96281"/>
                                      </a:cubicBezTo>
                                      <a:cubicBezTo>
                                        <a:pt x="292894" y="109616"/>
                                        <a:pt x="296704" y="122951"/>
                                        <a:pt x="303371" y="135334"/>
                                      </a:cubicBezTo>
                                      <a:lnTo>
                                        <a:pt x="196691" y="240109"/>
                                      </a:lnTo>
                                      <a:cubicBezTo>
                                        <a:pt x="176689" y="224869"/>
                                        <a:pt x="151924" y="216296"/>
                                        <a:pt x="126206" y="216296"/>
                                      </a:cubicBezTo>
                                      <a:cubicBezTo>
                                        <a:pt x="60484" y="216296"/>
                                        <a:pt x="7144" y="269636"/>
                                        <a:pt x="7144" y="335359"/>
                                      </a:cubicBezTo>
                                      <a:cubicBezTo>
                                        <a:pt x="7144" y="401081"/>
                                        <a:pt x="60484" y="454421"/>
                                        <a:pt x="126206" y="454421"/>
                                      </a:cubicBezTo>
                                      <a:lnTo>
                                        <a:pt x="150019" y="597296"/>
                                      </a:lnTo>
                                      <a:cubicBezTo>
                                        <a:pt x="110966" y="614441"/>
                                        <a:pt x="92869" y="660161"/>
                                        <a:pt x="110014" y="699214"/>
                                      </a:cubicBezTo>
                                      <a:cubicBezTo>
                                        <a:pt x="127159" y="738266"/>
                                        <a:pt x="172879" y="756364"/>
                                        <a:pt x="211931" y="739219"/>
                                      </a:cubicBezTo>
                                      <a:cubicBezTo>
                                        <a:pt x="248126" y="723979"/>
                                        <a:pt x="266224" y="683974"/>
                                        <a:pt x="255746" y="645874"/>
                                      </a:cubicBezTo>
                                      <a:lnTo>
                                        <a:pt x="339566" y="602059"/>
                                      </a:lnTo>
                                      <a:cubicBezTo>
                                        <a:pt x="393859" y="662066"/>
                                        <a:pt x="487204" y="666829"/>
                                        <a:pt x="548164" y="612536"/>
                                      </a:cubicBezTo>
                                      <a:cubicBezTo>
                                        <a:pt x="578644" y="584914"/>
                                        <a:pt x="596741" y="544909"/>
                                        <a:pt x="596741" y="503951"/>
                                      </a:cubicBezTo>
                                      <a:cubicBezTo>
                                        <a:pt x="596741" y="493474"/>
                                        <a:pt x="595789" y="482044"/>
                                        <a:pt x="592931" y="471566"/>
                                      </a:cubicBezTo>
                                      <a:lnTo>
                                        <a:pt x="685324" y="423941"/>
                                      </a:lnTo>
                                      <a:cubicBezTo>
                                        <a:pt x="713899" y="456326"/>
                                        <a:pt x="762476" y="459184"/>
                                        <a:pt x="794861" y="430609"/>
                                      </a:cubicBezTo>
                                      <a:cubicBezTo>
                                        <a:pt x="827246" y="402034"/>
                                        <a:pt x="830104" y="353456"/>
                                        <a:pt x="801529" y="321071"/>
                                      </a:cubicBezTo>
                                      <a:cubicBezTo>
                                        <a:pt x="783431" y="305831"/>
                                        <a:pt x="762476" y="296306"/>
                                        <a:pt x="740569" y="296306"/>
                                      </a:cubicBezTo>
                                      <a:lnTo>
                                        <a:pt x="740569" y="296306"/>
                                      </a:lnTo>
                                      <a:close/>
                                      <a:moveTo>
                                        <a:pt x="740569" y="324881"/>
                                      </a:moveTo>
                                      <a:cubicBezTo>
                                        <a:pt x="752951" y="324881"/>
                                        <a:pt x="762476" y="334406"/>
                                        <a:pt x="762476" y="346789"/>
                                      </a:cubicBezTo>
                                      <a:cubicBezTo>
                                        <a:pt x="762476" y="359171"/>
                                        <a:pt x="752951" y="368696"/>
                                        <a:pt x="740569" y="368696"/>
                                      </a:cubicBezTo>
                                      <a:cubicBezTo>
                                        <a:pt x="728186" y="368696"/>
                                        <a:pt x="718661" y="359171"/>
                                        <a:pt x="718661" y="346789"/>
                                      </a:cubicBezTo>
                                      <a:cubicBezTo>
                                        <a:pt x="718661" y="346789"/>
                                        <a:pt x="718661" y="346789"/>
                                        <a:pt x="718661" y="346789"/>
                                      </a:cubicBezTo>
                                      <a:cubicBezTo>
                                        <a:pt x="718661" y="334406"/>
                                        <a:pt x="728186" y="324881"/>
                                        <a:pt x="740569" y="324881"/>
                                      </a:cubicBezTo>
                                      <a:lnTo>
                                        <a:pt x="740569" y="324881"/>
                                      </a:lnTo>
                                      <a:close/>
                                      <a:moveTo>
                                        <a:pt x="649129" y="53419"/>
                                      </a:moveTo>
                                      <a:cubicBezTo>
                                        <a:pt x="667226" y="53419"/>
                                        <a:pt x="682466" y="68659"/>
                                        <a:pt x="682466" y="86756"/>
                                      </a:cubicBezTo>
                                      <a:cubicBezTo>
                                        <a:pt x="682466" y="104854"/>
                                        <a:pt x="667226" y="120094"/>
                                        <a:pt x="649129" y="120094"/>
                                      </a:cubicBezTo>
                                      <a:cubicBezTo>
                                        <a:pt x="631031" y="120094"/>
                                        <a:pt x="615791" y="104854"/>
                                        <a:pt x="615791" y="86756"/>
                                      </a:cubicBezTo>
                                      <a:cubicBezTo>
                                        <a:pt x="615791" y="86756"/>
                                        <a:pt x="615791" y="86756"/>
                                        <a:pt x="615791" y="86756"/>
                                      </a:cubicBezTo>
                                      <a:cubicBezTo>
                                        <a:pt x="615791" y="68659"/>
                                        <a:pt x="630079" y="53419"/>
                                        <a:pt x="649129" y="53419"/>
                                      </a:cubicBezTo>
                                      <a:close/>
                                      <a:moveTo>
                                        <a:pt x="581501" y="162004"/>
                                      </a:moveTo>
                                      <a:cubicBezTo>
                                        <a:pt x="581501" y="157241"/>
                                        <a:pt x="584359" y="151526"/>
                                        <a:pt x="588169" y="148669"/>
                                      </a:cubicBezTo>
                                      <a:cubicBezTo>
                                        <a:pt x="597694" y="142001"/>
                                        <a:pt x="609124" y="136286"/>
                                        <a:pt x="620554" y="133429"/>
                                      </a:cubicBezTo>
                                      <a:cubicBezTo>
                                        <a:pt x="629126" y="130571"/>
                                        <a:pt x="638651" y="129619"/>
                                        <a:pt x="648176" y="129619"/>
                                      </a:cubicBezTo>
                                      <a:cubicBezTo>
                                        <a:pt x="657701" y="129619"/>
                                        <a:pt x="667226" y="131524"/>
                                        <a:pt x="675799" y="133429"/>
                                      </a:cubicBezTo>
                                      <a:cubicBezTo>
                                        <a:pt x="687229" y="136286"/>
                                        <a:pt x="698659" y="142001"/>
                                        <a:pt x="708184" y="149621"/>
                                      </a:cubicBezTo>
                                      <a:cubicBezTo>
                                        <a:pt x="711994" y="152479"/>
                                        <a:pt x="714851" y="158194"/>
                                        <a:pt x="714851" y="162956"/>
                                      </a:cubicBezTo>
                                      <a:lnTo>
                                        <a:pt x="714851" y="188674"/>
                                      </a:lnTo>
                                      <a:lnTo>
                                        <a:pt x="581501" y="188674"/>
                                      </a:lnTo>
                                      <a:lnTo>
                                        <a:pt x="581501" y="162004"/>
                                      </a:lnTo>
                                      <a:close/>
                                      <a:moveTo>
                                        <a:pt x="369094" y="47704"/>
                                      </a:moveTo>
                                      <a:cubicBezTo>
                                        <a:pt x="381476" y="47704"/>
                                        <a:pt x="391001" y="57229"/>
                                        <a:pt x="391001" y="69611"/>
                                      </a:cubicBezTo>
                                      <a:cubicBezTo>
                                        <a:pt x="391001" y="81994"/>
                                        <a:pt x="381476" y="91519"/>
                                        <a:pt x="369094" y="91519"/>
                                      </a:cubicBezTo>
                                      <a:cubicBezTo>
                                        <a:pt x="356711" y="91519"/>
                                        <a:pt x="347186" y="81994"/>
                                        <a:pt x="347186" y="69611"/>
                                      </a:cubicBezTo>
                                      <a:cubicBezTo>
                                        <a:pt x="347186" y="69611"/>
                                        <a:pt x="347186" y="69611"/>
                                        <a:pt x="347186" y="69611"/>
                                      </a:cubicBezTo>
                                      <a:cubicBezTo>
                                        <a:pt x="347186" y="58181"/>
                                        <a:pt x="356711" y="47704"/>
                                        <a:pt x="369094" y="47704"/>
                                      </a:cubicBezTo>
                                      <a:lnTo>
                                        <a:pt x="369094" y="47704"/>
                                      </a:lnTo>
                                      <a:close/>
                                      <a:moveTo>
                                        <a:pt x="324326" y="119141"/>
                                      </a:moveTo>
                                      <a:cubicBezTo>
                                        <a:pt x="324326" y="115331"/>
                                        <a:pt x="326231" y="112474"/>
                                        <a:pt x="329089" y="110569"/>
                                      </a:cubicBezTo>
                                      <a:cubicBezTo>
                                        <a:pt x="335756" y="105806"/>
                                        <a:pt x="343376" y="102949"/>
                                        <a:pt x="350996" y="101044"/>
                                      </a:cubicBezTo>
                                      <a:cubicBezTo>
                                        <a:pt x="356711" y="99139"/>
                                        <a:pt x="363379" y="98186"/>
                                        <a:pt x="369094" y="98186"/>
                                      </a:cubicBezTo>
                                      <a:cubicBezTo>
                                        <a:pt x="374809" y="98186"/>
                                        <a:pt x="381476" y="99139"/>
                                        <a:pt x="387191" y="101044"/>
                                      </a:cubicBezTo>
                                      <a:cubicBezTo>
                                        <a:pt x="394811" y="102949"/>
                                        <a:pt x="401479" y="106759"/>
                                        <a:pt x="408146" y="111521"/>
                                      </a:cubicBezTo>
                                      <a:cubicBezTo>
                                        <a:pt x="411004" y="113426"/>
                                        <a:pt x="412909" y="117236"/>
                                        <a:pt x="412909" y="120094"/>
                                      </a:cubicBezTo>
                                      <a:lnTo>
                                        <a:pt x="412909" y="137239"/>
                                      </a:lnTo>
                                      <a:lnTo>
                                        <a:pt x="325279" y="137239"/>
                                      </a:lnTo>
                                      <a:lnTo>
                                        <a:pt x="325279" y="119141"/>
                                      </a:lnTo>
                                      <a:close/>
                                      <a:moveTo>
                                        <a:pt x="124301" y="262969"/>
                                      </a:moveTo>
                                      <a:cubicBezTo>
                                        <a:pt x="142399" y="262969"/>
                                        <a:pt x="157639" y="278209"/>
                                        <a:pt x="157639" y="296306"/>
                                      </a:cubicBezTo>
                                      <a:cubicBezTo>
                                        <a:pt x="157639" y="314404"/>
                                        <a:pt x="142399" y="329644"/>
                                        <a:pt x="124301" y="329644"/>
                                      </a:cubicBezTo>
                                      <a:cubicBezTo>
                                        <a:pt x="106204" y="329644"/>
                                        <a:pt x="90964" y="314404"/>
                                        <a:pt x="90964" y="296306"/>
                                      </a:cubicBezTo>
                                      <a:cubicBezTo>
                                        <a:pt x="90964" y="296306"/>
                                        <a:pt x="90964" y="296306"/>
                                        <a:pt x="90964" y="296306"/>
                                      </a:cubicBezTo>
                                      <a:cubicBezTo>
                                        <a:pt x="91916" y="278209"/>
                                        <a:pt x="106204" y="262969"/>
                                        <a:pt x="124301" y="262969"/>
                                      </a:cubicBezTo>
                                      <a:lnTo>
                                        <a:pt x="124301" y="262969"/>
                                      </a:lnTo>
                                      <a:close/>
                                      <a:moveTo>
                                        <a:pt x="57626" y="397271"/>
                                      </a:moveTo>
                                      <a:lnTo>
                                        <a:pt x="57626" y="371554"/>
                                      </a:lnTo>
                                      <a:cubicBezTo>
                                        <a:pt x="57626" y="366791"/>
                                        <a:pt x="60484" y="361076"/>
                                        <a:pt x="64294" y="358219"/>
                                      </a:cubicBezTo>
                                      <a:cubicBezTo>
                                        <a:pt x="73819" y="351551"/>
                                        <a:pt x="85249" y="345836"/>
                                        <a:pt x="96679" y="342979"/>
                                      </a:cubicBezTo>
                                      <a:cubicBezTo>
                                        <a:pt x="105251" y="340121"/>
                                        <a:pt x="114776" y="339169"/>
                                        <a:pt x="124301" y="339169"/>
                                      </a:cubicBezTo>
                                      <a:cubicBezTo>
                                        <a:pt x="133826" y="339169"/>
                                        <a:pt x="143351" y="341074"/>
                                        <a:pt x="151924" y="342979"/>
                                      </a:cubicBezTo>
                                      <a:cubicBezTo>
                                        <a:pt x="163354" y="345836"/>
                                        <a:pt x="174784" y="351551"/>
                                        <a:pt x="184309" y="359171"/>
                                      </a:cubicBezTo>
                                      <a:cubicBezTo>
                                        <a:pt x="188119" y="362029"/>
                                        <a:pt x="190976" y="367744"/>
                                        <a:pt x="190976" y="372506"/>
                                      </a:cubicBezTo>
                                      <a:lnTo>
                                        <a:pt x="190976" y="398224"/>
                                      </a:lnTo>
                                      <a:lnTo>
                                        <a:pt x="57626" y="397271"/>
                                      </a:lnTo>
                                      <a:close/>
                                      <a:moveTo>
                                        <a:pt x="222409" y="707786"/>
                                      </a:moveTo>
                                      <a:lnTo>
                                        <a:pt x="133826" y="707786"/>
                                      </a:lnTo>
                                      <a:lnTo>
                                        <a:pt x="133826" y="690641"/>
                                      </a:lnTo>
                                      <a:cubicBezTo>
                                        <a:pt x="133826" y="686831"/>
                                        <a:pt x="135731" y="683974"/>
                                        <a:pt x="138589" y="682069"/>
                                      </a:cubicBezTo>
                                      <a:cubicBezTo>
                                        <a:pt x="145256" y="677306"/>
                                        <a:pt x="152876" y="673496"/>
                                        <a:pt x="160496" y="671591"/>
                                      </a:cubicBezTo>
                                      <a:cubicBezTo>
                                        <a:pt x="166211" y="669686"/>
                                        <a:pt x="172879" y="668734"/>
                                        <a:pt x="178594" y="668734"/>
                                      </a:cubicBezTo>
                                      <a:cubicBezTo>
                                        <a:pt x="184309" y="668734"/>
                                        <a:pt x="190976" y="669686"/>
                                        <a:pt x="196691" y="671591"/>
                                      </a:cubicBezTo>
                                      <a:cubicBezTo>
                                        <a:pt x="204311" y="673496"/>
                                        <a:pt x="210979" y="677306"/>
                                        <a:pt x="217646" y="682069"/>
                                      </a:cubicBezTo>
                                      <a:cubicBezTo>
                                        <a:pt x="220504" y="683974"/>
                                        <a:pt x="222409" y="687784"/>
                                        <a:pt x="222409" y="690641"/>
                                      </a:cubicBezTo>
                                      <a:lnTo>
                                        <a:pt x="222409" y="707786"/>
                                      </a:lnTo>
                                      <a:close/>
                                      <a:moveTo>
                                        <a:pt x="155734" y="641111"/>
                                      </a:moveTo>
                                      <a:cubicBezTo>
                                        <a:pt x="155734" y="628729"/>
                                        <a:pt x="165259" y="619204"/>
                                        <a:pt x="177641" y="619204"/>
                                      </a:cubicBezTo>
                                      <a:cubicBezTo>
                                        <a:pt x="190024" y="619204"/>
                                        <a:pt x="199549" y="628729"/>
                                        <a:pt x="199549" y="641111"/>
                                      </a:cubicBezTo>
                                      <a:cubicBezTo>
                                        <a:pt x="199549" y="653494"/>
                                        <a:pt x="190024" y="663019"/>
                                        <a:pt x="177641" y="663019"/>
                                      </a:cubicBezTo>
                                      <a:cubicBezTo>
                                        <a:pt x="166211" y="663971"/>
                                        <a:pt x="156686" y="653494"/>
                                        <a:pt x="155734" y="641111"/>
                                      </a:cubicBezTo>
                                      <a:lnTo>
                                        <a:pt x="155734" y="641111"/>
                                      </a:lnTo>
                                      <a:close/>
                                      <a:moveTo>
                                        <a:pt x="231934" y="614441"/>
                                      </a:moveTo>
                                      <a:cubicBezTo>
                                        <a:pt x="219551" y="602059"/>
                                        <a:pt x="202406" y="594439"/>
                                        <a:pt x="185261" y="592534"/>
                                      </a:cubicBezTo>
                                      <a:lnTo>
                                        <a:pt x="161449" y="449659"/>
                                      </a:lnTo>
                                      <a:cubicBezTo>
                                        <a:pt x="184309" y="442039"/>
                                        <a:pt x="204311" y="427751"/>
                                        <a:pt x="218599" y="408701"/>
                                      </a:cubicBezTo>
                                      <a:lnTo>
                                        <a:pt x="307181" y="455374"/>
                                      </a:lnTo>
                                      <a:cubicBezTo>
                                        <a:pt x="292894" y="493474"/>
                                        <a:pt x="295751" y="536336"/>
                                        <a:pt x="314801" y="572531"/>
                                      </a:cubicBezTo>
                                      <a:lnTo>
                                        <a:pt x="231934" y="614441"/>
                                      </a:lnTo>
                                      <a:close/>
                                      <a:moveTo>
                                        <a:pt x="325279" y="420131"/>
                                      </a:moveTo>
                                      <a:lnTo>
                                        <a:pt x="237649" y="374411"/>
                                      </a:lnTo>
                                      <a:cubicBezTo>
                                        <a:pt x="241459" y="362029"/>
                                        <a:pt x="243364" y="349646"/>
                                        <a:pt x="243364" y="336311"/>
                                      </a:cubicBezTo>
                                      <a:cubicBezTo>
                                        <a:pt x="243364" y="311546"/>
                                        <a:pt x="235744" y="287734"/>
                                        <a:pt x="221456" y="267731"/>
                                      </a:cubicBezTo>
                                      <a:lnTo>
                                        <a:pt x="328136" y="163909"/>
                                      </a:lnTo>
                                      <a:cubicBezTo>
                                        <a:pt x="364331" y="185816"/>
                                        <a:pt x="411956" y="175339"/>
                                        <a:pt x="433864" y="139144"/>
                                      </a:cubicBezTo>
                                      <a:cubicBezTo>
                                        <a:pt x="436721" y="134381"/>
                                        <a:pt x="438626" y="129619"/>
                                        <a:pt x="440531" y="124856"/>
                                      </a:cubicBezTo>
                                      <a:lnTo>
                                        <a:pt x="529114" y="134381"/>
                                      </a:lnTo>
                                      <a:cubicBezTo>
                                        <a:pt x="531019" y="168671"/>
                                        <a:pt x="548164" y="201056"/>
                                        <a:pt x="575786" y="222011"/>
                                      </a:cubicBezTo>
                                      <a:lnTo>
                                        <a:pt x="497681" y="367744"/>
                                      </a:lnTo>
                                      <a:cubicBezTo>
                                        <a:pt x="435769" y="342979"/>
                                        <a:pt x="364331" y="364886"/>
                                        <a:pt x="325279" y="420131"/>
                                      </a:cubicBezTo>
                                      <a:lnTo>
                                        <a:pt x="325279" y="420131"/>
                                      </a:lnTo>
                                      <a:close/>
                                      <a:moveTo>
                                        <a:pt x="487204" y="455374"/>
                                      </a:moveTo>
                                      <a:cubicBezTo>
                                        <a:pt x="487204" y="478234"/>
                                        <a:pt x="468154" y="496331"/>
                                        <a:pt x="445294" y="496331"/>
                                      </a:cubicBezTo>
                                      <a:cubicBezTo>
                                        <a:pt x="422434" y="496331"/>
                                        <a:pt x="404336" y="478234"/>
                                        <a:pt x="404336" y="455374"/>
                                      </a:cubicBezTo>
                                      <a:cubicBezTo>
                                        <a:pt x="404336" y="432514"/>
                                        <a:pt x="422434" y="414416"/>
                                        <a:pt x="445294" y="414416"/>
                                      </a:cubicBezTo>
                                      <a:cubicBezTo>
                                        <a:pt x="445294" y="414416"/>
                                        <a:pt x="445294" y="414416"/>
                                        <a:pt x="446246" y="414416"/>
                                      </a:cubicBezTo>
                                      <a:cubicBezTo>
                                        <a:pt x="469106" y="414416"/>
                                        <a:pt x="487204" y="432514"/>
                                        <a:pt x="487204" y="455374"/>
                                      </a:cubicBezTo>
                                      <a:lnTo>
                                        <a:pt x="487204" y="455374"/>
                                      </a:lnTo>
                                      <a:close/>
                                      <a:moveTo>
                                        <a:pt x="528161" y="580151"/>
                                      </a:moveTo>
                                      <a:lnTo>
                                        <a:pt x="363379" y="580151"/>
                                      </a:lnTo>
                                      <a:lnTo>
                                        <a:pt x="363379" y="548719"/>
                                      </a:lnTo>
                                      <a:cubicBezTo>
                                        <a:pt x="363379" y="542051"/>
                                        <a:pt x="366236" y="536336"/>
                                        <a:pt x="371951" y="532526"/>
                                      </a:cubicBezTo>
                                      <a:cubicBezTo>
                                        <a:pt x="384334" y="523954"/>
                                        <a:pt x="397669" y="517286"/>
                                        <a:pt x="411956" y="512524"/>
                                      </a:cubicBezTo>
                                      <a:cubicBezTo>
                                        <a:pt x="423386" y="509666"/>
                                        <a:pt x="434816" y="507761"/>
                                        <a:pt x="446246" y="507761"/>
                                      </a:cubicBezTo>
                                      <a:cubicBezTo>
                                        <a:pt x="457676" y="507761"/>
                                        <a:pt x="469106" y="509666"/>
                                        <a:pt x="480536" y="512524"/>
                                      </a:cubicBezTo>
                                      <a:cubicBezTo>
                                        <a:pt x="494824" y="516334"/>
                                        <a:pt x="509111" y="523001"/>
                                        <a:pt x="520541" y="532526"/>
                                      </a:cubicBezTo>
                                      <a:cubicBezTo>
                                        <a:pt x="525304" y="536336"/>
                                        <a:pt x="529114" y="543004"/>
                                        <a:pt x="529114" y="548719"/>
                                      </a:cubicBezTo>
                                      <a:lnTo>
                                        <a:pt x="528161" y="580151"/>
                                      </a:lnTo>
                                      <a:close/>
                                      <a:moveTo>
                                        <a:pt x="663416" y="374411"/>
                                      </a:moveTo>
                                      <a:cubicBezTo>
                                        <a:pt x="663416" y="380126"/>
                                        <a:pt x="664369" y="385841"/>
                                        <a:pt x="666274" y="391556"/>
                                      </a:cubicBezTo>
                                      <a:lnTo>
                                        <a:pt x="578644" y="437276"/>
                                      </a:lnTo>
                                      <a:cubicBezTo>
                                        <a:pt x="568166" y="416321"/>
                                        <a:pt x="551974" y="399176"/>
                                        <a:pt x="532924" y="385841"/>
                                      </a:cubicBezTo>
                                      <a:lnTo>
                                        <a:pt x="611029" y="240109"/>
                                      </a:lnTo>
                                      <a:cubicBezTo>
                                        <a:pt x="623411" y="244871"/>
                                        <a:pt x="636746" y="246776"/>
                                        <a:pt x="650081" y="246776"/>
                                      </a:cubicBezTo>
                                      <a:cubicBezTo>
                                        <a:pt x="657701" y="246776"/>
                                        <a:pt x="665321" y="245824"/>
                                        <a:pt x="672941" y="244871"/>
                                      </a:cubicBezTo>
                                      <a:lnTo>
                                        <a:pt x="697706" y="311546"/>
                                      </a:lnTo>
                                      <a:cubicBezTo>
                                        <a:pt x="674846" y="324881"/>
                                        <a:pt x="662464" y="348694"/>
                                        <a:pt x="663416" y="374411"/>
                                      </a:cubicBezTo>
                                      <a:close/>
                                      <a:moveTo>
                                        <a:pt x="784384" y="412511"/>
                                      </a:moveTo>
                                      <a:lnTo>
                                        <a:pt x="695801" y="412511"/>
                                      </a:lnTo>
                                      <a:lnTo>
                                        <a:pt x="695801" y="395366"/>
                                      </a:lnTo>
                                      <a:cubicBezTo>
                                        <a:pt x="695801" y="391556"/>
                                        <a:pt x="697706" y="388699"/>
                                        <a:pt x="700564" y="386794"/>
                                      </a:cubicBezTo>
                                      <a:cubicBezTo>
                                        <a:pt x="707231" y="382031"/>
                                        <a:pt x="714851" y="378221"/>
                                        <a:pt x="722471" y="376316"/>
                                      </a:cubicBezTo>
                                      <a:cubicBezTo>
                                        <a:pt x="728186" y="374411"/>
                                        <a:pt x="734854" y="373459"/>
                                        <a:pt x="740569" y="373459"/>
                                      </a:cubicBezTo>
                                      <a:cubicBezTo>
                                        <a:pt x="746284" y="373459"/>
                                        <a:pt x="752951" y="374411"/>
                                        <a:pt x="758666" y="376316"/>
                                      </a:cubicBezTo>
                                      <a:cubicBezTo>
                                        <a:pt x="766286" y="378221"/>
                                        <a:pt x="772954" y="382031"/>
                                        <a:pt x="779621" y="386794"/>
                                      </a:cubicBezTo>
                                      <a:cubicBezTo>
                                        <a:pt x="782479" y="388699"/>
                                        <a:pt x="784384" y="392509"/>
                                        <a:pt x="784384" y="395366"/>
                                      </a:cubicBezTo>
                                      <a:lnTo>
                                        <a:pt x="784384" y="412511"/>
                                      </a:lnTo>
                                      <a:close/>
                                    </a:path>
                                  </a:pathLst>
                                </a:custGeom>
                                <a:solidFill>
                                  <a:srgbClr val="000000"/>
                                </a:solidFill>
                                <a:ln>
                                  <a:noFill/>
                                </a:ln>
                              </p:spPr>
                              <p:txBody>
                                <a:bodyPr spcFirstLastPara="1" wrap="square" lIns="91425" tIns="91425" rIns="91425" bIns="91425" anchor="ctr" anchorCtr="0">
                                  <a:noAutofit/>
                                </a:bodyPr>
                                <a:lstStyle/>
                                <a:p>
                                  <a:pPr marL="0" marR="0">
                                    <a:lnSpc>
                                      <a:spcPct val="107000"/>
                                    </a:lnSpc>
                                    <a:spcBef>
                                      <a:spcPts val="0"/>
                                    </a:spcBef>
                                    <a:spcAft>
                                      <a:spcPts val="0"/>
                                    </a:spcAft>
                                  </a:pPr>
                                  <a:r>
                                    <a:rPr lang="en-US" sz="2000">
                                      <a:effectLst/>
                                      <a:latin typeface="Calibri" panose="020F0502020204030204" pitchFamily="34" charset="0"/>
                                      <a:ea typeface="Calibri" panose="020F0502020204030204" pitchFamily="34" charset="0"/>
                                    </a:rPr>
                                    <a:t> </a:t>
                                  </a:r>
                                </a:p>
                              </p:txBody>
                            </p:sp>
                          </p:grpSp>
                        </p:grpSp>
                      </p:grpSp>
                      <p:sp>
                        <p:nvSpPr>
                          <p:cNvPr id="53" name="Rectangle 52">
                            <a:extLst>
                              <a:ext uri="{FF2B5EF4-FFF2-40B4-BE49-F238E27FC236}">
                                <a16:creationId xmlns:a16="http://schemas.microsoft.com/office/drawing/2014/main" id="{FE870529-7DC3-4148-BB19-19DF27A3D98B}"/>
                              </a:ext>
                            </a:extLst>
                          </p:cNvPr>
                          <p:cNvSpPr/>
                          <p:nvPr/>
                        </p:nvSpPr>
                        <p:spPr>
                          <a:xfrm>
                            <a:off x="1314450" y="153355"/>
                            <a:ext cx="2552700" cy="352425"/>
                          </a:xfrm>
                          <a:prstGeom prst="rect">
                            <a:avLst/>
                          </a:prstGeom>
                          <a:noFill/>
                          <a:ln>
                            <a:noFill/>
                          </a:ln>
                        </p:spPr>
                        <p:txBody>
                          <a:bodyPr spcFirstLastPara="1" wrap="square" lIns="91425" tIns="45700" rIns="91425" bIns="45700" anchor="t" anchorCtr="0">
                            <a:noAutofit/>
                          </a:bodyPr>
                          <a:lstStyle/>
                          <a:p>
                            <a:pPr marL="0" marR="0">
                              <a:lnSpc>
                                <a:spcPct val="107000"/>
                              </a:lnSpc>
                              <a:spcBef>
                                <a:spcPts val="0"/>
                              </a:spcBef>
                              <a:spcAft>
                                <a:spcPts val="800"/>
                              </a:spcAft>
                            </a:pPr>
                            <a:r>
                              <a:rPr lang="en-US" sz="2000" dirty="0">
                                <a:solidFill>
                                  <a:srgbClr val="C00000"/>
                                </a:solidFill>
                                <a:effectLst/>
                                <a:latin typeface="Calibri" panose="020F0502020204030204" pitchFamily="34" charset="0"/>
                                <a:ea typeface="Calibri" panose="020F0502020204030204" pitchFamily="34" charset="0"/>
                              </a:rPr>
                              <a:t>Generative Agent-Based Model (GABM)</a:t>
                            </a:r>
                            <a:endParaRPr lang="en-US" sz="2000" dirty="0">
                              <a:effectLst/>
                              <a:latin typeface="Calibri" panose="020F0502020204030204" pitchFamily="34" charset="0"/>
                              <a:ea typeface="Calibri" panose="020F0502020204030204" pitchFamily="34" charset="0"/>
                            </a:endParaRPr>
                          </a:p>
                        </p:txBody>
                      </p:sp>
                    </p:grpSp>
                  </p:grpSp>
                </p:grpSp>
              </p:grpSp>
            </p:grpSp>
          </p:grpSp>
        </p:grpSp>
      </p:grpSp>
      <p:sp>
        <p:nvSpPr>
          <p:cNvPr id="6" name="Content Placeholder 5">
            <a:extLst>
              <a:ext uri="{FF2B5EF4-FFF2-40B4-BE49-F238E27FC236}">
                <a16:creationId xmlns:a16="http://schemas.microsoft.com/office/drawing/2014/main" id="{C219D165-1536-4227-9A1C-E233B8555DF2}"/>
              </a:ext>
            </a:extLst>
          </p:cNvPr>
          <p:cNvSpPr>
            <a:spLocks noGrp="1"/>
          </p:cNvSpPr>
          <p:nvPr>
            <p:ph idx="1"/>
          </p:nvPr>
        </p:nvSpPr>
        <p:spPr>
          <a:xfrm>
            <a:off x="506905" y="5332377"/>
            <a:ext cx="11352362" cy="852741"/>
          </a:xfrm>
        </p:spPr>
        <p:txBody>
          <a:bodyPr>
            <a:normAutofit lnSpcReduction="10000"/>
          </a:bodyPr>
          <a:lstStyle/>
          <a:p>
            <a:pPr marL="0" indent="0">
              <a:buNone/>
            </a:pPr>
            <a:r>
              <a:rPr lang="en-US" b="1" dirty="0"/>
              <a:t>GABM: </a:t>
            </a:r>
            <a:r>
              <a:rPr lang="en-US" dirty="0"/>
              <a:t>coupling a model of decision (LLM) and a mechanistic model of agents’ interactions</a:t>
            </a:r>
          </a:p>
        </p:txBody>
      </p:sp>
    </p:spTree>
    <p:extLst>
      <p:ext uri="{BB962C8B-B14F-4D97-AF65-F5344CB8AC3E}">
        <p14:creationId xmlns:p14="http://schemas.microsoft.com/office/powerpoint/2010/main" val="3075836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23" name="MEET OUR TEAM">
            <a:extLst>
              <a:ext uri="{FF2B5EF4-FFF2-40B4-BE49-F238E27FC236}">
                <a16:creationId xmlns:a16="http://schemas.microsoft.com/office/drawing/2014/main" id="{E3365DE4-8A2E-5142-8B94-0FDEBECD92AC}"/>
              </a:ext>
            </a:extLst>
          </p:cNvPr>
          <p:cNvSpPr/>
          <p:nvPr/>
        </p:nvSpPr>
        <p:spPr>
          <a:xfrm>
            <a:off x="627676" y="-216976"/>
            <a:ext cx="10826223" cy="1066927"/>
          </a:xfrm>
          <a:prstGeom prst="rect">
            <a:avLst/>
          </a:prstGeom>
          <a:ln w="12700">
            <a:miter lim="400000"/>
          </a:ln>
          <a:extLst>
            <a:ext uri="{C572A759-6A51-4108-AA02-DFA0A04FC94B}">
              <ma14:wrappingTextBoxFlag xmlns="" xmlns:ma14="http://schemas.microsoft.com/office/mac/drawingml/2011/main" val="1"/>
            </a:ext>
          </a:extLst>
        </p:spPr>
        <p:txBody>
          <a:bodyPr lIns="45719" rIns="45719"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marL="0" marR="0" lvl="0" indent="0" algn="l" defTabSz="859536" rtl="0" eaLnBrk="1" fontAlgn="auto" latinLnBrk="0" hangingPunct="0">
              <a:lnSpc>
                <a:spcPct val="9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Summary </a:t>
            </a:r>
          </a:p>
        </p:txBody>
      </p:sp>
      <p:grpSp>
        <p:nvGrpSpPr>
          <p:cNvPr id="4" name="Group 3">
            <a:extLst>
              <a:ext uri="{FF2B5EF4-FFF2-40B4-BE49-F238E27FC236}">
                <a16:creationId xmlns:a16="http://schemas.microsoft.com/office/drawing/2014/main" id="{90806064-DE4C-897D-BBCE-C4E41CD2A26C}"/>
              </a:ext>
            </a:extLst>
          </p:cNvPr>
          <p:cNvGrpSpPr/>
          <p:nvPr/>
        </p:nvGrpSpPr>
        <p:grpSpPr>
          <a:xfrm>
            <a:off x="302319" y="2628282"/>
            <a:ext cx="3084716" cy="2633342"/>
            <a:chOff x="302319" y="2628282"/>
            <a:chExt cx="3084716" cy="2633342"/>
          </a:xfrm>
        </p:grpSpPr>
        <p:sp>
          <p:nvSpPr>
            <p:cNvPr id="82" name="TextBox 81">
              <a:extLst>
                <a:ext uri="{FF2B5EF4-FFF2-40B4-BE49-F238E27FC236}">
                  <a16:creationId xmlns:a16="http://schemas.microsoft.com/office/drawing/2014/main" id="{D2782D19-0FC3-8DAD-C684-6D398F11B9E1}"/>
                </a:ext>
              </a:extLst>
            </p:cNvPr>
            <p:cNvSpPr txBox="1"/>
            <p:nvPr/>
          </p:nvSpPr>
          <p:spPr>
            <a:xfrm>
              <a:off x="302319" y="4061297"/>
              <a:ext cx="3084716" cy="1200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hangingPunct="0"/>
              <a:r>
                <a:rPr lang="en-US" sz="2400" b="1" dirty="0">
                  <a:solidFill>
                    <a:schemeClr val="accent1"/>
                  </a:solidFill>
                  <a:latin typeface="Arial" panose="020B0604020202020204" pitchFamily="34" charset="0"/>
                  <a:ea typeface="+mj-ea"/>
                  <a:cs typeface="Arial" panose="020B0604020202020204" pitchFamily="34" charset="0"/>
                  <a:sym typeface="Calibri"/>
                </a:rPr>
                <a:t>What is generative agent-based modeling?</a:t>
              </a:r>
              <a:endParaRPr kumimoji="0" lang="en-US" sz="2400" b="1" i="0" u="none" strike="noStrike" cap="none" spc="0" normalizeH="0" baseline="0" dirty="0">
                <a:ln>
                  <a:noFill/>
                </a:ln>
                <a:solidFill>
                  <a:schemeClr val="accent1"/>
                </a:solidFill>
                <a:effectLst/>
                <a:uFillTx/>
                <a:latin typeface="Arial" panose="020B0604020202020204" pitchFamily="34" charset="0"/>
                <a:ea typeface="+mj-ea"/>
                <a:cs typeface="Arial" panose="020B0604020202020204" pitchFamily="34" charset="0"/>
                <a:sym typeface="Calibri"/>
              </a:endParaRPr>
            </a:p>
          </p:txBody>
        </p:sp>
        <p:pic>
          <p:nvPicPr>
            <p:cNvPr id="3" name="Picture 2">
              <a:extLst>
                <a:ext uri="{FF2B5EF4-FFF2-40B4-BE49-F238E27FC236}">
                  <a16:creationId xmlns:a16="http://schemas.microsoft.com/office/drawing/2014/main" id="{D170B301-1A12-5D51-70E3-613C771CCE38}"/>
                </a:ext>
              </a:extLst>
            </p:cNvPr>
            <p:cNvPicPr>
              <a:picLocks noChangeAspect="1"/>
            </p:cNvPicPr>
            <p:nvPr/>
          </p:nvPicPr>
          <p:blipFill>
            <a:blip r:embed="rId4"/>
            <a:stretch>
              <a:fillRect/>
            </a:stretch>
          </p:blipFill>
          <p:spPr>
            <a:xfrm>
              <a:off x="400179" y="2628282"/>
              <a:ext cx="2986856" cy="1136125"/>
            </a:xfrm>
            <a:prstGeom prst="rect">
              <a:avLst/>
            </a:prstGeom>
          </p:spPr>
        </p:pic>
      </p:grpSp>
      <p:grpSp>
        <p:nvGrpSpPr>
          <p:cNvPr id="5" name="Group 4">
            <a:extLst>
              <a:ext uri="{FF2B5EF4-FFF2-40B4-BE49-F238E27FC236}">
                <a16:creationId xmlns:a16="http://schemas.microsoft.com/office/drawing/2014/main" id="{1422F520-1C05-CB69-9392-F5F5F6CCB9E6}"/>
              </a:ext>
            </a:extLst>
          </p:cNvPr>
          <p:cNvGrpSpPr/>
          <p:nvPr/>
        </p:nvGrpSpPr>
        <p:grpSpPr>
          <a:xfrm>
            <a:off x="3976295" y="1213728"/>
            <a:ext cx="3711196" cy="3726109"/>
            <a:chOff x="3976295" y="1213728"/>
            <a:chExt cx="3711196" cy="3726109"/>
          </a:xfrm>
        </p:grpSpPr>
        <p:sp>
          <p:nvSpPr>
            <p:cNvPr id="85" name="TextBox 84">
              <a:extLst>
                <a:ext uri="{FF2B5EF4-FFF2-40B4-BE49-F238E27FC236}">
                  <a16:creationId xmlns:a16="http://schemas.microsoft.com/office/drawing/2014/main" id="{4CE259E7-DA1A-E5F3-542C-E8F69F7AE4B0}"/>
                </a:ext>
              </a:extLst>
            </p:cNvPr>
            <p:cNvSpPr txBox="1"/>
            <p:nvPr/>
          </p:nvSpPr>
          <p:spPr>
            <a:xfrm>
              <a:off x="4185679" y="4108842"/>
              <a:ext cx="3292427" cy="830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hangingPunct="0"/>
              <a:r>
                <a:rPr lang="en-US" sz="2400" b="1" dirty="0">
                  <a:solidFill>
                    <a:schemeClr val="accent1"/>
                  </a:solidFill>
                  <a:latin typeface="Arial" panose="020B0604020202020204" pitchFamily="34" charset="0"/>
                  <a:ea typeface="+mj-ea"/>
                  <a:cs typeface="Arial" panose="020B0604020202020204" pitchFamily="34" charset="0"/>
                  <a:sym typeface="Calibri"/>
                </a:rPr>
                <a:t>Our generative agent epidemic model</a:t>
              </a:r>
              <a:endParaRPr kumimoji="0" lang="en-US" sz="2400" b="1" i="0" u="none" strike="noStrike" cap="none" spc="0" normalizeH="0" baseline="0" dirty="0">
                <a:ln>
                  <a:noFill/>
                </a:ln>
                <a:solidFill>
                  <a:schemeClr val="accent1"/>
                </a:solidFill>
                <a:effectLst/>
                <a:uFillTx/>
                <a:latin typeface="Arial" panose="020B0604020202020204" pitchFamily="34" charset="0"/>
                <a:ea typeface="+mj-ea"/>
                <a:cs typeface="Arial" panose="020B0604020202020204" pitchFamily="34" charset="0"/>
                <a:sym typeface="Calibri"/>
              </a:endParaRPr>
            </a:p>
          </p:txBody>
        </p:sp>
        <p:pic>
          <p:nvPicPr>
            <p:cNvPr id="7" name="Picture 6">
              <a:extLst>
                <a:ext uri="{FF2B5EF4-FFF2-40B4-BE49-F238E27FC236}">
                  <a16:creationId xmlns:a16="http://schemas.microsoft.com/office/drawing/2014/main" id="{8E630E28-59D6-D7D3-627E-D8EF9CC9EA83}"/>
                </a:ext>
              </a:extLst>
            </p:cNvPr>
            <p:cNvPicPr>
              <a:picLocks noChangeAspect="1"/>
            </p:cNvPicPr>
            <p:nvPr/>
          </p:nvPicPr>
          <p:blipFill>
            <a:blip r:embed="rId5"/>
            <a:stretch>
              <a:fillRect/>
            </a:stretch>
          </p:blipFill>
          <p:spPr>
            <a:xfrm>
              <a:off x="3976295" y="1213728"/>
              <a:ext cx="3711196" cy="2550679"/>
            </a:xfrm>
            <a:prstGeom prst="rect">
              <a:avLst/>
            </a:prstGeom>
          </p:spPr>
        </p:pic>
      </p:grpSp>
    </p:spTree>
    <p:extLst>
      <p:ext uri="{BB962C8B-B14F-4D97-AF65-F5344CB8AC3E}">
        <p14:creationId xmlns:p14="http://schemas.microsoft.com/office/powerpoint/2010/main" val="12002056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23" name="MEET OUR TEAM">
            <a:extLst>
              <a:ext uri="{FF2B5EF4-FFF2-40B4-BE49-F238E27FC236}">
                <a16:creationId xmlns:a16="http://schemas.microsoft.com/office/drawing/2014/main" id="{E3365DE4-8A2E-5142-8B94-0FDEBECD92AC}"/>
              </a:ext>
            </a:extLst>
          </p:cNvPr>
          <p:cNvSpPr/>
          <p:nvPr/>
        </p:nvSpPr>
        <p:spPr>
          <a:xfrm>
            <a:off x="627676" y="-216976"/>
            <a:ext cx="10826223" cy="1066927"/>
          </a:xfrm>
          <a:prstGeom prst="rect">
            <a:avLst/>
          </a:prstGeom>
          <a:ln w="12700">
            <a:miter lim="400000"/>
          </a:ln>
          <a:extLst>
            <a:ext uri="{C572A759-6A51-4108-AA02-DFA0A04FC94B}">
              <ma14:wrappingTextBoxFlag xmlns="" xmlns:ma14="http://schemas.microsoft.com/office/mac/drawingml/2011/main" val="1"/>
            </a:ext>
          </a:extLst>
        </p:spPr>
        <p:txBody>
          <a:bodyPr lIns="45719" rIns="45719"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marL="0" marR="0" lvl="0" indent="0" algn="l" defTabSz="859536" rtl="0" eaLnBrk="1" fontAlgn="auto" latinLnBrk="0" hangingPunct="0">
              <a:lnSpc>
                <a:spcPct val="9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What is our </a:t>
            </a:r>
            <a:r>
              <a:rPr lang="en-US" sz="3200" b="1" kern="0" spc="0" dirty="0">
                <a:solidFill>
                  <a:srgbClr val="861F41"/>
                </a:solidFill>
                <a:latin typeface="Arial" panose="020B0604020202020204" pitchFamily="34" charset="0"/>
                <a:cs typeface="Arial" panose="020B0604020202020204" pitchFamily="34" charset="0"/>
              </a:rPr>
              <a:t>g</a:t>
            </a:r>
            <a:r>
              <a:rPr kumimoji="0" lang="en-US" sz="3200" b="1" i="0" u="none" strike="noStrike" kern="0" cap="none" spc="0" normalizeH="0" baseline="0" noProof="0" dirty="0" err="1">
                <a:ln>
                  <a:noFill/>
                </a:ln>
                <a:solidFill>
                  <a:srgbClr val="861F41"/>
                </a:solidFill>
                <a:effectLst/>
                <a:uLnTx/>
                <a:uFillTx/>
                <a:latin typeface="Arial" panose="020B0604020202020204" pitchFamily="34" charset="0"/>
                <a:cs typeface="Arial" panose="020B0604020202020204" pitchFamily="34" charset="0"/>
                <a:sym typeface="Acherus Grotesque"/>
              </a:rPr>
              <a:t>enerative</a:t>
            </a: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 agent </a:t>
            </a:r>
            <a:r>
              <a:rPr lang="en-US" sz="3200" b="1" kern="0" spc="0" dirty="0">
                <a:solidFill>
                  <a:srgbClr val="861F41"/>
                </a:solidFill>
                <a:latin typeface="Arial" panose="020B0604020202020204" pitchFamily="34" charset="0"/>
                <a:cs typeface="Arial" panose="020B0604020202020204" pitchFamily="34" charset="0"/>
              </a:rPr>
              <a:t>e</a:t>
            </a:r>
            <a:r>
              <a:rPr kumimoji="0" lang="en-US" sz="3200" b="1" i="0" u="none" strike="noStrike" kern="0" cap="none" spc="0" normalizeH="0" baseline="0" noProof="0" dirty="0" err="1">
                <a:ln>
                  <a:noFill/>
                </a:ln>
                <a:solidFill>
                  <a:srgbClr val="861F41"/>
                </a:solidFill>
                <a:effectLst/>
                <a:uLnTx/>
                <a:uFillTx/>
                <a:latin typeface="Arial" panose="020B0604020202020204" pitchFamily="34" charset="0"/>
                <a:cs typeface="Arial" panose="020B0604020202020204" pitchFamily="34" charset="0"/>
                <a:sym typeface="Acherus Grotesque"/>
              </a:rPr>
              <a:t>pidemic</a:t>
            </a: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 model?</a:t>
            </a:r>
          </a:p>
        </p:txBody>
      </p:sp>
      <p:pic>
        <p:nvPicPr>
          <p:cNvPr id="4" name="Picture 3">
            <a:extLst>
              <a:ext uri="{FF2B5EF4-FFF2-40B4-BE49-F238E27FC236}">
                <a16:creationId xmlns:a16="http://schemas.microsoft.com/office/drawing/2014/main" id="{9333BD8C-8245-53B1-3798-2658D26783B3}"/>
              </a:ext>
            </a:extLst>
          </p:cNvPr>
          <p:cNvPicPr>
            <a:picLocks noChangeAspect="1"/>
          </p:cNvPicPr>
          <p:nvPr/>
        </p:nvPicPr>
        <p:blipFill>
          <a:blip r:embed="rId4"/>
          <a:stretch>
            <a:fillRect/>
          </a:stretch>
        </p:blipFill>
        <p:spPr>
          <a:xfrm>
            <a:off x="7981406" y="2655124"/>
            <a:ext cx="3890156" cy="1547752"/>
          </a:xfrm>
          <a:prstGeom prst="rect">
            <a:avLst/>
          </a:prstGeom>
        </p:spPr>
      </p:pic>
      <p:pic>
        <p:nvPicPr>
          <p:cNvPr id="5" name="Picture 4">
            <a:extLst>
              <a:ext uri="{FF2B5EF4-FFF2-40B4-BE49-F238E27FC236}">
                <a16:creationId xmlns:a16="http://schemas.microsoft.com/office/drawing/2014/main" id="{FF35A16C-8B5C-1402-3E39-CA9EFABAB92E}"/>
              </a:ext>
            </a:extLst>
          </p:cNvPr>
          <p:cNvPicPr>
            <a:picLocks noChangeAspect="1"/>
          </p:cNvPicPr>
          <p:nvPr/>
        </p:nvPicPr>
        <p:blipFill>
          <a:blip r:embed="rId5"/>
          <a:stretch>
            <a:fillRect/>
          </a:stretch>
        </p:blipFill>
        <p:spPr>
          <a:xfrm>
            <a:off x="400179" y="1063434"/>
            <a:ext cx="7428497" cy="5013529"/>
          </a:xfrm>
          <a:prstGeom prst="rect">
            <a:avLst/>
          </a:prstGeom>
        </p:spPr>
      </p:pic>
    </p:spTree>
    <p:extLst>
      <p:ext uri="{BB962C8B-B14F-4D97-AF65-F5344CB8AC3E}">
        <p14:creationId xmlns:p14="http://schemas.microsoft.com/office/powerpoint/2010/main" val="33924877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pic>
        <p:nvPicPr>
          <p:cNvPr id="5" name="Picture 4">
            <a:extLst>
              <a:ext uri="{FF2B5EF4-FFF2-40B4-BE49-F238E27FC236}">
                <a16:creationId xmlns:a16="http://schemas.microsoft.com/office/drawing/2014/main" id="{FF35A16C-8B5C-1402-3E39-CA9EFABAB92E}"/>
              </a:ext>
            </a:extLst>
          </p:cNvPr>
          <p:cNvPicPr>
            <a:picLocks noChangeAspect="1"/>
          </p:cNvPicPr>
          <p:nvPr/>
        </p:nvPicPr>
        <p:blipFill>
          <a:blip r:embed="rId4"/>
          <a:stretch>
            <a:fillRect/>
          </a:stretch>
        </p:blipFill>
        <p:spPr>
          <a:xfrm>
            <a:off x="1675516" y="849951"/>
            <a:ext cx="3869484" cy="2611534"/>
          </a:xfrm>
          <a:prstGeom prst="rect">
            <a:avLst/>
          </a:prstGeom>
        </p:spPr>
      </p:pic>
      <p:pic>
        <p:nvPicPr>
          <p:cNvPr id="3" name="Picture 2">
            <a:extLst>
              <a:ext uri="{FF2B5EF4-FFF2-40B4-BE49-F238E27FC236}">
                <a16:creationId xmlns:a16="http://schemas.microsoft.com/office/drawing/2014/main" id="{D316F746-3715-581A-13C8-21A2C5A193AA}"/>
              </a:ext>
            </a:extLst>
          </p:cNvPr>
          <p:cNvPicPr>
            <a:picLocks noChangeAspect="1"/>
          </p:cNvPicPr>
          <p:nvPr/>
        </p:nvPicPr>
        <p:blipFill>
          <a:blip r:embed="rId5"/>
          <a:stretch>
            <a:fillRect/>
          </a:stretch>
        </p:blipFill>
        <p:spPr>
          <a:xfrm>
            <a:off x="627676" y="3583589"/>
            <a:ext cx="5965164" cy="3092021"/>
          </a:xfrm>
          <a:prstGeom prst="rect">
            <a:avLst/>
          </a:prstGeom>
        </p:spPr>
      </p:pic>
      <p:pic>
        <p:nvPicPr>
          <p:cNvPr id="4" name="Picture 3">
            <a:extLst>
              <a:ext uri="{FF2B5EF4-FFF2-40B4-BE49-F238E27FC236}">
                <a16:creationId xmlns:a16="http://schemas.microsoft.com/office/drawing/2014/main" id="{D7AAB68B-43BE-5B17-938C-9C978A06B3D7}"/>
              </a:ext>
            </a:extLst>
          </p:cNvPr>
          <p:cNvPicPr>
            <a:picLocks noChangeAspect="1"/>
          </p:cNvPicPr>
          <p:nvPr/>
        </p:nvPicPr>
        <p:blipFill>
          <a:blip r:embed="rId6"/>
          <a:stretch>
            <a:fillRect/>
          </a:stretch>
        </p:blipFill>
        <p:spPr>
          <a:xfrm>
            <a:off x="7267587" y="849951"/>
            <a:ext cx="3991330" cy="5821724"/>
          </a:xfrm>
          <a:prstGeom prst="rect">
            <a:avLst/>
          </a:prstGeom>
        </p:spPr>
      </p:pic>
      <p:sp>
        <p:nvSpPr>
          <p:cNvPr id="14" name="MEET OUR TEAM">
            <a:extLst>
              <a:ext uri="{FF2B5EF4-FFF2-40B4-BE49-F238E27FC236}">
                <a16:creationId xmlns:a16="http://schemas.microsoft.com/office/drawing/2014/main" id="{58A4615E-0D05-CF5D-9595-2B44F20A207D}"/>
              </a:ext>
            </a:extLst>
          </p:cNvPr>
          <p:cNvSpPr/>
          <p:nvPr/>
        </p:nvSpPr>
        <p:spPr>
          <a:xfrm>
            <a:off x="627676" y="-216976"/>
            <a:ext cx="10826223" cy="1066927"/>
          </a:xfrm>
          <a:prstGeom prst="rect">
            <a:avLst/>
          </a:prstGeom>
          <a:ln w="12700">
            <a:miter lim="400000"/>
          </a:ln>
          <a:extLst>
            <a:ext uri="{C572A759-6A51-4108-AA02-DFA0A04FC94B}">
              <ma14:wrappingTextBoxFlag xmlns="" xmlns:ma14="http://schemas.microsoft.com/office/mac/drawingml/2011/main" val="1"/>
            </a:ext>
          </a:extLst>
        </p:spPr>
        <p:txBody>
          <a:bodyPr lIns="45719" rIns="45719"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marL="0" marR="0" lvl="0" indent="0" algn="l" defTabSz="859536" rtl="0" eaLnBrk="1" fontAlgn="auto" latinLnBrk="0" hangingPunct="0">
              <a:lnSpc>
                <a:spcPct val="9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Prompt for </a:t>
            </a:r>
            <a:r>
              <a:rPr lang="en-US" sz="3200" b="1" kern="0" spc="0" dirty="0">
                <a:solidFill>
                  <a:srgbClr val="861F41"/>
                </a:solidFill>
                <a:latin typeface="Arial" panose="020B0604020202020204" pitchFamily="34" charset="0"/>
                <a:cs typeface="Arial" panose="020B0604020202020204" pitchFamily="34" charset="0"/>
              </a:rPr>
              <a:t>g</a:t>
            </a:r>
            <a:r>
              <a:rPr kumimoji="0" lang="en-US" sz="3200" b="1" i="0" u="none" strike="noStrike" kern="0" cap="none" spc="0" normalizeH="0" baseline="0" noProof="0" dirty="0" err="1">
                <a:ln>
                  <a:noFill/>
                </a:ln>
                <a:solidFill>
                  <a:srgbClr val="861F41"/>
                </a:solidFill>
                <a:effectLst/>
                <a:uLnTx/>
                <a:uFillTx/>
                <a:latin typeface="Arial" panose="020B0604020202020204" pitchFamily="34" charset="0"/>
                <a:cs typeface="Arial" panose="020B0604020202020204" pitchFamily="34" charset="0"/>
                <a:sym typeface="Acherus Grotesque"/>
              </a:rPr>
              <a:t>enerative</a:t>
            </a: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 agent </a:t>
            </a:r>
            <a:r>
              <a:rPr lang="en-US" sz="3200" b="1" kern="0" spc="0" dirty="0">
                <a:solidFill>
                  <a:srgbClr val="861F41"/>
                </a:solidFill>
                <a:latin typeface="Arial" panose="020B0604020202020204" pitchFamily="34" charset="0"/>
                <a:cs typeface="Arial" panose="020B0604020202020204" pitchFamily="34" charset="0"/>
              </a:rPr>
              <a:t>e</a:t>
            </a:r>
            <a:r>
              <a:rPr kumimoji="0" lang="en-US" sz="3200" b="1" i="0" u="none" strike="noStrike" kern="0" cap="none" spc="0" normalizeH="0" baseline="0" noProof="0" dirty="0" err="1">
                <a:ln>
                  <a:noFill/>
                </a:ln>
                <a:solidFill>
                  <a:srgbClr val="861F41"/>
                </a:solidFill>
                <a:effectLst/>
                <a:uLnTx/>
                <a:uFillTx/>
                <a:latin typeface="Arial" panose="020B0604020202020204" pitchFamily="34" charset="0"/>
                <a:cs typeface="Arial" panose="020B0604020202020204" pitchFamily="34" charset="0"/>
                <a:sym typeface="Acherus Grotesque"/>
              </a:rPr>
              <a:t>pidemic</a:t>
            </a: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 model</a:t>
            </a:r>
          </a:p>
        </p:txBody>
      </p:sp>
    </p:spTree>
    <p:extLst>
      <p:ext uri="{BB962C8B-B14F-4D97-AF65-F5344CB8AC3E}">
        <p14:creationId xmlns:p14="http://schemas.microsoft.com/office/powerpoint/2010/main" val="1321852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14" name="MEET OUR TEAM">
            <a:extLst>
              <a:ext uri="{FF2B5EF4-FFF2-40B4-BE49-F238E27FC236}">
                <a16:creationId xmlns:a16="http://schemas.microsoft.com/office/drawing/2014/main" id="{58A4615E-0D05-CF5D-9595-2B44F20A207D}"/>
              </a:ext>
            </a:extLst>
          </p:cNvPr>
          <p:cNvSpPr/>
          <p:nvPr/>
        </p:nvSpPr>
        <p:spPr>
          <a:xfrm>
            <a:off x="627676" y="-216976"/>
            <a:ext cx="10826223" cy="1066927"/>
          </a:xfrm>
          <a:prstGeom prst="rect">
            <a:avLst/>
          </a:prstGeom>
          <a:ln w="12700">
            <a:miter lim="400000"/>
          </a:ln>
          <a:extLst>
            <a:ext uri="{C572A759-6A51-4108-AA02-DFA0A04FC94B}">
              <ma14:wrappingTextBoxFlag xmlns="" xmlns:ma14="http://schemas.microsoft.com/office/mac/drawingml/2011/main" val="1"/>
            </a:ext>
          </a:extLst>
        </p:spPr>
        <p:txBody>
          <a:bodyPr lIns="45719" rIns="45719"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marL="0" marR="0" lvl="0" indent="0" algn="l" defTabSz="859536" rtl="0" eaLnBrk="1" fontAlgn="auto" latinLnBrk="0" hangingPunct="0">
              <a:lnSpc>
                <a:spcPct val="9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Agents are sensitive to societal &amp; self</a:t>
            </a:r>
            <a:r>
              <a:rPr lang="en-US" sz="3200" b="1" kern="0" spc="0" dirty="0">
                <a:solidFill>
                  <a:srgbClr val="861F41"/>
                </a:solidFill>
                <a:latin typeface="Arial" panose="020B0604020202020204" pitchFamily="34" charset="0"/>
                <a:cs typeface="Arial" panose="020B0604020202020204" pitchFamily="34" charset="0"/>
              </a:rPr>
              <a:t>-</a:t>
            </a: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health info</a:t>
            </a:r>
          </a:p>
        </p:txBody>
      </p:sp>
      <p:pic>
        <p:nvPicPr>
          <p:cNvPr id="6" name="Picture 5">
            <a:extLst>
              <a:ext uri="{FF2B5EF4-FFF2-40B4-BE49-F238E27FC236}">
                <a16:creationId xmlns:a16="http://schemas.microsoft.com/office/drawing/2014/main" id="{6C4DC9C9-D70C-C9FA-8EB3-7838CEF8B480}"/>
              </a:ext>
            </a:extLst>
          </p:cNvPr>
          <p:cNvPicPr>
            <a:picLocks noChangeAspect="1"/>
          </p:cNvPicPr>
          <p:nvPr/>
        </p:nvPicPr>
        <p:blipFill rotWithShape="1">
          <a:blip r:embed="rId4"/>
          <a:srcRect r="53321"/>
          <a:stretch/>
        </p:blipFill>
        <p:spPr>
          <a:xfrm>
            <a:off x="400179" y="932748"/>
            <a:ext cx="5898453" cy="2887473"/>
          </a:xfrm>
          <a:prstGeom prst="rect">
            <a:avLst/>
          </a:prstGeom>
        </p:spPr>
      </p:pic>
      <p:pic>
        <p:nvPicPr>
          <p:cNvPr id="15" name="Picture 14">
            <a:extLst>
              <a:ext uri="{FF2B5EF4-FFF2-40B4-BE49-F238E27FC236}">
                <a16:creationId xmlns:a16="http://schemas.microsoft.com/office/drawing/2014/main" id="{F5572B37-A367-C964-F1E3-BD806F4AE0A2}"/>
              </a:ext>
            </a:extLst>
          </p:cNvPr>
          <p:cNvPicPr>
            <a:picLocks noChangeAspect="1"/>
          </p:cNvPicPr>
          <p:nvPr/>
        </p:nvPicPr>
        <p:blipFill rotWithShape="1">
          <a:blip r:embed="rId5"/>
          <a:srcRect r="53321"/>
          <a:stretch/>
        </p:blipFill>
        <p:spPr>
          <a:xfrm>
            <a:off x="6298632" y="932748"/>
            <a:ext cx="5691116" cy="2804606"/>
          </a:xfrm>
          <a:prstGeom prst="rect">
            <a:avLst/>
          </a:prstGeom>
        </p:spPr>
      </p:pic>
      <p:sp>
        <p:nvSpPr>
          <p:cNvPr id="16" name="TextBox 15">
            <a:extLst>
              <a:ext uri="{FF2B5EF4-FFF2-40B4-BE49-F238E27FC236}">
                <a16:creationId xmlns:a16="http://schemas.microsoft.com/office/drawing/2014/main" id="{77D2D309-C315-8891-28AF-47359446D850}"/>
              </a:ext>
            </a:extLst>
          </p:cNvPr>
          <p:cNvSpPr txBox="1"/>
          <p:nvPr/>
        </p:nvSpPr>
        <p:spPr>
          <a:xfrm>
            <a:off x="10071100" y="296936"/>
            <a:ext cx="2014182" cy="7078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kumimoji="0" lang="en-US" sz="2000" b="1" i="0" u="none" strike="noStrike" kern="0" cap="none" spc="0" normalizeH="0" baseline="0" noProof="0" dirty="0">
                <a:ln>
                  <a:noFill/>
                </a:ln>
                <a:solidFill>
                  <a:schemeClr val="accent2"/>
                </a:solidFill>
                <a:effectLst/>
                <a:uLnTx/>
                <a:uFillTx/>
                <a:latin typeface="Arial" panose="020B0604020202020204" pitchFamily="34" charset="0"/>
                <a:cs typeface="Arial" panose="020B0604020202020204" pitchFamily="34" charset="0"/>
                <a:sym typeface="Acherus Grotesque"/>
              </a:rPr>
              <a:t>100 Agents, 10 runs, 80% CI</a:t>
            </a:r>
            <a:endParaRPr lang="en-US" sz="2000" dirty="0">
              <a:solidFill>
                <a:schemeClr val="accent2"/>
              </a:solidFill>
            </a:endParaRPr>
          </a:p>
        </p:txBody>
      </p:sp>
      <p:grpSp>
        <p:nvGrpSpPr>
          <p:cNvPr id="18" name="Group 17">
            <a:extLst>
              <a:ext uri="{FF2B5EF4-FFF2-40B4-BE49-F238E27FC236}">
                <a16:creationId xmlns:a16="http://schemas.microsoft.com/office/drawing/2014/main" id="{7A6FB489-2E9C-A5A4-96CC-D783DA5A0DEF}"/>
              </a:ext>
            </a:extLst>
          </p:cNvPr>
          <p:cNvGrpSpPr/>
          <p:nvPr/>
        </p:nvGrpSpPr>
        <p:grpSpPr>
          <a:xfrm>
            <a:off x="5671468" y="3820221"/>
            <a:ext cx="6520532" cy="3092021"/>
            <a:chOff x="0" y="3879121"/>
            <a:chExt cx="7103660" cy="3108532"/>
          </a:xfrm>
        </p:grpSpPr>
        <p:pic>
          <p:nvPicPr>
            <p:cNvPr id="19" name="Picture 18">
              <a:extLst>
                <a:ext uri="{FF2B5EF4-FFF2-40B4-BE49-F238E27FC236}">
                  <a16:creationId xmlns:a16="http://schemas.microsoft.com/office/drawing/2014/main" id="{6B8D7472-D396-CC0C-F90D-E13FD5F9ABF2}"/>
                </a:ext>
              </a:extLst>
            </p:cNvPr>
            <p:cNvPicPr>
              <a:picLocks noChangeAspect="1"/>
            </p:cNvPicPr>
            <p:nvPr/>
          </p:nvPicPr>
          <p:blipFill rotWithShape="1">
            <a:blip r:embed="rId6"/>
            <a:srcRect r="43750"/>
            <a:stretch/>
          </p:blipFill>
          <p:spPr>
            <a:xfrm>
              <a:off x="0" y="3879121"/>
              <a:ext cx="6858000" cy="2978879"/>
            </a:xfrm>
            <a:prstGeom prst="rect">
              <a:avLst/>
            </a:prstGeom>
          </p:spPr>
        </p:pic>
        <p:sp>
          <p:nvSpPr>
            <p:cNvPr id="20" name="Rectangle 19">
              <a:extLst>
                <a:ext uri="{FF2B5EF4-FFF2-40B4-BE49-F238E27FC236}">
                  <a16:creationId xmlns:a16="http://schemas.microsoft.com/office/drawing/2014/main" id="{454CC7AA-9A86-6A07-D9B0-623D74BAE74F}"/>
                </a:ext>
              </a:extLst>
            </p:cNvPr>
            <p:cNvSpPr/>
            <p:nvPr/>
          </p:nvSpPr>
          <p:spPr>
            <a:xfrm>
              <a:off x="5738884" y="4128447"/>
              <a:ext cx="1364776" cy="2859206"/>
            </a:xfrm>
            <a:prstGeom prst="rect">
              <a:avLst/>
            </a:prstGeom>
            <a:solidFill>
              <a:schemeClr val="bg1"/>
            </a:solidFill>
            <a:ln w="12700">
              <a:miter lim="400000"/>
            </a:ln>
            <a:extLst>
              <a:ext uri="{C572A759-6A51-4108-AA02-DFA0A04FC94B}">
                <ma14:wrappingTextBoxFlag xmlns:ma14="http://schemas.microsoft.com/office/mac/drawingml/2011/main" xmlns="" val="1"/>
              </a:ext>
            </a:extLst>
          </p:spPr>
          <p:txBody>
            <a:bodyPr wrap="square" lIns="45719" rIns="45719" rtlCol="0" anchor="ctr">
              <a:spAutoFit/>
            </a:bodyPr>
            <a:lstStyle/>
            <a:p>
              <a:pPr algn="ctr"/>
              <a:endParaRPr lang="en-US" dirty="0"/>
            </a:p>
          </p:txBody>
        </p:sp>
      </p:grpSp>
      <p:pic>
        <p:nvPicPr>
          <p:cNvPr id="27" name="Picture 26">
            <a:extLst>
              <a:ext uri="{FF2B5EF4-FFF2-40B4-BE49-F238E27FC236}">
                <a16:creationId xmlns:a16="http://schemas.microsoft.com/office/drawing/2014/main" id="{8D9E2AB1-0FBD-A268-21FC-62FD5E39EBC4}"/>
              </a:ext>
            </a:extLst>
          </p:cNvPr>
          <p:cNvPicPr>
            <a:picLocks noChangeAspect="1"/>
          </p:cNvPicPr>
          <p:nvPr/>
        </p:nvPicPr>
        <p:blipFill>
          <a:blip r:embed="rId7"/>
          <a:stretch>
            <a:fillRect/>
          </a:stretch>
        </p:blipFill>
        <p:spPr>
          <a:xfrm>
            <a:off x="291245" y="3903018"/>
            <a:ext cx="5195155" cy="2671334"/>
          </a:xfrm>
          <a:prstGeom prst="rect">
            <a:avLst/>
          </a:prstGeom>
        </p:spPr>
      </p:pic>
    </p:spTree>
    <p:extLst>
      <p:ext uri="{BB962C8B-B14F-4D97-AF65-F5344CB8AC3E}">
        <p14:creationId xmlns:p14="http://schemas.microsoft.com/office/powerpoint/2010/main" val="20495543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14" name="MEET OUR TEAM">
            <a:extLst>
              <a:ext uri="{FF2B5EF4-FFF2-40B4-BE49-F238E27FC236}">
                <a16:creationId xmlns:a16="http://schemas.microsoft.com/office/drawing/2014/main" id="{58A4615E-0D05-CF5D-9595-2B44F20A207D}"/>
              </a:ext>
            </a:extLst>
          </p:cNvPr>
          <p:cNvSpPr/>
          <p:nvPr/>
        </p:nvSpPr>
        <p:spPr>
          <a:xfrm>
            <a:off x="627676" y="-216976"/>
            <a:ext cx="10826223" cy="1066927"/>
          </a:xfrm>
          <a:prstGeom prst="rect">
            <a:avLst/>
          </a:prstGeom>
          <a:ln w="12700">
            <a:miter lim="400000"/>
          </a:ln>
          <a:extLst>
            <a:ext uri="{C572A759-6A51-4108-AA02-DFA0A04FC94B}">
              <ma14:wrappingTextBoxFlag xmlns:ma14="http://schemas.microsoft.com/office/mac/drawingml/2011/main" xmlns="" val="1"/>
            </a:ext>
          </a:extLst>
        </p:spPr>
        <p:txBody>
          <a:bodyPr lIns="45719" rIns="45719"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marL="0" marR="0" lvl="0" indent="0" algn="l" defTabSz="859536" rtl="0" eaLnBrk="1" fontAlgn="auto" latinLnBrk="0" hangingPunct="0">
              <a:lnSpc>
                <a:spcPct val="9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Agents exhibited heterogenous risk-tolerance</a:t>
            </a:r>
          </a:p>
        </p:txBody>
      </p:sp>
      <p:sp>
        <p:nvSpPr>
          <p:cNvPr id="39" name="TextBox 38">
            <a:extLst>
              <a:ext uri="{FF2B5EF4-FFF2-40B4-BE49-F238E27FC236}">
                <a16:creationId xmlns:a16="http://schemas.microsoft.com/office/drawing/2014/main" id="{4843CD4A-C370-4F4C-DE3C-F668BCDC6953}"/>
              </a:ext>
            </a:extLst>
          </p:cNvPr>
          <p:cNvSpPr txBox="1"/>
          <p:nvPr/>
        </p:nvSpPr>
        <p:spPr>
          <a:xfrm>
            <a:off x="3634731" y="887084"/>
            <a:ext cx="3125460" cy="7078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kumimoji="0" lang="en-US" sz="2000" b="1" i="0" u="none" strike="noStrike" kern="0" cap="none" spc="0" normalizeH="0" baseline="0" noProof="0" dirty="0">
                <a:ln>
                  <a:noFill/>
                </a:ln>
                <a:solidFill>
                  <a:schemeClr val="accent2"/>
                </a:solidFill>
                <a:effectLst/>
                <a:uLnTx/>
                <a:uFillTx/>
                <a:latin typeface="Arial" panose="020B0604020202020204" pitchFamily="34" charset="0"/>
                <a:cs typeface="Arial" panose="020B0604020202020204" pitchFamily="34" charset="0"/>
                <a:sym typeface="Acherus Grotesque"/>
              </a:rPr>
              <a:t>1000 Agents, full feedback, 1 run</a:t>
            </a:r>
            <a:endParaRPr lang="en-US" sz="2000" dirty="0">
              <a:solidFill>
                <a:schemeClr val="accent2"/>
              </a:solidFill>
            </a:endParaRPr>
          </a:p>
        </p:txBody>
      </p:sp>
      <p:grpSp>
        <p:nvGrpSpPr>
          <p:cNvPr id="40" name="Group 39">
            <a:extLst>
              <a:ext uri="{FF2B5EF4-FFF2-40B4-BE49-F238E27FC236}">
                <a16:creationId xmlns:a16="http://schemas.microsoft.com/office/drawing/2014/main" id="{DE2E36D8-238F-D70E-7116-90C698EEBF32}"/>
              </a:ext>
            </a:extLst>
          </p:cNvPr>
          <p:cNvGrpSpPr/>
          <p:nvPr/>
        </p:nvGrpSpPr>
        <p:grpSpPr>
          <a:xfrm>
            <a:off x="5671468" y="3820221"/>
            <a:ext cx="6520532" cy="3092021"/>
            <a:chOff x="0" y="3879121"/>
            <a:chExt cx="7103660" cy="3108532"/>
          </a:xfrm>
        </p:grpSpPr>
        <p:pic>
          <p:nvPicPr>
            <p:cNvPr id="41" name="Picture 40">
              <a:extLst>
                <a:ext uri="{FF2B5EF4-FFF2-40B4-BE49-F238E27FC236}">
                  <a16:creationId xmlns:a16="http://schemas.microsoft.com/office/drawing/2014/main" id="{5CAC931D-7211-1B50-971B-93C17EFD74F0}"/>
                </a:ext>
              </a:extLst>
            </p:cNvPr>
            <p:cNvPicPr>
              <a:picLocks noChangeAspect="1"/>
            </p:cNvPicPr>
            <p:nvPr/>
          </p:nvPicPr>
          <p:blipFill rotWithShape="1">
            <a:blip r:embed="rId4"/>
            <a:srcRect r="43750"/>
            <a:stretch/>
          </p:blipFill>
          <p:spPr>
            <a:xfrm>
              <a:off x="0" y="3879121"/>
              <a:ext cx="6858000" cy="2978879"/>
            </a:xfrm>
            <a:prstGeom prst="rect">
              <a:avLst/>
            </a:prstGeom>
          </p:spPr>
        </p:pic>
        <p:sp>
          <p:nvSpPr>
            <p:cNvPr id="42" name="Rectangle 41">
              <a:extLst>
                <a:ext uri="{FF2B5EF4-FFF2-40B4-BE49-F238E27FC236}">
                  <a16:creationId xmlns:a16="http://schemas.microsoft.com/office/drawing/2014/main" id="{10D26F35-2CD7-2E3B-7802-873A65F7381F}"/>
                </a:ext>
              </a:extLst>
            </p:cNvPr>
            <p:cNvSpPr/>
            <p:nvPr/>
          </p:nvSpPr>
          <p:spPr>
            <a:xfrm>
              <a:off x="5738884" y="4128447"/>
              <a:ext cx="1364776" cy="2859206"/>
            </a:xfrm>
            <a:prstGeom prst="rect">
              <a:avLst/>
            </a:prstGeom>
            <a:solidFill>
              <a:schemeClr val="bg1"/>
            </a:solidFill>
            <a:ln w="12700">
              <a:miter lim="400000"/>
            </a:ln>
            <a:extLst>
              <a:ext uri="{C572A759-6A51-4108-AA02-DFA0A04FC94B}">
                <ma14:wrappingTextBoxFlag xmlns:ma14="http://schemas.microsoft.com/office/mac/drawingml/2011/main" xmlns="" val="1"/>
              </a:ext>
            </a:extLst>
          </p:spPr>
          <p:txBody>
            <a:bodyPr wrap="square" lIns="45719" rIns="45719" rtlCol="0" anchor="ctr">
              <a:spAutoFit/>
            </a:bodyPr>
            <a:lstStyle/>
            <a:p>
              <a:pPr algn="ctr"/>
              <a:endParaRPr lang="en-US" dirty="0"/>
            </a:p>
          </p:txBody>
        </p:sp>
      </p:grpSp>
      <p:pic>
        <p:nvPicPr>
          <p:cNvPr id="43" name="Picture 42">
            <a:extLst>
              <a:ext uri="{FF2B5EF4-FFF2-40B4-BE49-F238E27FC236}">
                <a16:creationId xmlns:a16="http://schemas.microsoft.com/office/drawing/2014/main" id="{24717EEF-F020-0D73-FD48-9F42E3F62111}"/>
              </a:ext>
            </a:extLst>
          </p:cNvPr>
          <p:cNvPicPr>
            <a:picLocks noChangeAspect="1"/>
          </p:cNvPicPr>
          <p:nvPr/>
        </p:nvPicPr>
        <p:blipFill>
          <a:blip r:embed="rId5"/>
          <a:stretch>
            <a:fillRect/>
          </a:stretch>
        </p:blipFill>
        <p:spPr>
          <a:xfrm>
            <a:off x="291245" y="3903018"/>
            <a:ext cx="5195155" cy="2671334"/>
          </a:xfrm>
          <a:prstGeom prst="rect">
            <a:avLst/>
          </a:prstGeom>
        </p:spPr>
      </p:pic>
      <p:pic>
        <p:nvPicPr>
          <p:cNvPr id="44" name="Picture 43">
            <a:extLst>
              <a:ext uri="{FF2B5EF4-FFF2-40B4-BE49-F238E27FC236}">
                <a16:creationId xmlns:a16="http://schemas.microsoft.com/office/drawing/2014/main" id="{14E14AF8-87A5-E7C7-EADB-BEE47B7DF132}"/>
              </a:ext>
            </a:extLst>
          </p:cNvPr>
          <p:cNvPicPr>
            <a:picLocks noChangeAspect="1"/>
          </p:cNvPicPr>
          <p:nvPr/>
        </p:nvPicPr>
        <p:blipFill rotWithShape="1">
          <a:blip r:embed="rId6"/>
          <a:srcRect l="49756" t="49793" r="1"/>
          <a:stretch/>
        </p:blipFill>
        <p:spPr>
          <a:xfrm>
            <a:off x="400179" y="821313"/>
            <a:ext cx="3649424" cy="2766060"/>
          </a:xfrm>
          <a:prstGeom prst="rect">
            <a:avLst/>
          </a:prstGeom>
        </p:spPr>
      </p:pic>
    </p:spTree>
    <p:extLst>
      <p:ext uri="{BB962C8B-B14F-4D97-AF65-F5344CB8AC3E}">
        <p14:creationId xmlns:p14="http://schemas.microsoft.com/office/powerpoint/2010/main" val="4360100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23" name="MEET OUR TEAM">
            <a:extLst>
              <a:ext uri="{FF2B5EF4-FFF2-40B4-BE49-F238E27FC236}">
                <a16:creationId xmlns:a16="http://schemas.microsoft.com/office/drawing/2014/main" id="{E3365DE4-8A2E-5142-8B94-0FDEBECD92AC}"/>
              </a:ext>
            </a:extLst>
          </p:cNvPr>
          <p:cNvSpPr/>
          <p:nvPr/>
        </p:nvSpPr>
        <p:spPr>
          <a:xfrm>
            <a:off x="627676" y="-216976"/>
            <a:ext cx="10826223" cy="1066927"/>
          </a:xfrm>
          <a:prstGeom prst="rect">
            <a:avLst/>
          </a:prstGeom>
          <a:ln w="12700">
            <a:miter lim="400000"/>
          </a:ln>
          <a:extLst>
            <a:ext uri="{C572A759-6A51-4108-AA02-DFA0A04FC94B}">
              <ma14:wrappingTextBoxFlag xmlns="" xmlns:ma14="http://schemas.microsoft.com/office/mac/drawingml/2011/main" val="1"/>
            </a:ext>
          </a:extLst>
        </p:spPr>
        <p:txBody>
          <a:bodyPr lIns="45719" rIns="45719"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marL="0" marR="0" lvl="0" indent="0" algn="l" defTabSz="859536" rtl="0" eaLnBrk="1" fontAlgn="auto" latinLnBrk="0" hangingPunct="0">
              <a:lnSpc>
                <a:spcPct val="9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Timeline </a:t>
            </a:r>
          </a:p>
        </p:txBody>
      </p:sp>
      <p:grpSp>
        <p:nvGrpSpPr>
          <p:cNvPr id="4" name="Group 3">
            <a:extLst>
              <a:ext uri="{FF2B5EF4-FFF2-40B4-BE49-F238E27FC236}">
                <a16:creationId xmlns:a16="http://schemas.microsoft.com/office/drawing/2014/main" id="{90806064-DE4C-897D-BBCE-C4E41CD2A26C}"/>
              </a:ext>
            </a:extLst>
          </p:cNvPr>
          <p:cNvGrpSpPr/>
          <p:nvPr/>
        </p:nvGrpSpPr>
        <p:grpSpPr>
          <a:xfrm>
            <a:off x="302319" y="2628282"/>
            <a:ext cx="3084716" cy="2633342"/>
            <a:chOff x="302319" y="2628282"/>
            <a:chExt cx="3084716" cy="2633342"/>
          </a:xfrm>
        </p:grpSpPr>
        <p:sp>
          <p:nvSpPr>
            <p:cNvPr id="82" name="TextBox 81">
              <a:extLst>
                <a:ext uri="{FF2B5EF4-FFF2-40B4-BE49-F238E27FC236}">
                  <a16:creationId xmlns:a16="http://schemas.microsoft.com/office/drawing/2014/main" id="{D2782D19-0FC3-8DAD-C684-6D398F11B9E1}"/>
                </a:ext>
              </a:extLst>
            </p:cNvPr>
            <p:cNvSpPr txBox="1"/>
            <p:nvPr/>
          </p:nvSpPr>
          <p:spPr>
            <a:xfrm>
              <a:off x="302319" y="4061297"/>
              <a:ext cx="3084716" cy="1200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hangingPunct="0"/>
              <a:r>
                <a:rPr lang="en-US" sz="2400" b="1" dirty="0">
                  <a:solidFill>
                    <a:schemeClr val="accent1"/>
                  </a:solidFill>
                  <a:latin typeface="Arial" panose="020B0604020202020204" pitchFamily="34" charset="0"/>
                  <a:ea typeface="+mj-ea"/>
                  <a:cs typeface="Arial" panose="020B0604020202020204" pitchFamily="34" charset="0"/>
                  <a:sym typeface="Calibri"/>
                </a:rPr>
                <a:t>What is generative agent-based modeling?</a:t>
              </a:r>
              <a:endParaRPr kumimoji="0" lang="en-US" sz="2400" b="1" i="0" u="none" strike="noStrike" cap="none" spc="0" normalizeH="0" baseline="0" dirty="0">
                <a:ln>
                  <a:noFill/>
                </a:ln>
                <a:solidFill>
                  <a:schemeClr val="accent1"/>
                </a:solidFill>
                <a:effectLst/>
                <a:uFillTx/>
                <a:latin typeface="Arial" panose="020B0604020202020204" pitchFamily="34" charset="0"/>
                <a:ea typeface="+mj-ea"/>
                <a:cs typeface="Arial" panose="020B0604020202020204" pitchFamily="34" charset="0"/>
                <a:sym typeface="Calibri"/>
              </a:endParaRPr>
            </a:p>
          </p:txBody>
        </p:sp>
        <p:pic>
          <p:nvPicPr>
            <p:cNvPr id="3" name="Picture 2">
              <a:extLst>
                <a:ext uri="{FF2B5EF4-FFF2-40B4-BE49-F238E27FC236}">
                  <a16:creationId xmlns:a16="http://schemas.microsoft.com/office/drawing/2014/main" id="{D170B301-1A12-5D51-70E3-613C771CCE38}"/>
                </a:ext>
              </a:extLst>
            </p:cNvPr>
            <p:cNvPicPr>
              <a:picLocks noChangeAspect="1"/>
            </p:cNvPicPr>
            <p:nvPr/>
          </p:nvPicPr>
          <p:blipFill>
            <a:blip r:embed="rId4"/>
            <a:stretch>
              <a:fillRect/>
            </a:stretch>
          </p:blipFill>
          <p:spPr>
            <a:xfrm>
              <a:off x="400179" y="2628282"/>
              <a:ext cx="2986856" cy="1136125"/>
            </a:xfrm>
            <a:prstGeom prst="rect">
              <a:avLst/>
            </a:prstGeom>
          </p:spPr>
        </p:pic>
      </p:grpSp>
      <p:grpSp>
        <p:nvGrpSpPr>
          <p:cNvPr id="5" name="Group 4">
            <a:extLst>
              <a:ext uri="{FF2B5EF4-FFF2-40B4-BE49-F238E27FC236}">
                <a16:creationId xmlns:a16="http://schemas.microsoft.com/office/drawing/2014/main" id="{1422F520-1C05-CB69-9392-F5F5F6CCB9E6}"/>
              </a:ext>
            </a:extLst>
          </p:cNvPr>
          <p:cNvGrpSpPr/>
          <p:nvPr/>
        </p:nvGrpSpPr>
        <p:grpSpPr>
          <a:xfrm>
            <a:off x="3976295" y="1213728"/>
            <a:ext cx="3711196" cy="3726109"/>
            <a:chOff x="3976295" y="1213728"/>
            <a:chExt cx="3711196" cy="3726109"/>
          </a:xfrm>
        </p:grpSpPr>
        <p:sp>
          <p:nvSpPr>
            <p:cNvPr id="85" name="TextBox 84">
              <a:extLst>
                <a:ext uri="{FF2B5EF4-FFF2-40B4-BE49-F238E27FC236}">
                  <a16:creationId xmlns:a16="http://schemas.microsoft.com/office/drawing/2014/main" id="{4CE259E7-DA1A-E5F3-542C-E8F69F7AE4B0}"/>
                </a:ext>
              </a:extLst>
            </p:cNvPr>
            <p:cNvSpPr txBox="1"/>
            <p:nvPr/>
          </p:nvSpPr>
          <p:spPr>
            <a:xfrm>
              <a:off x="4185679" y="4108842"/>
              <a:ext cx="3292427" cy="830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hangingPunct="0"/>
              <a:r>
                <a:rPr lang="en-US" sz="2400" b="1" dirty="0">
                  <a:solidFill>
                    <a:schemeClr val="accent1"/>
                  </a:solidFill>
                  <a:latin typeface="Arial" panose="020B0604020202020204" pitchFamily="34" charset="0"/>
                  <a:ea typeface="+mj-ea"/>
                  <a:cs typeface="Arial" panose="020B0604020202020204" pitchFamily="34" charset="0"/>
                  <a:sym typeface="Calibri"/>
                </a:rPr>
                <a:t>Our generative agent epidemic model</a:t>
              </a:r>
              <a:endParaRPr kumimoji="0" lang="en-US" sz="2400" b="1" i="0" u="none" strike="noStrike" cap="none" spc="0" normalizeH="0" baseline="0" dirty="0">
                <a:ln>
                  <a:noFill/>
                </a:ln>
                <a:solidFill>
                  <a:schemeClr val="accent1"/>
                </a:solidFill>
                <a:effectLst/>
                <a:uFillTx/>
                <a:latin typeface="Arial" panose="020B0604020202020204" pitchFamily="34" charset="0"/>
                <a:ea typeface="+mj-ea"/>
                <a:cs typeface="Arial" panose="020B0604020202020204" pitchFamily="34" charset="0"/>
                <a:sym typeface="Calibri"/>
              </a:endParaRPr>
            </a:p>
          </p:txBody>
        </p:sp>
        <p:pic>
          <p:nvPicPr>
            <p:cNvPr id="7" name="Picture 6">
              <a:extLst>
                <a:ext uri="{FF2B5EF4-FFF2-40B4-BE49-F238E27FC236}">
                  <a16:creationId xmlns:a16="http://schemas.microsoft.com/office/drawing/2014/main" id="{8E630E28-59D6-D7D3-627E-D8EF9CC9EA83}"/>
                </a:ext>
              </a:extLst>
            </p:cNvPr>
            <p:cNvPicPr>
              <a:picLocks noChangeAspect="1"/>
            </p:cNvPicPr>
            <p:nvPr/>
          </p:nvPicPr>
          <p:blipFill>
            <a:blip r:embed="rId5"/>
            <a:stretch>
              <a:fillRect/>
            </a:stretch>
          </p:blipFill>
          <p:spPr>
            <a:xfrm>
              <a:off x="3976295" y="1213728"/>
              <a:ext cx="3711196" cy="2550679"/>
            </a:xfrm>
            <a:prstGeom prst="rect">
              <a:avLst/>
            </a:prstGeom>
          </p:spPr>
        </p:pic>
      </p:grpSp>
      <p:grpSp>
        <p:nvGrpSpPr>
          <p:cNvPr id="6" name="Group 5">
            <a:extLst>
              <a:ext uri="{FF2B5EF4-FFF2-40B4-BE49-F238E27FC236}">
                <a16:creationId xmlns:a16="http://schemas.microsoft.com/office/drawing/2014/main" id="{B7A089CB-D920-C4B9-613E-E204323CB338}"/>
              </a:ext>
            </a:extLst>
          </p:cNvPr>
          <p:cNvGrpSpPr/>
          <p:nvPr/>
        </p:nvGrpSpPr>
        <p:grpSpPr>
          <a:xfrm>
            <a:off x="8026447" y="1340845"/>
            <a:ext cx="3976320" cy="3596734"/>
            <a:chOff x="8026447" y="1340845"/>
            <a:chExt cx="3976320" cy="3596734"/>
          </a:xfrm>
        </p:grpSpPr>
        <p:sp>
          <p:nvSpPr>
            <p:cNvPr id="87" name="TextBox 86">
              <a:extLst>
                <a:ext uri="{FF2B5EF4-FFF2-40B4-BE49-F238E27FC236}">
                  <a16:creationId xmlns:a16="http://schemas.microsoft.com/office/drawing/2014/main" id="{7E92A84E-B4AC-A45E-6737-40616C5E1E24}"/>
                </a:ext>
              </a:extLst>
            </p:cNvPr>
            <p:cNvSpPr txBox="1"/>
            <p:nvPr/>
          </p:nvSpPr>
          <p:spPr>
            <a:xfrm>
              <a:off x="8537660" y="4106584"/>
              <a:ext cx="3292427" cy="830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hangingPunct="0"/>
              <a:r>
                <a:rPr lang="en-US" sz="2400" b="1" dirty="0">
                  <a:solidFill>
                    <a:schemeClr val="accent1"/>
                  </a:solidFill>
                  <a:latin typeface="Arial" panose="020B0604020202020204" pitchFamily="34" charset="0"/>
                  <a:ea typeface="+mj-ea"/>
                  <a:cs typeface="Arial" panose="020B0604020202020204" pitchFamily="34" charset="0"/>
                  <a:sym typeface="Calibri"/>
                </a:rPr>
                <a:t>What is prompt sensitivity analysis?</a:t>
              </a:r>
              <a:endParaRPr kumimoji="0" lang="en-US" sz="2400" b="1" i="0" u="none" strike="noStrike" cap="none" spc="0" normalizeH="0" baseline="0" dirty="0">
                <a:ln>
                  <a:noFill/>
                </a:ln>
                <a:solidFill>
                  <a:schemeClr val="accent1"/>
                </a:solidFill>
                <a:effectLst/>
                <a:uFillTx/>
                <a:latin typeface="Arial" panose="020B0604020202020204" pitchFamily="34" charset="0"/>
                <a:ea typeface="+mj-ea"/>
                <a:cs typeface="Arial" panose="020B0604020202020204" pitchFamily="34" charset="0"/>
                <a:sym typeface="Calibri"/>
              </a:endParaRPr>
            </a:p>
          </p:txBody>
        </p:sp>
        <p:pic>
          <p:nvPicPr>
            <p:cNvPr id="2" name="Picture 1">
              <a:extLst>
                <a:ext uri="{FF2B5EF4-FFF2-40B4-BE49-F238E27FC236}">
                  <a16:creationId xmlns:a16="http://schemas.microsoft.com/office/drawing/2014/main" id="{EF8267E3-6C17-B138-C0C8-B5FF83089278}"/>
                </a:ext>
              </a:extLst>
            </p:cNvPr>
            <p:cNvPicPr>
              <a:picLocks noChangeAspect="1"/>
            </p:cNvPicPr>
            <p:nvPr/>
          </p:nvPicPr>
          <p:blipFill>
            <a:blip r:embed="rId6"/>
            <a:stretch>
              <a:fillRect/>
            </a:stretch>
          </p:blipFill>
          <p:spPr>
            <a:xfrm>
              <a:off x="8026447" y="1340845"/>
              <a:ext cx="3976320" cy="2423562"/>
            </a:xfrm>
            <a:prstGeom prst="rect">
              <a:avLst/>
            </a:prstGeom>
          </p:spPr>
        </p:pic>
      </p:grpSp>
    </p:spTree>
    <p:extLst>
      <p:ext uri="{BB962C8B-B14F-4D97-AF65-F5344CB8AC3E}">
        <p14:creationId xmlns:p14="http://schemas.microsoft.com/office/powerpoint/2010/main" val="4735012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EET OUR TEAM">
            <a:extLst>
              <a:ext uri="{FF2B5EF4-FFF2-40B4-BE49-F238E27FC236}">
                <a16:creationId xmlns:a16="http://schemas.microsoft.com/office/drawing/2014/main" id="{35254D17-5340-43C3-42D2-63FAF553E1E5}"/>
              </a:ext>
            </a:extLst>
          </p:cNvPr>
          <p:cNvSpPr/>
          <p:nvPr/>
        </p:nvSpPr>
        <p:spPr>
          <a:xfrm>
            <a:off x="627676" y="215336"/>
            <a:ext cx="11564324" cy="1066927"/>
          </a:xfrm>
          <a:prstGeom prst="rect">
            <a:avLst/>
          </a:prstGeom>
          <a:ln w="12700">
            <a:miter lim="400000"/>
          </a:ln>
          <a:extLst>
            <a:ext uri="{C572A759-6A51-4108-AA02-DFA0A04FC94B}">
              <ma14:wrappingTextBoxFlag xmlns="" xmlns:ma14="http://schemas.microsoft.com/office/mac/drawingml/2011/main" val="1"/>
            </a:ext>
          </a:extLst>
        </p:spPr>
        <p:txBody>
          <a:bodyPr lIns="45719" rIns="45719"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hangingPunct="0">
              <a:defRPr/>
            </a:pP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Prompt sensitivity analysis explores the robustness of the model to prompt changes</a:t>
            </a:r>
          </a:p>
        </p:txBody>
      </p:sp>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pic>
        <p:nvPicPr>
          <p:cNvPr id="4" name="Picture 3">
            <a:extLst>
              <a:ext uri="{FF2B5EF4-FFF2-40B4-BE49-F238E27FC236}">
                <a16:creationId xmlns:a16="http://schemas.microsoft.com/office/drawing/2014/main" id="{2D6618B8-C628-8B63-0055-06081B44DE10}"/>
              </a:ext>
            </a:extLst>
          </p:cNvPr>
          <p:cNvPicPr>
            <a:picLocks noChangeAspect="1"/>
          </p:cNvPicPr>
          <p:nvPr/>
        </p:nvPicPr>
        <p:blipFill>
          <a:blip r:embed="rId4"/>
          <a:stretch>
            <a:fillRect/>
          </a:stretch>
        </p:blipFill>
        <p:spPr>
          <a:xfrm>
            <a:off x="627676" y="1294859"/>
            <a:ext cx="3218057" cy="2171883"/>
          </a:xfrm>
          <a:prstGeom prst="rect">
            <a:avLst/>
          </a:prstGeom>
        </p:spPr>
      </p:pic>
      <p:pic>
        <p:nvPicPr>
          <p:cNvPr id="6" name="Picture 5">
            <a:extLst>
              <a:ext uri="{FF2B5EF4-FFF2-40B4-BE49-F238E27FC236}">
                <a16:creationId xmlns:a16="http://schemas.microsoft.com/office/drawing/2014/main" id="{33D4BA0F-3457-7660-22C1-A78B44AFA0E5}"/>
              </a:ext>
            </a:extLst>
          </p:cNvPr>
          <p:cNvPicPr>
            <a:picLocks noChangeAspect="1"/>
          </p:cNvPicPr>
          <p:nvPr/>
        </p:nvPicPr>
        <p:blipFill rotWithShape="1">
          <a:blip r:embed="rId5"/>
          <a:srcRect l="2731" t="1458" r="2723" b="65839"/>
          <a:stretch/>
        </p:blipFill>
        <p:spPr>
          <a:xfrm>
            <a:off x="4172908" y="1294859"/>
            <a:ext cx="3923628" cy="1979552"/>
          </a:xfrm>
          <a:prstGeom prst="rect">
            <a:avLst/>
          </a:prstGeom>
        </p:spPr>
      </p:pic>
      <p:pic>
        <p:nvPicPr>
          <p:cNvPr id="14" name="Picture 13">
            <a:extLst>
              <a:ext uri="{FF2B5EF4-FFF2-40B4-BE49-F238E27FC236}">
                <a16:creationId xmlns:a16="http://schemas.microsoft.com/office/drawing/2014/main" id="{718B733E-2220-B1A3-C1B7-F0E5AF62C6E3}"/>
              </a:ext>
            </a:extLst>
          </p:cNvPr>
          <p:cNvPicPr>
            <a:picLocks noChangeAspect="1"/>
          </p:cNvPicPr>
          <p:nvPr/>
        </p:nvPicPr>
        <p:blipFill>
          <a:blip r:embed="rId6"/>
          <a:stretch>
            <a:fillRect/>
          </a:stretch>
        </p:blipFill>
        <p:spPr>
          <a:xfrm>
            <a:off x="6328012" y="3759692"/>
            <a:ext cx="5599160" cy="2882972"/>
          </a:xfrm>
          <a:prstGeom prst="rect">
            <a:avLst/>
          </a:prstGeom>
        </p:spPr>
      </p:pic>
      <p:grpSp>
        <p:nvGrpSpPr>
          <p:cNvPr id="17" name="Group 16">
            <a:extLst>
              <a:ext uri="{FF2B5EF4-FFF2-40B4-BE49-F238E27FC236}">
                <a16:creationId xmlns:a16="http://schemas.microsoft.com/office/drawing/2014/main" id="{9AD77186-5A5D-9CAD-B9F6-4CF59B66E0FC}"/>
              </a:ext>
            </a:extLst>
          </p:cNvPr>
          <p:cNvGrpSpPr/>
          <p:nvPr/>
        </p:nvGrpSpPr>
        <p:grpSpPr>
          <a:xfrm>
            <a:off x="8423711" y="1249786"/>
            <a:ext cx="3565848" cy="1848522"/>
            <a:chOff x="859373" y="2252252"/>
            <a:chExt cx="5472971" cy="2948926"/>
          </a:xfrm>
        </p:grpSpPr>
        <p:pic>
          <p:nvPicPr>
            <p:cNvPr id="30722" name="Picture 2" descr="Video] Tipping Point Analysis in Multiple Imputation for Binary Missing Data">
              <a:extLst>
                <a:ext uri="{FF2B5EF4-FFF2-40B4-BE49-F238E27FC236}">
                  <a16:creationId xmlns:a16="http://schemas.microsoft.com/office/drawing/2014/main" id="{45C1D157-045D-A063-3523-37ECF6E378E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4957" t="20140" r="14476" b="18549"/>
            <a:stretch/>
          </p:blipFill>
          <p:spPr bwMode="auto">
            <a:xfrm>
              <a:off x="859373" y="2520655"/>
              <a:ext cx="5377218" cy="2680523"/>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Rounded Corners 14">
              <a:extLst>
                <a:ext uri="{FF2B5EF4-FFF2-40B4-BE49-F238E27FC236}">
                  <a16:creationId xmlns:a16="http://schemas.microsoft.com/office/drawing/2014/main" id="{5B2E2845-BC0C-D8EA-2BC3-0DEE1205E162}"/>
                </a:ext>
              </a:extLst>
            </p:cNvPr>
            <p:cNvSpPr/>
            <p:nvPr/>
          </p:nvSpPr>
          <p:spPr>
            <a:xfrm>
              <a:off x="4251060" y="2252252"/>
              <a:ext cx="2081284" cy="361348"/>
            </a:xfrm>
            <a:prstGeom prst="roundRect">
              <a:avLst/>
            </a:prstGeom>
            <a:solidFill>
              <a:schemeClr val="bg1"/>
            </a:solidFill>
            <a:ln w="12700">
              <a:miter lim="400000"/>
            </a:ln>
            <a:extLst>
              <a:ext uri="{C572A759-6A51-4108-AA02-DFA0A04FC94B}">
                <ma14:wrappingTextBoxFlag xmlns="" xmlns:ma14="http://schemas.microsoft.com/office/mac/drawingml/2011/main" val="1"/>
              </a:ext>
            </a:extLst>
          </p:spPr>
          <p:txBody>
            <a:bodyPr lIns="45719" rIns="45719" rtlCol="0" anchor="ctr">
              <a:spAutoFit/>
            </a:bodyPr>
            <a:lstStyle/>
            <a:p>
              <a:pPr algn="ctr"/>
              <a:endParaRPr lang="en-US" dirty="0"/>
            </a:p>
          </p:txBody>
        </p:sp>
      </p:grpSp>
      <p:pic>
        <p:nvPicPr>
          <p:cNvPr id="19" name="Picture 18">
            <a:extLst>
              <a:ext uri="{FF2B5EF4-FFF2-40B4-BE49-F238E27FC236}">
                <a16:creationId xmlns:a16="http://schemas.microsoft.com/office/drawing/2014/main" id="{FCCC5EE8-84FA-F354-C072-9A4D1B0BDD04}"/>
              </a:ext>
            </a:extLst>
          </p:cNvPr>
          <p:cNvPicPr>
            <a:picLocks noChangeAspect="1"/>
          </p:cNvPicPr>
          <p:nvPr/>
        </p:nvPicPr>
        <p:blipFill>
          <a:blip r:embed="rId8"/>
          <a:stretch>
            <a:fillRect/>
          </a:stretch>
        </p:blipFill>
        <p:spPr>
          <a:xfrm>
            <a:off x="513927" y="3769694"/>
            <a:ext cx="5625424" cy="2905916"/>
          </a:xfrm>
          <a:prstGeom prst="rect">
            <a:avLst/>
          </a:prstGeom>
        </p:spPr>
      </p:pic>
    </p:spTree>
    <p:extLst>
      <p:ext uri="{BB962C8B-B14F-4D97-AF65-F5344CB8AC3E}">
        <p14:creationId xmlns:p14="http://schemas.microsoft.com/office/powerpoint/2010/main" val="39708444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pic>
        <p:nvPicPr>
          <p:cNvPr id="4" name="Picture 3">
            <a:extLst>
              <a:ext uri="{FF2B5EF4-FFF2-40B4-BE49-F238E27FC236}">
                <a16:creationId xmlns:a16="http://schemas.microsoft.com/office/drawing/2014/main" id="{2D6618B8-C628-8B63-0055-06081B44DE10}"/>
              </a:ext>
            </a:extLst>
          </p:cNvPr>
          <p:cNvPicPr>
            <a:picLocks noChangeAspect="1"/>
          </p:cNvPicPr>
          <p:nvPr/>
        </p:nvPicPr>
        <p:blipFill>
          <a:blip r:embed="rId4"/>
          <a:stretch>
            <a:fillRect/>
          </a:stretch>
        </p:blipFill>
        <p:spPr>
          <a:xfrm>
            <a:off x="627676" y="1294859"/>
            <a:ext cx="3218057" cy="2171883"/>
          </a:xfrm>
          <a:prstGeom prst="rect">
            <a:avLst/>
          </a:prstGeom>
        </p:spPr>
      </p:pic>
      <p:pic>
        <p:nvPicPr>
          <p:cNvPr id="6" name="Picture 5">
            <a:extLst>
              <a:ext uri="{FF2B5EF4-FFF2-40B4-BE49-F238E27FC236}">
                <a16:creationId xmlns:a16="http://schemas.microsoft.com/office/drawing/2014/main" id="{33D4BA0F-3457-7660-22C1-A78B44AFA0E5}"/>
              </a:ext>
            </a:extLst>
          </p:cNvPr>
          <p:cNvPicPr>
            <a:picLocks noChangeAspect="1"/>
          </p:cNvPicPr>
          <p:nvPr/>
        </p:nvPicPr>
        <p:blipFill rotWithShape="1">
          <a:blip r:embed="rId5"/>
          <a:srcRect l="2731" t="1458" r="2723" b="65839"/>
          <a:stretch/>
        </p:blipFill>
        <p:spPr>
          <a:xfrm>
            <a:off x="4172908" y="1294859"/>
            <a:ext cx="3923628" cy="1979552"/>
          </a:xfrm>
          <a:prstGeom prst="rect">
            <a:avLst/>
          </a:prstGeom>
        </p:spPr>
      </p:pic>
      <p:grpSp>
        <p:nvGrpSpPr>
          <p:cNvPr id="17" name="Group 16">
            <a:extLst>
              <a:ext uri="{FF2B5EF4-FFF2-40B4-BE49-F238E27FC236}">
                <a16:creationId xmlns:a16="http://schemas.microsoft.com/office/drawing/2014/main" id="{9AD77186-5A5D-9CAD-B9F6-4CF59B66E0FC}"/>
              </a:ext>
            </a:extLst>
          </p:cNvPr>
          <p:cNvGrpSpPr/>
          <p:nvPr/>
        </p:nvGrpSpPr>
        <p:grpSpPr>
          <a:xfrm>
            <a:off x="8423711" y="1249786"/>
            <a:ext cx="3565848" cy="1848522"/>
            <a:chOff x="859373" y="2252252"/>
            <a:chExt cx="5472971" cy="2948926"/>
          </a:xfrm>
        </p:grpSpPr>
        <p:pic>
          <p:nvPicPr>
            <p:cNvPr id="30722" name="Picture 2" descr="Video] Tipping Point Analysis in Multiple Imputation for Binary Missing Data">
              <a:extLst>
                <a:ext uri="{FF2B5EF4-FFF2-40B4-BE49-F238E27FC236}">
                  <a16:creationId xmlns:a16="http://schemas.microsoft.com/office/drawing/2014/main" id="{45C1D157-045D-A063-3523-37ECF6E378E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4957" t="20140" r="14476" b="18549"/>
            <a:stretch/>
          </p:blipFill>
          <p:spPr bwMode="auto">
            <a:xfrm>
              <a:off x="859373" y="2520655"/>
              <a:ext cx="5377218" cy="2680523"/>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Rounded Corners 14">
              <a:extLst>
                <a:ext uri="{FF2B5EF4-FFF2-40B4-BE49-F238E27FC236}">
                  <a16:creationId xmlns:a16="http://schemas.microsoft.com/office/drawing/2014/main" id="{5B2E2845-BC0C-D8EA-2BC3-0DEE1205E162}"/>
                </a:ext>
              </a:extLst>
            </p:cNvPr>
            <p:cNvSpPr/>
            <p:nvPr/>
          </p:nvSpPr>
          <p:spPr>
            <a:xfrm>
              <a:off x="4251060" y="2252252"/>
              <a:ext cx="2081284" cy="361348"/>
            </a:xfrm>
            <a:prstGeom prst="roundRect">
              <a:avLst/>
            </a:prstGeom>
            <a:solidFill>
              <a:schemeClr val="bg1"/>
            </a:solidFill>
            <a:ln w="12700">
              <a:miter lim="400000"/>
            </a:ln>
            <a:extLst>
              <a:ext uri="{C572A759-6A51-4108-AA02-DFA0A04FC94B}">
                <ma14:wrappingTextBoxFlag xmlns:ma14="http://schemas.microsoft.com/office/mac/drawingml/2011/main" xmlns="" val="1"/>
              </a:ext>
            </a:extLst>
          </p:spPr>
          <p:txBody>
            <a:bodyPr lIns="45719" rIns="45719" rtlCol="0" anchor="ctr">
              <a:spAutoFit/>
            </a:bodyPr>
            <a:lstStyle/>
            <a:p>
              <a:pPr algn="ctr"/>
              <a:endParaRPr lang="en-US" dirty="0"/>
            </a:p>
          </p:txBody>
        </p:sp>
      </p:grpSp>
      <p:pic>
        <p:nvPicPr>
          <p:cNvPr id="2" name="Picture 1">
            <a:extLst>
              <a:ext uri="{FF2B5EF4-FFF2-40B4-BE49-F238E27FC236}">
                <a16:creationId xmlns:a16="http://schemas.microsoft.com/office/drawing/2014/main" id="{ADA93BBD-7266-448A-D40C-50B87DC38736}"/>
              </a:ext>
            </a:extLst>
          </p:cNvPr>
          <p:cNvPicPr>
            <a:picLocks noChangeAspect="1"/>
          </p:cNvPicPr>
          <p:nvPr/>
        </p:nvPicPr>
        <p:blipFill>
          <a:blip r:embed="rId7"/>
          <a:stretch>
            <a:fillRect/>
          </a:stretch>
        </p:blipFill>
        <p:spPr>
          <a:xfrm>
            <a:off x="627676" y="3583589"/>
            <a:ext cx="5965164" cy="3092021"/>
          </a:xfrm>
          <a:prstGeom prst="rect">
            <a:avLst/>
          </a:prstGeom>
        </p:spPr>
      </p:pic>
      <p:sp>
        <p:nvSpPr>
          <p:cNvPr id="3" name="TextBox 2">
            <a:extLst>
              <a:ext uri="{FF2B5EF4-FFF2-40B4-BE49-F238E27FC236}">
                <a16:creationId xmlns:a16="http://schemas.microsoft.com/office/drawing/2014/main" id="{8E1D9829-92DE-C55D-FD4C-45DA632291F8}"/>
              </a:ext>
            </a:extLst>
          </p:cNvPr>
          <p:cNvSpPr txBox="1"/>
          <p:nvPr/>
        </p:nvSpPr>
        <p:spPr>
          <a:xfrm>
            <a:off x="6592840" y="3859791"/>
            <a:ext cx="5599160" cy="22467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hangingPunct="0">
              <a:buFontTx/>
              <a:buAutoNum type="arabicPeriod"/>
            </a:pPr>
            <a:r>
              <a:rPr lang="en-US" sz="2000" dirty="0">
                <a:solidFill>
                  <a:schemeClr val="accent1"/>
                </a:solidFill>
                <a:latin typeface="+mj-lt"/>
                <a:ea typeface="+mj-ea"/>
                <a:cs typeface="+mj-cs"/>
                <a:sym typeface="Calibri"/>
              </a:rPr>
              <a:t>Are agents’ actions sensitive to synonymous phrases?</a:t>
            </a:r>
          </a:p>
          <a:p>
            <a:pPr marL="342900" indent="-342900" hangingPunct="0">
              <a:buFontTx/>
              <a:buAutoNum type="arabicPeriod"/>
            </a:pPr>
            <a:r>
              <a:rPr lang="en-US" sz="2000" dirty="0">
                <a:solidFill>
                  <a:schemeClr val="accent1"/>
                </a:solidFill>
                <a:latin typeface="+mj-lt"/>
                <a:ea typeface="+mj-ea"/>
                <a:cs typeface="+mj-cs"/>
                <a:sym typeface="Calibri"/>
              </a:rPr>
              <a:t>Are agents’ actions sensitive to nonsynonymous phrases?</a:t>
            </a:r>
          </a:p>
          <a:p>
            <a:pPr marL="342900" indent="-342900" hangingPunct="0">
              <a:buFontTx/>
              <a:buAutoNum type="arabicPeriod"/>
            </a:pPr>
            <a:r>
              <a:rPr lang="en-US" sz="2000" dirty="0">
                <a:solidFill>
                  <a:schemeClr val="accent1"/>
                </a:solidFill>
                <a:latin typeface="+mj-lt"/>
                <a:ea typeface="+mj-ea"/>
                <a:cs typeface="+mj-cs"/>
                <a:sym typeface="Calibri"/>
              </a:rPr>
              <a:t>Are agents’ actions sensitive to different scenarios?</a:t>
            </a:r>
          </a:p>
          <a:p>
            <a:pPr marL="342900" indent="-342900" hangingPunct="0">
              <a:buFontTx/>
              <a:buAutoNum type="arabicPeriod"/>
            </a:pPr>
            <a:r>
              <a:rPr lang="en-US" sz="2000" dirty="0">
                <a:solidFill>
                  <a:schemeClr val="accent1"/>
                </a:solidFill>
                <a:latin typeface="+mj-lt"/>
                <a:ea typeface="+mj-ea"/>
                <a:cs typeface="+mj-cs"/>
                <a:sym typeface="Calibri"/>
              </a:rPr>
              <a:t>Are agents’ actions sensitive to different names?</a:t>
            </a:r>
          </a:p>
        </p:txBody>
      </p:sp>
      <p:sp>
        <p:nvSpPr>
          <p:cNvPr id="7" name="MEET OUR TEAM">
            <a:extLst>
              <a:ext uri="{FF2B5EF4-FFF2-40B4-BE49-F238E27FC236}">
                <a16:creationId xmlns:a16="http://schemas.microsoft.com/office/drawing/2014/main" id="{E161EBC0-FDA9-8AFE-2C0D-52804E77A853}"/>
              </a:ext>
            </a:extLst>
          </p:cNvPr>
          <p:cNvSpPr/>
          <p:nvPr/>
        </p:nvSpPr>
        <p:spPr>
          <a:xfrm>
            <a:off x="627676" y="-216976"/>
            <a:ext cx="10826223" cy="1066927"/>
          </a:xfrm>
          <a:prstGeom prst="rect">
            <a:avLst/>
          </a:prstGeom>
          <a:ln w="12700">
            <a:miter lim="400000"/>
          </a:ln>
          <a:extLst>
            <a:ext uri="{C572A759-6A51-4108-AA02-DFA0A04FC94B}">
              <ma14:wrappingTextBoxFlag xmlns:ma14="http://schemas.microsoft.com/office/mac/drawingml/2011/main" xmlns="" val="1"/>
            </a:ext>
          </a:extLst>
        </p:spPr>
        <p:txBody>
          <a:bodyPr lIns="45719" rIns="45719"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marL="0" marR="0" lvl="0" indent="0" algn="l" defTabSz="859536" rtl="0" eaLnBrk="1" fontAlgn="auto" latinLnBrk="0" hangingPunct="0">
              <a:lnSpc>
                <a:spcPct val="90000"/>
              </a:lnSpc>
              <a:spcBef>
                <a:spcPts val="0"/>
              </a:spcBef>
              <a:spcAft>
                <a:spcPts val="0"/>
              </a:spcAft>
              <a:buClrTx/>
              <a:buSzTx/>
              <a:buFontTx/>
              <a:buNone/>
              <a:tabLst/>
              <a:defRPr/>
            </a:pPr>
            <a:r>
              <a:rPr lang="en-US" sz="3200" b="1" kern="0" spc="0" dirty="0">
                <a:solidFill>
                  <a:srgbClr val="861F41"/>
                </a:solidFill>
                <a:latin typeface="Arial" panose="020B0604020202020204" pitchFamily="34" charset="0"/>
                <a:cs typeface="Arial" panose="020B0604020202020204" pitchFamily="34" charset="0"/>
              </a:rPr>
              <a:t>Research questions for prompt sensitivity analysis</a:t>
            </a:r>
            <a:endPar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endParaRPr>
          </a:p>
        </p:txBody>
      </p:sp>
    </p:spTree>
    <p:extLst>
      <p:ext uri="{BB962C8B-B14F-4D97-AF65-F5344CB8AC3E}">
        <p14:creationId xmlns:p14="http://schemas.microsoft.com/office/powerpoint/2010/main" val="33191100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grpSp>
        <p:nvGrpSpPr>
          <p:cNvPr id="29" name="Group 28">
            <a:extLst>
              <a:ext uri="{FF2B5EF4-FFF2-40B4-BE49-F238E27FC236}">
                <a16:creationId xmlns:a16="http://schemas.microsoft.com/office/drawing/2014/main" id="{8D65B4A5-B0F5-4575-E4A1-D2799B789A43}"/>
              </a:ext>
            </a:extLst>
          </p:cNvPr>
          <p:cNvGrpSpPr/>
          <p:nvPr/>
        </p:nvGrpSpPr>
        <p:grpSpPr>
          <a:xfrm>
            <a:off x="277157" y="2737449"/>
            <a:ext cx="7548583" cy="4006707"/>
            <a:chOff x="277157" y="2737449"/>
            <a:chExt cx="7548583" cy="4006707"/>
          </a:xfrm>
        </p:grpSpPr>
        <p:pic>
          <p:nvPicPr>
            <p:cNvPr id="27" name="Picture 26">
              <a:extLst>
                <a:ext uri="{FF2B5EF4-FFF2-40B4-BE49-F238E27FC236}">
                  <a16:creationId xmlns:a16="http://schemas.microsoft.com/office/drawing/2014/main" id="{DA8B8054-2490-A2DA-877E-12CE6519A655}"/>
                </a:ext>
              </a:extLst>
            </p:cNvPr>
            <p:cNvPicPr>
              <a:picLocks noChangeAspect="1"/>
            </p:cNvPicPr>
            <p:nvPr/>
          </p:nvPicPr>
          <p:blipFill>
            <a:blip r:embed="rId4"/>
            <a:stretch>
              <a:fillRect/>
            </a:stretch>
          </p:blipFill>
          <p:spPr>
            <a:xfrm>
              <a:off x="277157" y="2737449"/>
              <a:ext cx="7537370" cy="4006707"/>
            </a:xfrm>
            <a:prstGeom prst="rect">
              <a:avLst/>
            </a:prstGeom>
          </p:spPr>
        </p:pic>
        <p:sp>
          <p:nvSpPr>
            <p:cNvPr id="13" name="TextBox 12">
              <a:extLst>
                <a:ext uri="{FF2B5EF4-FFF2-40B4-BE49-F238E27FC236}">
                  <a16:creationId xmlns:a16="http://schemas.microsoft.com/office/drawing/2014/main" id="{06DDF14E-E933-678B-B421-A359F8935AFE}"/>
                </a:ext>
              </a:extLst>
            </p:cNvPr>
            <p:cNvSpPr txBox="1"/>
            <p:nvPr/>
          </p:nvSpPr>
          <p:spPr>
            <a:xfrm>
              <a:off x="7013236" y="277521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(1)</a:t>
              </a:r>
            </a:p>
          </p:txBody>
        </p:sp>
        <p:sp>
          <p:nvSpPr>
            <p:cNvPr id="16" name="TextBox 15">
              <a:extLst>
                <a:ext uri="{FF2B5EF4-FFF2-40B4-BE49-F238E27FC236}">
                  <a16:creationId xmlns:a16="http://schemas.microsoft.com/office/drawing/2014/main" id="{34FBB4F6-06F3-B3AB-0729-FEF8C01B246B}"/>
                </a:ext>
              </a:extLst>
            </p:cNvPr>
            <p:cNvSpPr txBox="1"/>
            <p:nvPr/>
          </p:nvSpPr>
          <p:spPr>
            <a:xfrm>
              <a:off x="3097975" y="475003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(1)</a:t>
              </a:r>
            </a:p>
          </p:txBody>
        </p:sp>
      </p:grpSp>
      <p:sp>
        <p:nvSpPr>
          <p:cNvPr id="28" name="MEET OUR TEAM">
            <a:extLst>
              <a:ext uri="{FF2B5EF4-FFF2-40B4-BE49-F238E27FC236}">
                <a16:creationId xmlns:a16="http://schemas.microsoft.com/office/drawing/2014/main" id="{72DF2E35-FB5F-9A83-507C-69C6F6CCF579}"/>
              </a:ext>
            </a:extLst>
          </p:cNvPr>
          <p:cNvSpPr/>
          <p:nvPr/>
        </p:nvSpPr>
        <p:spPr>
          <a:xfrm>
            <a:off x="627676" y="-216976"/>
            <a:ext cx="10826223" cy="1066927"/>
          </a:xfrm>
          <a:prstGeom prst="rect">
            <a:avLst/>
          </a:prstGeom>
          <a:ln w="12700">
            <a:miter lim="400000"/>
          </a:ln>
          <a:extLst>
            <a:ext uri="{C572A759-6A51-4108-AA02-DFA0A04FC94B}">
              <ma14:wrappingTextBoxFlag xmlns="" xmlns:ma14="http://schemas.microsoft.com/office/mac/drawingml/2011/main" val="1"/>
            </a:ext>
          </a:extLst>
        </p:spPr>
        <p:txBody>
          <a:bodyPr lIns="45719" rIns="45719"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hangingPunct="0">
              <a:defRPr/>
            </a:pP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Synonymous and nonsynonymous prompt variations</a:t>
            </a:r>
          </a:p>
        </p:txBody>
      </p:sp>
      <p:sp>
        <p:nvSpPr>
          <p:cNvPr id="3" name="TextBox 2">
            <a:extLst>
              <a:ext uri="{FF2B5EF4-FFF2-40B4-BE49-F238E27FC236}">
                <a16:creationId xmlns:a16="http://schemas.microsoft.com/office/drawing/2014/main" id="{ABB61B52-F8CE-DE97-9742-24D13BBCB916}"/>
              </a:ext>
            </a:extLst>
          </p:cNvPr>
          <p:cNvSpPr txBox="1"/>
          <p:nvPr/>
        </p:nvSpPr>
        <p:spPr>
          <a:xfrm>
            <a:off x="400732" y="955953"/>
            <a:ext cx="7596835"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hangingPunct="0">
              <a:buFontTx/>
              <a:buAutoNum type="arabicPeriod"/>
            </a:pPr>
            <a:r>
              <a:rPr lang="en-US" sz="2000" dirty="0">
                <a:solidFill>
                  <a:schemeClr val="accent1"/>
                </a:solidFill>
                <a:latin typeface="+mj-lt"/>
                <a:ea typeface="+mj-ea"/>
                <a:cs typeface="+mj-cs"/>
                <a:sym typeface="Calibri"/>
              </a:rPr>
              <a:t>Are agents’ actions sensitive to synonymous phrases?</a:t>
            </a:r>
          </a:p>
          <a:p>
            <a:pPr marL="342900" indent="-342900" hangingPunct="0">
              <a:buFontTx/>
              <a:buAutoNum type="arabicPeriod"/>
            </a:pPr>
            <a:r>
              <a:rPr lang="en-US" sz="2000" dirty="0">
                <a:solidFill>
                  <a:schemeClr val="accent1"/>
                </a:solidFill>
                <a:latin typeface="+mj-lt"/>
                <a:ea typeface="+mj-ea"/>
                <a:cs typeface="+mj-cs"/>
                <a:sym typeface="Calibri"/>
              </a:rPr>
              <a:t>Are agents’ actions sensitive to nonsynonymous phrases?</a:t>
            </a:r>
            <a:endParaRPr lang="en-US" sz="2000" dirty="0">
              <a:solidFill>
                <a:schemeClr val="accent1"/>
              </a:solidFill>
              <a:latin typeface="+mj-lt"/>
              <a:ea typeface="+mj-ea"/>
              <a:cs typeface="+mj-cs"/>
            </a:endParaRPr>
          </a:p>
        </p:txBody>
      </p:sp>
    </p:spTree>
    <p:extLst>
      <p:ext uri="{BB962C8B-B14F-4D97-AF65-F5344CB8AC3E}">
        <p14:creationId xmlns:p14="http://schemas.microsoft.com/office/powerpoint/2010/main" val="24754208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B306724-B0C3-32A5-9539-3E5468A58F4A}"/>
              </a:ext>
            </a:extLst>
          </p:cNvPr>
          <p:cNvGrpSpPr/>
          <p:nvPr/>
        </p:nvGrpSpPr>
        <p:grpSpPr>
          <a:xfrm>
            <a:off x="277157" y="2737449"/>
            <a:ext cx="7548583" cy="4006707"/>
            <a:chOff x="277157" y="2737449"/>
            <a:chExt cx="7548583" cy="4006707"/>
          </a:xfrm>
        </p:grpSpPr>
        <p:pic>
          <p:nvPicPr>
            <p:cNvPr id="3" name="Picture 2">
              <a:extLst>
                <a:ext uri="{FF2B5EF4-FFF2-40B4-BE49-F238E27FC236}">
                  <a16:creationId xmlns:a16="http://schemas.microsoft.com/office/drawing/2014/main" id="{1388367A-E8A7-A390-E02F-E87310A1C2A4}"/>
                </a:ext>
              </a:extLst>
            </p:cNvPr>
            <p:cNvPicPr>
              <a:picLocks noChangeAspect="1"/>
            </p:cNvPicPr>
            <p:nvPr/>
          </p:nvPicPr>
          <p:blipFill>
            <a:blip r:embed="rId3"/>
            <a:stretch>
              <a:fillRect/>
            </a:stretch>
          </p:blipFill>
          <p:spPr>
            <a:xfrm>
              <a:off x="277157" y="2737449"/>
              <a:ext cx="7537370" cy="4006707"/>
            </a:xfrm>
            <a:prstGeom prst="rect">
              <a:avLst/>
            </a:prstGeom>
          </p:spPr>
        </p:pic>
        <p:sp>
          <p:nvSpPr>
            <p:cNvPr id="4" name="TextBox 3">
              <a:extLst>
                <a:ext uri="{FF2B5EF4-FFF2-40B4-BE49-F238E27FC236}">
                  <a16:creationId xmlns:a16="http://schemas.microsoft.com/office/drawing/2014/main" id="{374F0F63-9A64-D5A9-B7A8-5AC427350804}"/>
                </a:ext>
              </a:extLst>
            </p:cNvPr>
            <p:cNvSpPr txBox="1"/>
            <p:nvPr/>
          </p:nvSpPr>
          <p:spPr>
            <a:xfrm>
              <a:off x="7013236" y="277521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(1)</a:t>
              </a:r>
            </a:p>
          </p:txBody>
        </p:sp>
        <p:sp>
          <p:nvSpPr>
            <p:cNvPr id="5" name="TextBox 4">
              <a:extLst>
                <a:ext uri="{FF2B5EF4-FFF2-40B4-BE49-F238E27FC236}">
                  <a16:creationId xmlns:a16="http://schemas.microsoft.com/office/drawing/2014/main" id="{0AB406F3-C9BB-DDBE-9627-2CA9E9118DA0}"/>
                </a:ext>
              </a:extLst>
            </p:cNvPr>
            <p:cNvSpPr txBox="1"/>
            <p:nvPr/>
          </p:nvSpPr>
          <p:spPr>
            <a:xfrm>
              <a:off x="3097975" y="475003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(1)</a:t>
              </a:r>
            </a:p>
          </p:txBody>
        </p:sp>
      </p:grpSp>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4"/>
          <a:stretch>
            <a:fillRect/>
          </a:stretch>
        </p:blipFill>
        <p:spPr>
          <a:xfrm>
            <a:off x="400179" y="202740"/>
            <a:ext cx="227497" cy="227497"/>
          </a:xfrm>
          <a:prstGeom prst="rect">
            <a:avLst/>
          </a:prstGeom>
          <a:ln w="12700">
            <a:miter lim="400000"/>
          </a:ln>
        </p:spPr>
      </p:pic>
      <p:sp>
        <p:nvSpPr>
          <p:cNvPr id="12" name="MEET OUR TEAM">
            <a:extLst>
              <a:ext uri="{FF2B5EF4-FFF2-40B4-BE49-F238E27FC236}">
                <a16:creationId xmlns:a16="http://schemas.microsoft.com/office/drawing/2014/main" id="{35254D17-5340-43C3-42D2-63FAF553E1E5}"/>
              </a:ext>
            </a:extLst>
          </p:cNvPr>
          <p:cNvSpPr/>
          <p:nvPr/>
        </p:nvSpPr>
        <p:spPr>
          <a:xfrm>
            <a:off x="627676" y="-216976"/>
            <a:ext cx="10826223" cy="1066927"/>
          </a:xfrm>
          <a:prstGeom prst="rect">
            <a:avLst/>
          </a:prstGeom>
          <a:ln w="12700">
            <a:miter lim="400000"/>
          </a:ln>
          <a:extLst>
            <a:ext uri="{C572A759-6A51-4108-AA02-DFA0A04FC94B}">
              <ma14:wrappingTextBoxFlag xmlns="" xmlns:ma14="http://schemas.microsoft.com/office/mac/drawingml/2011/main" val="1"/>
            </a:ext>
          </a:extLst>
        </p:spPr>
        <p:txBody>
          <a:bodyPr lIns="45719" rIns="45719"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hangingPunct="0">
              <a:defRPr/>
            </a:pP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Changing the scenario</a:t>
            </a:r>
          </a:p>
        </p:txBody>
      </p:sp>
      <p:sp>
        <p:nvSpPr>
          <p:cNvPr id="13" name="TextBox 12">
            <a:extLst>
              <a:ext uri="{FF2B5EF4-FFF2-40B4-BE49-F238E27FC236}">
                <a16:creationId xmlns:a16="http://schemas.microsoft.com/office/drawing/2014/main" id="{06DDF14E-E933-678B-B421-A359F8935AFE}"/>
              </a:ext>
            </a:extLst>
          </p:cNvPr>
          <p:cNvSpPr txBox="1"/>
          <p:nvPr/>
        </p:nvSpPr>
        <p:spPr>
          <a:xfrm>
            <a:off x="7013236" y="277521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(1)</a:t>
            </a:r>
          </a:p>
        </p:txBody>
      </p:sp>
      <p:grpSp>
        <p:nvGrpSpPr>
          <p:cNvPr id="8" name="Group 7">
            <a:extLst>
              <a:ext uri="{FF2B5EF4-FFF2-40B4-BE49-F238E27FC236}">
                <a16:creationId xmlns:a16="http://schemas.microsoft.com/office/drawing/2014/main" id="{E5E640DE-55BA-9D71-4A94-2BDD53C1F7F7}"/>
              </a:ext>
            </a:extLst>
          </p:cNvPr>
          <p:cNvGrpSpPr/>
          <p:nvPr/>
        </p:nvGrpSpPr>
        <p:grpSpPr>
          <a:xfrm>
            <a:off x="3910479" y="4750032"/>
            <a:ext cx="3939324" cy="2037908"/>
            <a:chOff x="3889612" y="4726576"/>
            <a:chExt cx="3939324" cy="2037908"/>
          </a:xfrm>
        </p:grpSpPr>
        <p:pic>
          <p:nvPicPr>
            <p:cNvPr id="10" name="Picture 9" descr="A group of white cards with black text&#10;&#10;Description automatically generated">
              <a:extLst>
                <a:ext uri="{FF2B5EF4-FFF2-40B4-BE49-F238E27FC236}">
                  <a16:creationId xmlns:a16="http://schemas.microsoft.com/office/drawing/2014/main" id="{79E8CA6A-2998-AEF2-243E-6040E0412FD7}"/>
                </a:ext>
              </a:extLst>
            </p:cNvPr>
            <p:cNvPicPr>
              <a:picLocks noChangeAspect="1"/>
            </p:cNvPicPr>
            <p:nvPr/>
          </p:nvPicPr>
          <p:blipFill rotWithShape="1">
            <a:blip r:embed="rId5"/>
            <a:srcRect l="47783" t="49418"/>
            <a:stretch/>
          </p:blipFill>
          <p:spPr>
            <a:xfrm>
              <a:off x="3889612" y="4726576"/>
              <a:ext cx="3939324" cy="2037908"/>
            </a:xfrm>
            <a:prstGeom prst="rect">
              <a:avLst/>
            </a:prstGeom>
          </p:spPr>
        </p:pic>
        <p:sp>
          <p:nvSpPr>
            <p:cNvPr id="15" name="TextBox 14">
              <a:extLst>
                <a:ext uri="{FF2B5EF4-FFF2-40B4-BE49-F238E27FC236}">
                  <a16:creationId xmlns:a16="http://schemas.microsoft.com/office/drawing/2014/main" id="{D02AD667-01C8-5BF4-5D28-127D08208B6A}"/>
                </a:ext>
              </a:extLst>
            </p:cNvPr>
            <p:cNvSpPr txBox="1"/>
            <p:nvPr/>
          </p:nvSpPr>
          <p:spPr>
            <a:xfrm>
              <a:off x="6992369" y="4764339"/>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(2)</a:t>
              </a:r>
            </a:p>
          </p:txBody>
        </p:sp>
      </p:grpSp>
      <p:sp>
        <p:nvSpPr>
          <p:cNvPr id="16" name="TextBox 15">
            <a:extLst>
              <a:ext uri="{FF2B5EF4-FFF2-40B4-BE49-F238E27FC236}">
                <a16:creationId xmlns:a16="http://schemas.microsoft.com/office/drawing/2014/main" id="{34FBB4F6-06F3-B3AB-0729-FEF8C01B246B}"/>
              </a:ext>
            </a:extLst>
          </p:cNvPr>
          <p:cNvSpPr txBox="1"/>
          <p:nvPr/>
        </p:nvSpPr>
        <p:spPr>
          <a:xfrm>
            <a:off x="3097975" y="475003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(1)</a:t>
            </a:r>
          </a:p>
        </p:txBody>
      </p:sp>
      <p:sp>
        <p:nvSpPr>
          <p:cNvPr id="7" name="TextBox 6">
            <a:extLst>
              <a:ext uri="{FF2B5EF4-FFF2-40B4-BE49-F238E27FC236}">
                <a16:creationId xmlns:a16="http://schemas.microsoft.com/office/drawing/2014/main" id="{F48D4F19-EE21-A2D4-20D2-37CB1E463903}"/>
              </a:ext>
            </a:extLst>
          </p:cNvPr>
          <p:cNvSpPr txBox="1"/>
          <p:nvPr/>
        </p:nvSpPr>
        <p:spPr>
          <a:xfrm>
            <a:off x="400732" y="955953"/>
            <a:ext cx="888743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hangingPunct="0">
              <a:buFontTx/>
              <a:buAutoNum type="arabicPeriod"/>
            </a:pPr>
            <a:endParaRPr lang="en-US" sz="2000" dirty="0">
              <a:solidFill>
                <a:schemeClr val="accent1"/>
              </a:solidFill>
              <a:latin typeface="+mj-lt"/>
              <a:ea typeface="+mj-ea"/>
              <a:cs typeface="+mj-cs"/>
            </a:endParaRPr>
          </a:p>
          <a:p>
            <a:pPr marL="342900" indent="-342900">
              <a:buAutoNum type="arabicPeriod"/>
            </a:pPr>
            <a:endParaRPr lang="en-US" sz="2000" dirty="0">
              <a:solidFill>
                <a:schemeClr val="accent1"/>
              </a:solidFill>
              <a:latin typeface="+mj-lt"/>
              <a:ea typeface="+mj-ea"/>
              <a:cs typeface="+mj-cs"/>
            </a:endParaRPr>
          </a:p>
        </p:txBody>
      </p:sp>
      <p:sp>
        <p:nvSpPr>
          <p:cNvPr id="14" name="TextBox 13">
            <a:extLst>
              <a:ext uri="{FF2B5EF4-FFF2-40B4-BE49-F238E27FC236}">
                <a16:creationId xmlns:a16="http://schemas.microsoft.com/office/drawing/2014/main" id="{AF9DD6B5-F95D-03D8-D4EC-1B270DBE3113}"/>
              </a:ext>
            </a:extLst>
          </p:cNvPr>
          <p:cNvSpPr txBox="1"/>
          <p:nvPr/>
        </p:nvSpPr>
        <p:spPr>
          <a:xfrm>
            <a:off x="400732" y="955953"/>
            <a:ext cx="8887430" cy="101566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hangingPunct="0">
              <a:buFontTx/>
              <a:buAutoNum type="arabicPeriod"/>
            </a:pPr>
            <a:r>
              <a:rPr lang="en-US" sz="2000" dirty="0">
                <a:solidFill>
                  <a:schemeClr val="accent1"/>
                </a:solidFill>
                <a:latin typeface="+mj-lt"/>
                <a:ea typeface="+mj-ea"/>
                <a:cs typeface="+mj-cs"/>
                <a:sym typeface="Calibri"/>
              </a:rPr>
              <a:t>Are agents’ actions sensitive to synonymous phrases?</a:t>
            </a:r>
          </a:p>
          <a:p>
            <a:pPr marL="342900" indent="-342900" hangingPunct="0">
              <a:buFontTx/>
              <a:buAutoNum type="arabicPeriod"/>
            </a:pPr>
            <a:r>
              <a:rPr lang="en-US" sz="2000" dirty="0">
                <a:solidFill>
                  <a:schemeClr val="accent1"/>
                </a:solidFill>
                <a:latin typeface="+mj-lt"/>
                <a:ea typeface="+mj-ea"/>
                <a:cs typeface="+mj-cs"/>
                <a:sym typeface="Calibri"/>
              </a:rPr>
              <a:t>Are agents’ actions sensitive to nonsynonymous phrases?</a:t>
            </a:r>
          </a:p>
          <a:p>
            <a:pPr marL="342900" indent="-342900" hangingPunct="0">
              <a:buFontTx/>
              <a:buAutoNum type="arabicPeriod"/>
            </a:pPr>
            <a:r>
              <a:rPr lang="en-US" sz="2000" dirty="0">
                <a:solidFill>
                  <a:schemeClr val="accent1"/>
                </a:solidFill>
                <a:latin typeface="+mj-lt"/>
                <a:ea typeface="+mj-ea"/>
                <a:cs typeface="+mj-cs"/>
                <a:sym typeface="Calibri"/>
              </a:rPr>
              <a:t>Are agents’ actions sensitive to different scenarios?</a:t>
            </a:r>
            <a:endParaRPr lang="en-US" sz="2000" dirty="0">
              <a:solidFill>
                <a:schemeClr val="accent1"/>
              </a:solidFill>
              <a:latin typeface="+mj-lt"/>
              <a:ea typeface="+mj-ea"/>
              <a:cs typeface="+mj-cs"/>
            </a:endParaRPr>
          </a:p>
        </p:txBody>
      </p:sp>
    </p:spTree>
    <p:extLst>
      <p:ext uri="{BB962C8B-B14F-4D97-AF65-F5344CB8AC3E}">
        <p14:creationId xmlns:p14="http://schemas.microsoft.com/office/powerpoint/2010/main" val="31748981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pic>
        <p:nvPicPr>
          <p:cNvPr id="10" name="Picture 9" descr="A group of white cards with black text&#10;&#10;Description automatically generated">
            <a:extLst>
              <a:ext uri="{FF2B5EF4-FFF2-40B4-BE49-F238E27FC236}">
                <a16:creationId xmlns:a16="http://schemas.microsoft.com/office/drawing/2014/main" id="{79E8CA6A-2998-AEF2-243E-6040E0412FD7}"/>
              </a:ext>
            </a:extLst>
          </p:cNvPr>
          <p:cNvPicPr>
            <a:picLocks noChangeAspect="1"/>
          </p:cNvPicPr>
          <p:nvPr/>
        </p:nvPicPr>
        <p:blipFill>
          <a:blip r:embed="rId4"/>
          <a:stretch>
            <a:fillRect/>
          </a:stretch>
        </p:blipFill>
        <p:spPr>
          <a:xfrm>
            <a:off x="284777" y="2735580"/>
            <a:ext cx="7544159" cy="4028904"/>
          </a:xfrm>
          <a:prstGeom prst="rect">
            <a:avLst/>
          </a:prstGeom>
        </p:spPr>
      </p:pic>
      <p:sp>
        <p:nvSpPr>
          <p:cNvPr id="12" name="MEET OUR TEAM">
            <a:extLst>
              <a:ext uri="{FF2B5EF4-FFF2-40B4-BE49-F238E27FC236}">
                <a16:creationId xmlns:a16="http://schemas.microsoft.com/office/drawing/2014/main" id="{35254D17-5340-43C3-42D2-63FAF553E1E5}"/>
              </a:ext>
            </a:extLst>
          </p:cNvPr>
          <p:cNvSpPr/>
          <p:nvPr/>
        </p:nvSpPr>
        <p:spPr>
          <a:xfrm>
            <a:off x="627676" y="-216976"/>
            <a:ext cx="10826223" cy="1066927"/>
          </a:xfrm>
          <a:prstGeom prst="rect">
            <a:avLst/>
          </a:prstGeom>
          <a:ln w="12700">
            <a:miter lim="400000"/>
          </a:ln>
          <a:extLst>
            <a:ext uri="{C572A759-6A51-4108-AA02-DFA0A04FC94B}">
              <ma14:wrappingTextBoxFlag xmlns="" xmlns:ma14="http://schemas.microsoft.com/office/mac/drawingml/2011/main" val="1"/>
            </a:ext>
          </a:extLst>
        </p:spPr>
        <p:txBody>
          <a:bodyPr lIns="45719" rIns="45719"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hangingPunct="0">
              <a:defRPr/>
            </a:pP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Different agents’ name</a:t>
            </a:r>
          </a:p>
        </p:txBody>
      </p:sp>
      <p:sp>
        <p:nvSpPr>
          <p:cNvPr id="13" name="TextBox 12">
            <a:extLst>
              <a:ext uri="{FF2B5EF4-FFF2-40B4-BE49-F238E27FC236}">
                <a16:creationId xmlns:a16="http://schemas.microsoft.com/office/drawing/2014/main" id="{06DDF14E-E933-678B-B421-A359F8935AFE}"/>
              </a:ext>
            </a:extLst>
          </p:cNvPr>
          <p:cNvSpPr txBox="1"/>
          <p:nvPr/>
        </p:nvSpPr>
        <p:spPr>
          <a:xfrm>
            <a:off x="7013236" y="277521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(1)</a:t>
            </a:r>
          </a:p>
        </p:txBody>
      </p:sp>
      <p:sp>
        <p:nvSpPr>
          <p:cNvPr id="15" name="TextBox 14">
            <a:extLst>
              <a:ext uri="{FF2B5EF4-FFF2-40B4-BE49-F238E27FC236}">
                <a16:creationId xmlns:a16="http://schemas.microsoft.com/office/drawing/2014/main" id="{D02AD667-01C8-5BF4-5D28-127D08208B6A}"/>
              </a:ext>
            </a:extLst>
          </p:cNvPr>
          <p:cNvSpPr txBox="1"/>
          <p:nvPr/>
        </p:nvSpPr>
        <p:spPr>
          <a:xfrm>
            <a:off x="7016432" y="4769848"/>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(2)</a:t>
            </a:r>
          </a:p>
        </p:txBody>
      </p:sp>
      <p:sp>
        <p:nvSpPr>
          <p:cNvPr id="16" name="TextBox 15">
            <a:extLst>
              <a:ext uri="{FF2B5EF4-FFF2-40B4-BE49-F238E27FC236}">
                <a16:creationId xmlns:a16="http://schemas.microsoft.com/office/drawing/2014/main" id="{34FBB4F6-06F3-B3AB-0729-FEF8C01B246B}"/>
              </a:ext>
            </a:extLst>
          </p:cNvPr>
          <p:cNvSpPr txBox="1"/>
          <p:nvPr/>
        </p:nvSpPr>
        <p:spPr>
          <a:xfrm>
            <a:off x="3097975" y="475003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(1)</a:t>
            </a:r>
          </a:p>
        </p:txBody>
      </p:sp>
      <p:grpSp>
        <p:nvGrpSpPr>
          <p:cNvPr id="2" name="Group 1">
            <a:extLst>
              <a:ext uri="{FF2B5EF4-FFF2-40B4-BE49-F238E27FC236}">
                <a16:creationId xmlns:a16="http://schemas.microsoft.com/office/drawing/2014/main" id="{67E6F338-E097-260B-1E44-25CC44EB0611}"/>
              </a:ext>
            </a:extLst>
          </p:cNvPr>
          <p:cNvGrpSpPr/>
          <p:nvPr/>
        </p:nvGrpSpPr>
        <p:grpSpPr>
          <a:xfrm>
            <a:off x="7803679" y="2735579"/>
            <a:ext cx="4245313" cy="4028905"/>
            <a:chOff x="7803679" y="2735579"/>
            <a:chExt cx="4245313" cy="4028905"/>
          </a:xfrm>
        </p:grpSpPr>
        <p:pic>
          <p:nvPicPr>
            <p:cNvPr id="9220" name="Picture 4" descr="Adobe Character Animator Ryan Puppet on Behance">
              <a:extLst>
                <a:ext uri="{FF2B5EF4-FFF2-40B4-BE49-F238E27FC236}">
                  <a16:creationId xmlns:a16="http://schemas.microsoft.com/office/drawing/2014/main" id="{E77EE326-4775-57E3-F435-514201FE1E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03679" y="2735579"/>
              <a:ext cx="4103542" cy="2051771"/>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Adobe Character Animator Debbie Puppet on Behance">
              <a:extLst>
                <a:ext uri="{FF2B5EF4-FFF2-40B4-BE49-F238E27FC236}">
                  <a16:creationId xmlns:a16="http://schemas.microsoft.com/office/drawing/2014/main" id="{D99040A8-1EF0-550D-4DE6-6FAE3F0C19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03681" y="4712713"/>
              <a:ext cx="4103542" cy="205177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6E808F2-B426-9C2F-93B6-6F4E44F47647}"/>
                </a:ext>
              </a:extLst>
            </p:cNvPr>
            <p:cNvSpPr txBox="1"/>
            <p:nvPr/>
          </p:nvSpPr>
          <p:spPr>
            <a:xfrm>
              <a:off x="11236488" y="277521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(3)</a:t>
              </a:r>
            </a:p>
          </p:txBody>
        </p:sp>
        <p:sp>
          <p:nvSpPr>
            <p:cNvPr id="23" name="TextBox 22">
              <a:extLst>
                <a:ext uri="{FF2B5EF4-FFF2-40B4-BE49-F238E27FC236}">
                  <a16:creationId xmlns:a16="http://schemas.microsoft.com/office/drawing/2014/main" id="{A4820CFB-38D4-5974-F0D0-3E5F15D24F92}"/>
                </a:ext>
              </a:extLst>
            </p:cNvPr>
            <p:cNvSpPr txBox="1"/>
            <p:nvPr/>
          </p:nvSpPr>
          <p:spPr>
            <a:xfrm>
              <a:off x="11236488" y="4778599"/>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(3)</a:t>
              </a:r>
            </a:p>
          </p:txBody>
        </p:sp>
      </p:grpSp>
      <p:sp>
        <p:nvSpPr>
          <p:cNvPr id="6" name="TextBox 5">
            <a:extLst>
              <a:ext uri="{FF2B5EF4-FFF2-40B4-BE49-F238E27FC236}">
                <a16:creationId xmlns:a16="http://schemas.microsoft.com/office/drawing/2014/main" id="{C41936EE-DF4C-73E2-196D-4AA56F95342C}"/>
              </a:ext>
            </a:extLst>
          </p:cNvPr>
          <p:cNvSpPr txBox="1"/>
          <p:nvPr/>
        </p:nvSpPr>
        <p:spPr>
          <a:xfrm>
            <a:off x="400732" y="955953"/>
            <a:ext cx="8887430"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hangingPunct="0">
              <a:buFontTx/>
              <a:buAutoNum type="arabicPeriod"/>
            </a:pPr>
            <a:r>
              <a:rPr lang="en-US" sz="2000" dirty="0">
                <a:solidFill>
                  <a:schemeClr val="accent1"/>
                </a:solidFill>
                <a:latin typeface="+mj-lt"/>
                <a:ea typeface="+mj-ea"/>
                <a:cs typeface="+mj-cs"/>
                <a:sym typeface="Calibri"/>
              </a:rPr>
              <a:t>Are agents’ actions sensitive to synonymous phrases?</a:t>
            </a:r>
          </a:p>
          <a:p>
            <a:pPr marL="342900" indent="-342900" hangingPunct="0">
              <a:buFontTx/>
              <a:buAutoNum type="arabicPeriod"/>
            </a:pPr>
            <a:r>
              <a:rPr lang="en-US" sz="2000" dirty="0">
                <a:solidFill>
                  <a:schemeClr val="accent1"/>
                </a:solidFill>
                <a:latin typeface="+mj-lt"/>
                <a:ea typeface="+mj-ea"/>
                <a:cs typeface="+mj-cs"/>
                <a:sym typeface="Calibri"/>
              </a:rPr>
              <a:t>Are agents’ actions sensitive to nonsynonymous phrases?</a:t>
            </a:r>
          </a:p>
          <a:p>
            <a:pPr marL="342900" indent="-342900" hangingPunct="0">
              <a:buFontTx/>
              <a:buAutoNum type="arabicPeriod"/>
            </a:pPr>
            <a:r>
              <a:rPr lang="en-US" sz="2000" dirty="0">
                <a:solidFill>
                  <a:schemeClr val="accent1"/>
                </a:solidFill>
                <a:latin typeface="+mj-lt"/>
                <a:ea typeface="+mj-ea"/>
                <a:cs typeface="+mj-cs"/>
                <a:sym typeface="Calibri"/>
              </a:rPr>
              <a:t>Are agents’ actions sensitive to different scenarios?</a:t>
            </a:r>
          </a:p>
          <a:p>
            <a:pPr marL="342900" indent="-342900">
              <a:buFontTx/>
              <a:buAutoNum type="arabicPeriod"/>
            </a:pPr>
            <a:r>
              <a:rPr lang="en-US" sz="2000" dirty="0">
                <a:solidFill>
                  <a:schemeClr val="accent1"/>
                </a:solidFill>
                <a:latin typeface="+mj-lt"/>
                <a:ea typeface="+mj-ea"/>
                <a:cs typeface="+mj-cs"/>
              </a:rPr>
              <a:t>Are agents’ actions sensitive to different names?</a:t>
            </a:r>
          </a:p>
        </p:txBody>
      </p:sp>
    </p:spTree>
    <p:extLst>
      <p:ext uri="{BB962C8B-B14F-4D97-AF65-F5344CB8AC3E}">
        <p14:creationId xmlns:p14="http://schemas.microsoft.com/office/powerpoint/2010/main" val="8405294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pic>
        <p:nvPicPr>
          <p:cNvPr id="10" name="Picture 9" descr="A group of white cards with black text&#10;&#10;Description automatically generated">
            <a:extLst>
              <a:ext uri="{FF2B5EF4-FFF2-40B4-BE49-F238E27FC236}">
                <a16:creationId xmlns:a16="http://schemas.microsoft.com/office/drawing/2014/main" id="{79E8CA6A-2998-AEF2-243E-6040E0412FD7}"/>
              </a:ext>
            </a:extLst>
          </p:cNvPr>
          <p:cNvPicPr>
            <a:picLocks noChangeAspect="1"/>
          </p:cNvPicPr>
          <p:nvPr/>
        </p:nvPicPr>
        <p:blipFill>
          <a:blip r:embed="rId4"/>
          <a:stretch>
            <a:fillRect/>
          </a:stretch>
        </p:blipFill>
        <p:spPr>
          <a:xfrm>
            <a:off x="284777" y="2735580"/>
            <a:ext cx="7544159" cy="4028904"/>
          </a:xfrm>
          <a:prstGeom prst="rect">
            <a:avLst/>
          </a:prstGeom>
        </p:spPr>
      </p:pic>
      <p:sp>
        <p:nvSpPr>
          <p:cNvPr id="12" name="MEET OUR TEAM">
            <a:extLst>
              <a:ext uri="{FF2B5EF4-FFF2-40B4-BE49-F238E27FC236}">
                <a16:creationId xmlns:a16="http://schemas.microsoft.com/office/drawing/2014/main" id="{35254D17-5340-43C3-42D2-63FAF553E1E5}"/>
              </a:ext>
            </a:extLst>
          </p:cNvPr>
          <p:cNvSpPr/>
          <p:nvPr/>
        </p:nvSpPr>
        <p:spPr>
          <a:xfrm>
            <a:off x="627676" y="-216976"/>
            <a:ext cx="10826223" cy="1066927"/>
          </a:xfrm>
          <a:prstGeom prst="rect">
            <a:avLst/>
          </a:prstGeom>
          <a:ln w="12700">
            <a:miter lim="400000"/>
          </a:ln>
          <a:extLst>
            <a:ext uri="{C572A759-6A51-4108-AA02-DFA0A04FC94B}">
              <ma14:wrappingTextBoxFlag xmlns:ma14="http://schemas.microsoft.com/office/mac/drawingml/2011/main" xmlns="" val="1"/>
            </a:ext>
          </a:extLst>
        </p:spPr>
        <p:txBody>
          <a:bodyPr lIns="45719" rIns="45719"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hangingPunct="0">
              <a:defRPr/>
            </a:pP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Methodology</a:t>
            </a:r>
          </a:p>
        </p:txBody>
      </p:sp>
      <p:sp>
        <p:nvSpPr>
          <p:cNvPr id="13" name="TextBox 12">
            <a:extLst>
              <a:ext uri="{FF2B5EF4-FFF2-40B4-BE49-F238E27FC236}">
                <a16:creationId xmlns:a16="http://schemas.microsoft.com/office/drawing/2014/main" id="{06DDF14E-E933-678B-B421-A359F8935AFE}"/>
              </a:ext>
            </a:extLst>
          </p:cNvPr>
          <p:cNvSpPr txBox="1"/>
          <p:nvPr/>
        </p:nvSpPr>
        <p:spPr>
          <a:xfrm>
            <a:off x="7013236" y="277521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(1)</a:t>
            </a:r>
          </a:p>
        </p:txBody>
      </p:sp>
      <p:sp>
        <p:nvSpPr>
          <p:cNvPr id="15" name="TextBox 14">
            <a:extLst>
              <a:ext uri="{FF2B5EF4-FFF2-40B4-BE49-F238E27FC236}">
                <a16:creationId xmlns:a16="http://schemas.microsoft.com/office/drawing/2014/main" id="{D02AD667-01C8-5BF4-5D28-127D08208B6A}"/>
              </a:ext>
            </a:extLst>
          </p:cNvPr>
          <p:cNvSpPr txBox="1"/>
          <p:nvPr/>
        </p:nvSpPr>
        <p:spPr>
          <a:xfrm>
            <a:off x="7016432" y="4769848"/>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(2)</a:t>
            </a:r>
          </a:p>
        </p:txBody>
      </p:sp>
      <p:sp>
        <p:nvSpPr>
          <p:cNvPr id="16" name="TextBox 15">
            <a:extLst>
              <a:ext uri="{FF2B5EF4-FFF2-40B4-BE49-F238E27FC236}">
                <a16:creationId xmlns:a16="http://schemas.microsoft.com/office/drawing/2014/main" id="{34FBB4F6-06F3-B3AB-0729-FEF8C01B246B}"/>
              </a:ext>
            </a:extLst>
          </p:cNvPr>
          <p:cNvSpPr txBox="1"/>
          <p:nvPr/>
        </p:nvSpPr>
        <p:spPr>
          <a:xfrm>
            <a:off x="3097975" y="475003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(1)</a:t>
            </a:r>
          </a:p>
        </p:txBody>
      </p:sp>
      <p:grpSp>
        <p:nvGrpSpPr>
          <p:cNvPr id="2" name="Group 1">
            <a:extLst>
              <a:ext uri="{FF2B5EF4-FFF2-40B4-BE49-F238E27FC236}">
                <a16:creationId xmlns:a16="http://schemas.microsoft.com/office/drawing/2014/main" id="{67E6F338-E097-260B-1E44-25CC44EB0611}"/>
              </a:ext>
            </a:extLst>
          </p:cNvPr>
          <p:cNvGrpSpPr/>
          <p:nvPr/>
        </p:nvGrpSpPr>
        <p:grpSpPr>
          <a:xfrm>
            <a:off x="7803679" y="2735579"/>
            <a:ext cx="4245313" cy="4028905"/>
            <a:chOff x="7803679" y="2735579"/>
            <a:chExt cx="4245313" cy="4028905"/>
          </a:xfrm>
        </p:grpSpPr>
        <p:pic>
          <p:nvPicPr>
            <p:cNvPr id="9220" name="Picture 4" descr="Adobe Character Animator Ryan Puppet on Behance">
              <a:extLst>
                <a:ext uri="{FF2B5EF4-FFF2-40B4-BE49-F238E27FC236}">
                  <a16:creationId xmlns:a16="http://schemas.microsoft.com/office/drawing/2014/main" id="{E77EE326-4775-57E3-F435-514201FE1E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03679" y="2735579"/>
              <a:ext cx="4103542" cy="2051771"/>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Adobe Character Animator Debbie Puppet on Behance">
              <a:extLst>
                <a:ext uri="{FF2B5EF4-FFF2-40B4-BE49-F238E27FC236}">
                  <a16:creationId xmlns:a16="http://schemas.microsoft.com/office/drawing/2014/main" id="{D99040A8-1EF0-550D-4DE6-6FAE3F0C19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03681" y="4712713"/>
              <a:ext cx="4103542" cy="205177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6E808F2-B426-9C2F-93B6-6F4E44F47647}"/>
                </a:ext>
              </a:extLst>
            </p:cNvPr>
            <p:cNvSpPr txBox="1"/>
            <p:nvPr/>
          </p:nvSpPr>
          <p:spPr>
            <a:xfrm>
              <a:off x="11236488" y="277521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(3)</a:t>
              </a:r>
            </a:p>
          </p:txBody>
        </p:sp>
        <p:sp>
          <p:nvSpPr>
            <p:cNvPr id="23" name="TextBox 22">
              <a:extLst>
                <a:ext uri="{FF2B5EF4-FFF2-40B4-BE49-F238E27FC236}">
                  <a16:creationId xmlns:a16="http://schemas.microsoft.com/office/drawing/2014/main" id="{A4820CFB-38D4-5974-F0D0-3E5F15D24F92}"/>
                </a:ext>
              </a:extLst>
            </p:cNvPr>
            <p:cNvSpPr txBox="1"/>
            <p:nvPr/>
          </p:nvSpPr>
          <p:spPr>
            <a:xfrm>
              <a:off x="11236488" y="4778599"/>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(3)</a:t>
              </a:r>
            </a:p>
          </p:txBody>
        </p:sp>
      </p:grpSp>
      <p:sp>
        <p:nvSpPr>
          <p:cNvPr id="3" name="TextBox 2">
            <a:extLst>
              <a:ext uri="{FF2B5EF4-FFF2-40B4-BE49-F238E27FC236}">
                <a16:creationId xmlns:a16="http://schemas.microsoft.com/office/drawing/2014/main" id="{77479F3C-4DA0-A3A8-25F8-E1ADB8309CE5}"/>
              </a:ext>
            </a:extLst>
          </p:cNvPr>
          <p:cNvSpPr txBox="1"/>
          <p:nvPr/>
        </p:nvSpPr>
        <p:spPr>
          <a:xfrm>
            <a:off x="7118350" y="770237"/>
            <a:ext cx="5073650" cy="13234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kumimoji="0" lang="en-US" sz="2000" b="1" i="0" u="none" strike="noStrike" kern="0" cap="none" spc="0" normalizeH="0" baseline="0" noProof="0" dirty="0">
                <a:ln>
                  <a:noFill/>
                </a:ln>
                <a:effectLst/>
                <a:uLnTx/>
                <a:uFillTx/>
                <a:latin typeface="Arial" panose="020B0604020202020204" pitchFamily="34" charset="0"/>
                <a:cs typeface="Arial" panose="020B0604020202020204" pitchFamily="34" charset="0"/>
                <a:sym typeface="Acherus Grotesque"/>
              </a:rPr>
              <a:t>100 Agents, 5 runs, max of 50 time steps, infectivity of 0.1, contact rate of</a:t>
            </a:r>
            <a:r>
              <a:rPr kumimoji="0" lang="en-US" sz="2000" b="1" i="0" u="none" strike="noStrike" kern="0" cap="none" spc="0" normalizeH="0" noProof="0" dirty="0">
                <a:ln>
                  <a:noFill/>
                </a:ln>
                <a:effectLst/>
                <a:uLnTx/>
                <a:uFillTx/>
                <a:latin typeface="Arial" panose="020B0604020202020204" pitchFamily="34" charset="0"/>
                <a:cs typeface="Arial" panose="020B0604020202020204" pitchFamily="34" charset="0"/>
                <a:sym typeface="Acherus Grotesque"/>
              </a:rPr>
              <a:t> 5, days sick is 6, 100 most popular names (50 male and 50 female) as default</a:t>
            </a:r>
            <a:endParaRPr lang="en-US" sz="2000" b="1" dirty="0"/>
          </a:p>
        </p:txBody>
      </p:sp>
      <p:sp>
        <p:nvSpPr>
          <p:cNvPr id="5" name="TextBox 4">
            <a:extLst>
              <a:ext uri="{FF2B5EF4-FFF2-40B4-BE49-F238E27FC236}">
                <a16:creationId xmlns:a16="http://schemas.microsoft.com/office/drawing/2014/main" id="{88914141-8A8F-CDF3-E6C9-7C7009B9C746}"/>
              </a:ext>
            </a:extLst>
          </p:cNvPr>
          <p:cNvSpPr txBox="1"/>
          <p:nvPr/>
        </p:nvSpPr>
        <p:spPr>
          <a:xfrm>
            <a:off x="400732" y="955953"/>
            <a:ext cx="8887430"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hangingPunct="0">
              <a:buFontTx/>
              <a:buAutoNum type="arabicPeriod"/>
            </a:pPr>
            <a:r>
              <a:rPr lang="en-US" sz="2000" dirty="0">
                <a:solidFill>
                  <a:schemeClr val="accent1"/>
                </a:solidFill>
                <a:latin typeface="+mj-lt"/>
                <a:ea typeface="+mj-ea"/>
                <a:cs typeface="+mj-cs"/>
                <a:sym typeface="Calibri"/>
              </a:rPr>
              <a:t>Are agents’ actions sensitive to synonymous phrases?</a:t>
            </a:r>
          </a:p>
          <a:p>
            <a:pPr marL="342900" indent="-342900" hangingPunct="0">
              <a:buFontTx/>
              <a:buAutoNum type="arabicPeriod"/>
            </a:pPr>
            <a:r>
              <a:rPr lang="en-US" sz="2000" dirty="0">
                <a:solidFill>
                  <a:schemeClr val="accent1"/>
                </a:solidFill>
                <a:latin typeface="+mj-lt"/>
                <a:ea typeface="+mj-ea"/>
                <a:cs typeface="+mj-cs"/>
                <a:sym typeface="Calibri"/>
              </a:rPr>
              <a:t>Are agents’ actions sensitive to nonsynonymous phrases?</a:t>
            </a:r>
          </a:p>
          <a:p>
            <a:pPr marL="342900" indent="-342900" hangingPunct="0">
              <a:buFontTx/>
              <a:buAutoNum type="arabicPeriod"/>
            </a:pPr>
            <a:r>
              <a:rPr lang="en-US" sz="2000" dirty="0">
                <a:solidFill>
                  <a:schemeClr val="accent1"/>
                </a:solidFill>
                <a:latin typeface="+mj-lt"/>
                <a:ea typeface="+mj-ea"/>
                <a:cs typeface="+mj-cs"/>
                <a:sym typeface="Calibri"/>
              </a:rPr>
              <a:t>Are agents’ actions sensitive to different scenarios?</a:t>
            </a:r>
          </a:p>
          <a:p>
            <a:pPr marL="342900" indent="-342900">
              <a:buFontTx/>
              <a:buAutoNum type="arabicPeriod"/>
            </a:pPr>
            <a:r>
              <a:rPr lang="en-US" sz="2000" dirty="0">
                <a:solidFill>
                  <a:schemeClr val="accent1"/>
                </a:solidFill>
                <a:latin typeface="+mj-lt"/>
                <a:ea typeface="+mj-ea"/>
                <a:cs typeface="+mj-cs"/>
              </a:rPr>
              <a:t>Are agents’ actions sensitive to different names?</a:t>
            </a:r>
          </a:p>
        </p:txBody>
      </p:sp>
    </p:spTree>
    <p:extLst>
      <p:ext uri="{BB962C8B-B14F-4D97-AF65-F5344CB8AC3E}">
        <p14:creationId xmlns:p14="http://schemas.microsoft.com/office/powerpoint/2010/main" val="28697322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pic>
        <p:nvPicPr>
          <p:cNvPr id="10" name="Picture 9" descr="A group of white cards with black text&#10;&#10;Description automatically generated">
            <a:extLst>
              <a:ext uri="{FF2B5EF4-FFF2-40B4-BE49-F238E27FC236}">
                <a16:creationId xmlns:a16="http://schemas.microsoft.com/office/drawing/2014/main" id="{79E8CA6A-2998-AEF2-243E-6040E0412FD7}"/>
              </a:ext>
            </a:extLst>
          </p:cNvPr>
          <p:cNvPicPr>
            <a:picLocks noChangeAspect="1"/>
          </p:cNvPicPr>
          <p:nvPr/>
        </p:nvPicPr>
        <p:blipFill>
          <a:blip r:embed="rId4"/>
          <a:stretch>
            <a:fillRect/>
          </a:stretch>
        </p:blipFill>
        <p:spPr>
          <a:xfrm>
            <a:off x="284777" y="2735580"/>
            <a:ext cx="7544159" cy="4028904"/>
          </a:xfrm>
          <a:prstGeom prst="rect">
            <a:avLst/>
          </a:prstGeom>
        </p:spPr>
      </p:pic>
      <p:sp>
        <p:nvSpPr>
          <p:cNvPr id="13" name="TextBox 12">
            <a:extLst>
              <a:ext uri="{FF2B5EF4-FFF2-40B4-BE49-F238E27FC236}">
                <a16:creationId xmlns:a16="http://schemas.microsoft.com/office/drawing/2014/main" id="{06DDF14E-E933-678B-B421-A359F8935AFE}"/>
              </a:ext>
            </a:extLst>
          </p:cNvPr>
          <p:cNvSpPr txBox="1"/>
          <p:nvPr/>
        </p:nvSpPr>
        <p:spPr>
          <a:xfrm>
            <a:off x="7013236" y="277521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(1)</a:t>
            </a:r>
          </a:p>
        </p:txBody>
      </p:sp>
      <p:sp>
        <p:nvSpPr>
          <p:cNvPr id="15" name="TextBox 14">
            <a:extLst>
              <a:ext uri="{FF2B5EF4-FFF2-40B4-BE49-F238E27FC236}">
                <a16:creationId xmlns:a16="http://schemas.microsoft.com/office/drawing/2014/main" id="{D02AD667-01C8-5BF4-5D28-127D08208B6A}"/>
              </a:ext>
            </a:extLst>
          </p:cNvPr>
          <p:cNvSpPr txBox="1"/>
          <p:nvPr/>
        </p:nvSpPr>
        <p:spPr>
          <a:xfrm>
            <a:off x="7016432" y="4769848"/>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(2)</a:t>
            </a:r>
          </a:p>
        </p:txBody>
      </p:sp>
      <p:sp>
        <p:nvSpPr>
          <p:cNvPr id="16" name="TextBox 15">
            <a:extLst>
              <a:ext uri="{FF2B5EF4-FFF2-40B4-BE49-F238E27FC236}">
                <a16:creationId xmlns:a16="http://schemas.microsoft.com/office/drawing/2014/main" id="{34FBB4F6-06F3-B3AB-0729-FEF8C01B246B}"/>
              </a:ext>
            </a:extLst>
          </p:cNvPr>
          <p:cNvSpPr txBox="1"/>
          <p:nvPr/>
        </p:nvSpPr>
        <p:spPr>
          <a:xfrm>
            <a:off x="3097975" y="475003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(1)</a:t>
            </a:r>
          </a:p>
        </p:txBody>
      </p:sp>
      <p:grpSp>
        <p:nvGrpSpPr>
          <p:cNvPr id="2" name="Group 1">
            <a:extLst>
              <a:ext uri="{FF2B5EF4-FFF2-40B4-BE49-F238E27FC236}">
                <a16:creationId xmlns:a16="http://schemas.microsoft.com/office/drawing/2014/main" id="{67E6F338-E097-260B-1E44-25CC44EB0611}"/>
              </a:ext>
            </a:extLst>
          </p:cNvPr>
          <p:cNvGrpSpPr/>
          <p:nvPr/>
        </p:nvGrpSpPr>
        <p:grpSpPr>
          <a:xfrm>
            <a:off x="7803679" y="2735579"/>
            <a:ext cx="4245313" cy="4028905"/>
            <a:chOff x="7803679" y="2735579"/>
            <a:chExt cx="4245313" cy="4028905"/>
          </a:xfrm>
        </p:grpSpPr>
        <p:pic>
          <p:nvPicPr>
            <p:cNvPr id="9220" name="Picture 4" descr="Adobe Character Animator Ryan Puppet on Behance">
              <a:extLst>
                <a:ext uri="{FF2B5EF4-FFF2-40B4-BE49-F238E27FC236}">
                  <a16:creationId xmlns:a16="http://schemas.microsoft.com/office/drawing/2014/main" id="{E77EE326-4775-57E3-F435-514201FE1E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03679" y="2735579"/>
              <a:ext cx="4103542" cy="2051771"/>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Adobe Character Animator Debbie Puppet on Behance">
              <a:extLst>
                <a:ext uri="{FF2B5EF4-FFF2-40B4-BE49-F238E27FC236}">
                  <a16:creationId xmlns:a16="http://schemas.microsoft.com/office/drawing/2014/main" id="{D99040A8-1EF0-550D-4DE6-6FAE3F0C19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03681" y="4712713"/>
              <a:ext cx="4103542" cy="205177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6E808F2-B426-9C2F-93B6-6F4E44F47647}"/>
                </a:ext>
              </a:extLst>
            </p:cNvPr>
            <p:cNvSpPr txBox="1"/>
            <p:nvPr/>
          </p:nvSpPr>
          <p:spPr>
            <a:xfrm>
              <a:off x="11236488" y="277521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(3)</a:t>
              </a:r>
            </a:p>
          </p:txBody>
        </p:sp>
        <p:sp>
          <p:nvSpPr>
            <p:cNvPr id="23" name="TextBox 22">
              <a:extLst>
                <a:ext uri="{FF2B5EF4-FFF2-40B4-BE49-F238E27FC236}">
                  <a16:creationId xmlns:a16="http://schemas.microsoft.com/office/drawing/2014/main" id="{A4820CFB-38D4-5974-F0D0-3E5F15D24F92}"/>
                </a:ext>
              </a:extLst>
            </p:cNvPr>
            <p:cNvSpPr txBox="1"/>
            <p:nvPr/>
          </p:nvSpPr>
          <p:spPr>
            <a:xfrm>
              <a:off x="11236488" y="4778599"/>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(3)</a:t>
              </a:r>
            </a:p>
          </p:txBody>
        </p:sp>
      </p:grpSp>
      <p:sp>
        <p:nvSpPr>
          <p:cNvPr id="4" name="TextBox 3">
            <a:extLst>
              <a:ext uri="{FF2B5EF4-FFF2-40B4-BE49-F238E27FC236}">
                <a16:creationId xmlns:a16="http://schemas.microsoft.com/office/drawing/2014/main" id="{092EF48F-20E4-32DC-2DC7-39314ED04937}"/>
              </a:ext>
            </a:extLst>
          </p:cNvPr>
          <p:cNvSpPr txBox="1"/>
          <p:nvPr/>
        </p:nvSpPr>
        <p:spPr>
          <a:xfrm>
            <a:off x="400732" y="955953"/>
            <a:ext cx="8887430"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hangingPunct="0">
              <a:buFontTx/>
              <a:buAutoNum type="arabicPeriod"/>
            </a:pPr>
            <a:r>
              <a:rPr lang="en-US" sz="2000" b="1" dirty="0">
                <a:solidFill>
                  <a:schemeClr val="accent1"/>
                </a:solidFill>
                <a:latin typeface="+mj-lt"/>
                <a:ea typeface="+mj-ea"/>
                <a:cs typeface="+mj-cs"/>
                <a:sym typeface="Calibri"/>
              </a:rPr>
              <a:t>Are agents’ actions sensitive to synonymous phrases?</a:t>
            </a:r>
            <a:endParaRPr lang="en-US" sz="2000" b="1" dirty="0">
              <a:solidFill>
                <a:schemeClr val="accent1"/>
              </a:solidFill>
              <a:latin typeface="+mj-lt"/>
              <a:ea typeface="+mj-ea"/>
              <a:cs typeface="+mj-cs"/>
            </a:endParaRPr>
          </a:p>
          <a:p>
            <a:pPr marL="342900" indent="-342900" hangingPunct="0">
              <a:buFontTx/>
              <a:buAutoNum type="arabicPeriod"/>
            </a:pPr>
            <a:r>
              <a:rPr lang="en-US" sz="2000" b="1" dirty="0">
                <a:solidFill>
                  <a:schemeClr val="accent1"/>
                </a:solidFill>
                <a:latin typeface="+mj-lt"/>
                <a:ea typeface="+mj-ea"/>
                <a:cs typeface="+mj-cs"/>
                <a:sym typeface="Calibri"/>
              </a:rPr>
              <a:t>Are agents’ actions sensitive to nonsynonymous phrases?</a:t>
            </a:r>
            <a:endParaRPr lang="en-US" sz="2000" b="1" dirty="0">
              <a:solidFill>
                <a:schemeClr val="accent1"/>
              </a:solidFill>
              <a:latin typeface="+mj-lt"/>
              <a:ea typeface="+mj-ea"/>
              <a:cs typeface="+mj-cs"/>
            </a:endParaRPr>
          </a:p>
          <a:p>
            <a:pPr marL="342900" indent="-342900" hangingPunct="0">
              <a:buFontTx/>
              <a:buAutoNum type="arabicPeriod"/>
            </a:pPr>
            <a:r>
              <a:rPr lang="en-US" sz="2000" dirty="0">
                <a:solidFill>
                  <a:schemeClr val="accent1"/>
                </a:solidFill>
                <a:latin typeface="+mj-lt"/>
                <a:ea typeface="+mj-ea"/>
                <a:cs typeface="+mj-cs"/>
                <a:sym typeface="Calibri"/>
              </a:rPr>
              <a:t>Are agents’ actions sensitive to different scenarios?</a:t>
            </a:r>
          </a:p>
          <a:p>
            <a:pPr marL="342900" indent="-342900">
              <a:buFontTx/>
              <a:buAutoNum type="arabicPeriod"/>
            </a:pPr>
            <a:r>
              <a:rPr lang="en-US" sz="2000" dirty="0">
                <a:solidFill>
                  <a:schemeClr val="accent1"/>
                </a:solidFill>
                <a:latin typeface="+mj-lt"/>
                <a:ea typeface="+mj-ea"/>
                <a:cs typeface="+mj-cs"/>
              </a:rPr>
              <a:t>Are agents’ actions sensitive to different names?</a:t>
            </a:r>
          </a:p>
        </p:txBody>
      </p:sp>
    </p:spTree>
    <p:extLst>
      <p:ext uri="{BB962C8B-B14F-4D97-AF65-F5344CB8AC3E}">
        <p14:creationId xmlns:p14="http://schemas.microsoft.com/office/powerpoint/2010/main" val="12368499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642660C-9A9D-049B-AE1A-8312D48A2AC6}"/>
              </a:ext>
            </a:extLst>
          </p:cNvPr>
          <p:cNvPicPr>
            <a:picLocks noChangeAspect="1"/>
          </p:cNvPicPr>
          <p:nvPr/>
        </p:nvPicPr>
        <p:blipFill>
          <a:blip r:embed="rId3"/>
          <a:stretch>
            <a:fillRect/>
          </a:stretch>
        </p:blipFill>
        <p:spPr>
          <a:xfrm>
            <a:off x="7789219" y="8017"/>
            <a:ext cx="4402781" cy="2347287"/>
          </a:xfrm>
          <a:prstGeom prst="rect">
            <a:avLst/>
          </a:prstGeom>
        </p:spPr>
      </p:pic>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4"/>
          <a:stretch>
            <a:fillRect/>
          </a:stretch>
        </p:blipFill>
        <p:spPr>
          <a:xfrm>
            <a:off x="400179" y="202740"/>
            <a:ext cx="227497" cy="227497"/>
          </a:xfrm>
          <a:prstGeom prst="rect">
            <a:avLst/>
          </a:prstGeom>
          <a:ln w="12700">
            <a:miter lim="400000"/>
          </a:ln>
        </p:spPr>
      </p:pic>
      <p:sp>
        <p:nvSpPr>
          <p:cNvPr id="12" name="MEET OUR TEAM">
            <a:extLst>
              <a:ext uri="{FF2B5EF4-FFF2-40B4-BE49-F238E27FC236}">
                <a16:creationId xmlns:a16="http://schemas.microsoft.com/office/drawing/2014/main" id="{35254D17-5340-43C3-42D2-63FAF553E1E5}"/>
              </a:ext>
            </a:extLst>
          </p:cNvPr>
          <p:cNvSpPr/>
          <p:nvPr/>
        </p:nvSpPr>
        <p:spPr>
          <a:xfrm>
            <a:off x="627676" y="-216976"/>
            <a:ext cx="10826223" cy="1066927"/>
          </a:xfrm>
          <a:prstGeom prst="rect">
            <a:avLst/>
          </a:prstGeom>
          <a:ln w="12700">
            <a:miter lim="400000"/>
          </a:ln>
          <a:extLst>
            <a:ext uri="{C572A759-6A51-4108-AA02-DFA0A04FC94B}">
              <ma14:wrappingTextBoxFlag xmlns:ma14="http://schemas.microsoft.com/office/mac/drawingml/2011/main" xmlns="" val="1"/>
            </a:ext>
          </a:extLst>
        </p:spPr>
        <p:txBody>
          <a:bodyPr lIns="45719" tIns="45720" rIns="45719" bIns="45720"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a:defRPr/>
            </a:pPr>
            <a:r>
              <a:rPr lang="en-US" sz="2800" b="1" kern="0" spc="0" dirty="0">
                <a:solidFill>
                  <a:schemeClr val="accent1"/>
                </a:solidFill>
                <a:latin typeface="Arial"/>
                <a:cs typeface="Arial"/>
              </a:rPr>
              <a:t>Synonymous &amp; nonsynonymous phrases</a:t>
            </a:r>
            <a:endParaRPr lang="en-US" sz="2800">
              <a:solidFill>
                <a:schemeClr val="accent1"/>
              </a:solidFill>
              <a:latin typeface="Arial"/>
            </a:endParaRPr>
          </a:p>
        </p:txBody>
      </p:sp>
      <p:pic>
        <p:nvPicPr>
          <p:cNvPr id="9" name="Picture 8">
            <a:extLst>
              <a:ext uri="{FF2B5EF4-FFF2-40B4-BE49-F238E27FC236}">
                <a16:creationId xmlns:a16="http://schemas.microsoft.com/office/drawing/2014/main" id="{C10DB975-A9DA-AE4E-3AE8-E25BC64644EA}"/>
              </a:ext>
            </a:extLst>
          </p:cNvPr>
          <p:cNvPicPr>
            <a:picLocks noChangeAspect="1"/>
          </p:cNvPicPr>
          <p:nvPr/>
        </p:nvPicPr>
        <p:blipFill>
          <a:blip r:embed="rId5"/>
          <a:stretch>
            <a:fillRect/>
          </a:stretch>
        </p:blipFill>
        <p:spPr>
          <a:xfrm>
            <a:off x="-2" y="1003177"/>
            <a:ext cx="5074242" cy="3093474"/>
          </a:xfrm>
          <a:prstGeom prst="rect">
            <a:avLst/>
          </a:prstGeom>
        </p:spPr>
      </p:pic>
      <p:pic>
        <p:nvPicPr>
          <p:cNvPr id="18" name="Picture 17">
            <a:extLst>
              <a:ext uri="{FF2B5EF4-FFF2-40B4-BE49-F238E27FC236}">
                <a16:creationId xmlns:a16="http://schemas.microsoft.com/office/drawing/2014/main" id="{3D86E1B8-039E-0535-DF11-86861DDDDED1}"/>
              </a:ext>
            </a:extLst>
          </p:cNvPr>
          <p:cNvPicPr>
            <a:picLocks noChangeAspect="1"/>
          </p:cNvPicPr>
          <p:nvPr/>
        </p:nvPicPr>
        <p:blipFill>
          <a:blip r:embed="rId6"/>
          <a:stretch>
            <a:fillRect/>
          </a:stretch>
        </p:blipFill>
        <p:spPr>
          <a:xfrm>
            <a:off x="3838680" y="4092574"/>
            <a:ext cx="3838683" cy="2342763"/>
          </a:xfrm>
          <a:prstGeom prst="rect">
            <a:avLst/>
          </a:prstGeom>
        </p:spPr>
      </p:pic>
      <p:pic>
        <p:nvPicPr>
          <p:cNvPr id="24" name="Picture 23">
            <a:extLst>
              <a:ext uri="{FF2B5EF4-FFF2-40B4-BE49-F238E27FC236}">
                <a16:creationId xmlns:a16="http://schemas.microsoft.com/office/drawing/2014/main" id="{EF2E58AD-E4C7-0741-B264-4879EF287648}"/>
              </a:ext>
            </a:extLst>
          </p:cNvPr>
          <p:cNvPicPr>
            <a:picLocks noChangeAspect="1"/>
          </p:cNvPicPr>
          <p:nvPr/>
        </p:nvPicPr>
        <p:blipFill>
          <a:blip r:embed="rId7"/>
          <a:stretch>
            <a:fillRect/>
          </a:stretch>
        </p:blipFill>
        <p:spPr>
          <a:xfrm>
            <a:off x="-4" y="4096651"/>
            <a:ext cx="3838684" cy="2334609"/>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E809ABF-28F6-1222-20B2-076F2B65A223}"/>
                  </a:ext>
                </a:extLst>
              </p:cNvPr>
              <p:cNvSpPr txBox="1"/>
              <p:nvPr/>
            </p:nvSpPr>
            <p:spPr>
              <a:xfrm>
                <a:off x="5758804" y="2524886"/>
                <a:ext cx="6103914"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hangingPunct="0"/>
                <a14:m>
                  <m:oMathPara xmlns:m="http://schemas.openxmlformats.org/officeDocument/2006/math">
                    <m:oMathParaPr>
                      <m:jc m:val="centerGroup"/>
                    </m:oMathParaPr>
                    <m:oMath xmlns:m="http://schemas.openxmlformats.org/officeDocument/2006/math">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𝑀𝑜𝑏𝑖𝑙𝑖𝑡𝑦</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0</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ctrlPr>
                        </m:sSubPr>
                        <m:e>
                          <m:r>
                            <a:rPr kumimoji="0" lang="en-US" sz="1800" b="0" i="1" u="none" strike="noStrike" cap="none" spc="0" normalizeH="0" baseline="0" smtClean="0">
                              <a:ln>
                                <a:noFill/>
                              </a:ln>
                              <a:solidFill>
                                <a:schemeClr val="accent1"/>
                              </a:solidFill>
                              <a:effectLst/>
                              <a:uFillTx/>
                              <a:latin typeface="Cambria Math" panose="02040503050406030204" pitchFamily="18" charset="0"/>
                              <a:ea typeface="Cambria Math" panose="02040503050406030204" pitchFamily="18" charset="0"/>
                              <a:cs typeface="+mj-cs"/>
                              <a:sym typeface="Calibri"/>
                            </a:rPr>
                            <m:t>𝛽</m:t>
                          </m:r>
                        </m:e>
                        <m: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1</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𝑁𝑒𝑤𝐶𝑎𝑠𝑒𝑠</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2</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𝑁</m:t>
                      </m:r>
                      <m:sSup>
                        <m:sSupPr>
                          <m:ctrlP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ctrlPr>
                        </m:sSupPr>
                        <m:e>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𝑒𝑤𝐶𝑎𝑠𝑒𝑠</m:t>
                          </m:r>
                        </m:e>
                        <m:sup>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2</m:t>
                          </m:r>
                        </m:sup>
                      </m:sSup>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3</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𝐴𝑤𝑎𝑟𝑒</m:t>
                      </m:r>
                    </m:oMath>
                  </m:oMathPara>
                </a14:m>
                <a:endParaRPr kumimoji="0" lang="en-US" sz="1800" b="0" i="0" u="none" strike="noStrike" cap="none" spc="0" normalizeH="0" baseline="0" dirty="0">
                  <a:ln>
                    <a:noFill/>
                  </a:ln>
                  <a:solidFill>
                    <a:schemeClr val="accent1"/>
                  </a:solidFill>
                  <a:effectLst/>
                  <a:uFillTx/>
                  <a:latin typeface="+mj-lt"/>
                  <a:ea typeface="+mj-ea"/>
                  <a:cs typeface="+mj-cs"/>
                  <a:sym typeface="Calibri"/>
                </a:endParaRPr>
              </a:p>
            </p:txBody>
          </p:sp>
        </mc:Choice>
        <mc:Fallback xmlns="">
          <p:sp>
            <p:nvSpPr>
              <p:cNvPr id="25" name="TextBox 24">
                <a:extLst>
                  <a:ext uri="{FF2B5EF4-FFF2-40B4-BE49-F238E27FC236}">
                    <a16:creationId xmlns:a16="http://schemas.microsoft.com/office/drawing/2014/main" id="{5E809ABF-28F6-1222-20B2-076F2B65A223}"/>
                  </a:ext>
                </a:extLst>
              </p:cNvPr>
              <p:cNvSpPr txBox="1">
                <a:spLocks noRot="1" noChangeAspect="1" noMove="1" noResize="1" noEditPoints="1" noAdjustHandles="1" noChangeArrowheads="1" noChangeShapeType="1" noTextEdit="1"/>
              </p:cNvSpPr>
              <p:nvPr/>
            </p:nvSpPr>
            <p:spPr>
              <a:xfrm>
                <a:off x="5758804" y="2524886"/>
                <a:ext cx="6103914" cy="276999"/>
              </a:xfrm>
              <a:prstGeom prst="rect">
                <a:avLst/>
              </a:prstGeom>
              <a:blipFill>
                <a:blip r:embed="rId8"/>
                <a:stretch>
                  <a:fillRect l="-899" t="-4348" r="-400" b="-32609"/>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43753D0-826F-A0BB-3D50-7C4D0FD5A8D1}"/>
                  </a:ext>
                </a:extLst>
              </p:cNvPr>
              <p:cNvSpPr txBox="1"/>
              <p:nvPr/>
            </p:nvSpPr>
            <p:spPr>
              <a:xfrm>
                <a:off x="5755449" y="2888422"/>
                <a:ext cx="6279027"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hangingPunct="0"/>
                <a14:m>
                  <m:oMathPara xmlns:m="http://schemas.openxmlformats.org/officeDocument/2006/math">
                    <m:oMathParaPr>
                      <m:jc m:val="centerGroup"/>
                    </m:oMathParaPr>
                    <m:oMath xmlns:m="http://schemas.openxmlformats.org/officeDocument/2006/math">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𝑀𝑜𝑏𝑖𝑙𝑖𝑡𝑦</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0</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ctrlPr>
                        </m:sSubPr>
                        <m:e>
                          <m:r>
                            <a:rPr kumimoji="0" lang="en-US" sz="1800" b="0" i="1" u="none" strike="noStrike" cap="none" spc="0" normalizeH="0" baseline="0" smtClean="0">
                              <a:ln>
                                <a:noFill/>
                              </a:ln>
                              <a:solidFill>
                                <a:schemeClr val="accent1"/>
                              </a:solidFill>
                              <a:effectLst/>
                              <a:uFillTx/>
                              <a:latin typeface="Cambria Math" panose="02040503050406030204" pitchFamily="18" charset="0"/>
                              <a:ea typeface="Cambria Math" panose="02040503050406030204" pitchFamily="18" charset="0"/>
                              <a:cs typeface="+mj-cs"/>
                              <a:sym typeface="Calibri"/>
                            </a:rPr>
                            <m:t>𝛽</m:t>
                          </m:r>
                        </m:e>
                        <m: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1</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𝑁𝐶</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2</m:t>
                          </m:r>
                        </m:sub>
                      </m:sSub>
                      <m:sSup>
                        <m:sSupPr>
                          <m:ctrlP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ctrlPr>
                        </m:sSupPr>
                        <m:e>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𝑁𝐶</m:t>
                          </m:r>
                        </m:e>
                        <m:sup>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2</m:t>
                          </m:r>
                        </m:sup>
                      </m:sSup>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3</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𝐴𝑤𝑎𝑟𝑒</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4</m:t>
                          </m:r>
                        </m:sub>
                      </m:sSub>
                      <m:r>
                        <m:rPr>
                          <m:sty m:val="p"/>
                        </m:rPr>
                        <a:rPr lang="en-US" b="0" i="0" smtClean="0">
                          <a:solidFill>
                            <a:schemeClr val="accent1"/>
                          </a:solidFill>
                          <a:latin typeface="Cambria Math" panose="02040503050406030204" pitchFamily="18" charset="0"/>
                          <a:ea typeface="Cambria Math" panose="02040503050406030204" pitchFamily="18" charset="0"/>
                          <a:sym typeface="Calibri"/>
                        </a:rPr>
                        <m:t>NC</m:t>
                      </m:r>
                      <m:r>
                        <a:rPr lang="en-US" b="0" i="0" smtClean="0">
                          <a:solidFill>
                            <a:schemeClr val="accent1"/>
                          </a:solidFill>
                          <a:latin typeface="Cambria Math" panose="02040503050406030204" pitchFamily="18" charset="0"/>
                          <a:ea typeface="Cambria Math" panose="02040503050406030204" pitchFamily="18" charset="0"/>
                          <a:sym typeface="Calibri"/>
                        </a:rPr>
                        <m:t>∗</m:t>
                      </m:r>
                      <m:r>
                        <m:rPr>
                          <m:sty m:val="p"/>
                        </m:rPr>
                        <a:rPr lang="en-US" b="0" i="0" smtClean="0">
                          <a:solidFill>
                            <a:schemeClr val="accent1"/>
                          </a:solidFill>
                          <a:latin typeface="Cambria Math" panose="02040503050406030204" pitchFamily="18" charset="0"/>
                          <a:ea typeface="Cambria Math" panose="02040503050406030204" pitchFamily="18" charset="0"/>
                          <a:sym typeface="Calibri"/>
                        </a:rPr>
                        <m:t>Aware</m:t>
                      </m:r>
                    </m:oMath>
                  </m:oMathPara>
                </a14:m>
                <a:endParaRPr kumimoji="0" lang="en-US" sz="1800" b="0" i="0" u="none" strike="noStrike" cap="none" spc="0" normalizeH="0" baseline="0" dirty="0">
                  <a:ln>
                    <a:noFill/>
                  </a:ln>
                  <a:solidFill>
                    <a:schemeClr val="accent1"/>
                  </a:solidFill>
                  <a:effectLst/>
                  <a:uFillTx/>
                  <a:latin typeface="+mj-lt"/>
                  <a:ea typeface="+mj-ea"/>
                  <a:cs typeface="+mj-cs"/>
                  <a:sym typeface="Calibri"/>
                </a:endParaRPr>
              </a:p>
            </p:txBody>
          </p:sp>
        </mc:Choice>
        <mc:Fallback xmlns="">
          <p:sp>
            <p:nvSpPr>
              <p:cNvPr id="26" name="TextBox 25">
                <a:extLst>
                  <a:ext uri="{FF2B5EF4-FFF2-40B4-BE49-F238E27FC236}">
                    <a16:creationId xmlns:a16="http://schemas.microsoft.com/office/drawing/2014/main" id="{243753D0-826F-A0BB-3D50-7C4D0FD5A8D1}"/>
                  </a:ext>
                </a:extLst>
              </p:cNvPr>
              <p:cNvSpPr txBox="1">
                <a:spLocks noRot="1" noChangeAspect="1" noMove="1" noResize="1" noEditPoints="1" noAdjustHandles="1" noChangeArrowheads="1" noChangeShapeType="1" noTextEdit="1"/>
              </p:cNvSpPr>
              <p:nvPr/>
            </p:nvSpPr>
            <p:spPr>
              <a:xfrm>
                <a:off x="5755449" y="2888422"/>
                <a:ext cx="6279027" cy="276999"/>
              </a:xfrm>
              <a:prstGeom prst="rect">
                <a:avLst/>
              </a:prstGeom>
              <a:blipFill>
                <a:blip r:embed="rId9"/>
                <a:stretch>
                  <a:fillRect l="-777" t="-4444" r="-485" b="-35556"/>
                </a:stretch>
              </a:blipFill>
              <a:ln w="12700" cap="flat">
                <a:noFill/>
                <a:miter lim="400000"/>
              </a:ln>
              <a:effectLst/>
            </p:spPr>
            <p:txBody>
              <a:bodyPr/>
              <a:lstStyle/>
              <a:p>
                <a:r>
                  <a:rPr lang="en-US">
                    <a:noFill/>
                  </a:rPr>
                  <a:t> </a:t>
                </a:r>
              </a:p>
            </p:txBody>
          </p:sp>
        </mc:Fallback>
      </mc:AlternateContent>
      <p:grpSp>
        <p:nvGrpSpPr>
          <p:cNvPr id="32" name="Group 31">
            <a:extLst>
              <a:ext uri="{FF2B5EF4-FFF2-40B4-BE49-F238E27FC236}">
                <a16:creationId xmlns:a16="http://schemas.microsoft.com/office/drawing/2014/main" id="{298F7098-55EC-7B4A-4BBD-FB69E2CEEF2A}"/>
              </a:ext>
            </a:extLst>
          </p:cNvPr>
          <p:cNvGrpSpPr/>
          <p:nvPr/>
        </p:nvGrpSpPr>
        <p:grpSpPr>
          <a:xfrm>
            <a:off x="5760025" y="3248858"/>
            <a:ext cx="6138604" cy="674401"/>
            <a:chOff x="3975160" y="2935992"/>
            <a:chExt cx="6138604" cy="674401"/>
          </a:xfrm>
        </p:grpSpPr>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8F2DADF-E6AC-A570-D7CF-2A99A24B6203}"/>
                    </a:ext>
                  </a:extLst>
                </p:cNvPr>
                <p:cNvSpPr txBox="1"/>
                <p:nvPr/>
              </p:nvSpPr>
              <p:spPr>
                <a:xfrm>
                  <a:off x="3975160" y="2935992"/>
                  <a:ext cx="6043514"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hangingPunct="0"/>
                  <a14:m>
                    <m:oMathPara xmlns:m="http://schemas.openxmlformats.org/officeDocument/2006/math">
                      <m:oMathParaPr>
                        <m:jc m:val="centerGroup"/>
                      </m:oMathParaPr>
                      <m:oMath xmlns:m="http://schemas.openxmlformats.org/officeDocument/2006/math">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𝑀𝑜𝑏𝑖𝑙𝑖𝑡𝑦</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0</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ctrlPr>
                          </m:sSubPr>
                          <m:e>
                            <m:r>
                              <a:rPr kumimoji="0" lang="en-US" sz="1800" b="0" i="1" u="none" strike="noStrike" cap="none" spc="0" normalizeH="0" baseline="0" smtClean="0">
                                <a:ln>
                                  <a:noFill/>
                                </a:ln>
                                <a:solidFill>
                                  <a:schemeClr val="accent1"/>
                                </a:solidFill>
                                <a:effectLst/>
                                <a:uFillTx/>
                                <a:latin typeface="Cambria Math" panose="02040503050406030204" pitchFamily="18" charset="0"/>
                                <a:ea typeface="Cambria Math" panose="02040503050406030204" pitchFamily="18" charset="0"/>
                                <a:cs typeface="+mj-cs"/>
                                <a:sym typeface="Calibri"/>
                              </a:rPr>
                              <m:t>𝛽</m:t>
                            </m:r>
                          </m:e>
                          <m: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1</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𝑁𝑒𝑤𝐶𝑎𝑠𝑒𝑠</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2</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𝑁</m:t>
                        </m:r>
                        <m:sSup>
                          <m:sSupPr>
                            <m:ctrlP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ctrlPr>
                          </m:sSupPr>
                          <m:e>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𝑒𝑤𝐶𝑎𝑠𝑒𝑠</m:t>
                            </m:r>
                          </m:e>
                          <m:sup>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2</m:t>
                            </m:r>
                          </m:sup>
                        </m:sSup>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3</m:t>
                            </m:r>
                          </m:sub>
                        </m:sSub>
                        <m:r>
                          <a:rPr lang="en-US" b="0" i="1" smtClean="0">
                            <a:solidFill>
                              <a:schemeClr val="accent1"/>
                            </a:solidFill>
                            <a:latin typeface="Cambria Math" panose="02040503050406030204" pitchFamily="18" charset="0"/>
                            <a:sym typeface="Calibri"/>
                          </a:rPr>
                          <m:t>∗</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𝐿𝑒𝑎𝑟𝑛</m:t>
                        </m:r>
                      </m:oMath>
                    </m:oMathPara>
                  </a14:m>
                  <a:endParaRPr kumimoji="0" lang="en-US" sz="1800" b="0" i="0" u="none" strike="noStrike" cap="none" spc="0" normalizeH="0" baseline="0" dirty="0">
                    <a:ln>
                      <a:noFill/>
                    </a:ln>
                    <a:solidFill>
                      <a:schemeClr val="accent1"/>
                    </a:solidFill>
                    <a:effectLst/>
                    <a:uFillTx/>
                    <a:latin typeface="+mj-lt"/>
                    <a:ea typeface="+mj-ea"/>
                    <a:cs typeface="+mj-cs"/>
                    <a:sym typeface="Calibri"/>
                  </a:endParaRPr>
                </a:p>
              </p:txBody>
            </p:sp>
          </mc:Choice>
          <mc:Fallback xmlns="">
            <p:sp>
              <p:nvSpPr>
                <p:cNvPr id="29" name="TextBox 28">
                  <a:extLst>
                    <a:ext uri="{FF2B5EF4-FFF2-40B4-BE49-F238E27FC236}">
                      <a16:creationId xmlns:a16="http://schemas.microsoft.com/office/drawing/2014/main" id="{28F2DADF-E6AC-A570-D7CF-2A99A24B6203}"/>
                    </a:ext>
                  </a:extLst>
                </p:cNvPr>
                <p:cNvSpPr txBox="1">
                  <a:spLocks noRot="1" noChangeAspect="1" noMove="1" noResize="1" noEditPoints="1" noAdjustHandles="1" noChangeArrowheads="1" noChangeShapeType="1" noTextEdit="1"/>
                </p:cNvSpPr>
                <p:nvPr/>
              </p:nvSpPr>
              <p:spPr>
                <a:xfrm>
                  <a:off x="3975160" y="2935992"/>
                  <a:ext cx="6043514" cy="276999"/>
                </a:xfrm>
                <a:prstGeom prst="rect">
                  <a:avLst/>
                </a:prstGeom>
                <a:blipFill>
                  <a:blip r:embed="rId11"/>
                  <a:stretch>
                    <a:fillRect l="-908" t="-4444" r="-605" b="-35556"/>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110F31A-C21D-BA3A-1E96-B7858630FE45}"/>
                    </a:ext>
                  </a:extLst>
                </p:cNvPr>
                <p:cNvSpPr txBox="1"/>
                <p:nvPr/>
              </p:nvSpPr>
              <p:spPr>
                <a:xfrm>
                  <a:off x="3975160" y="3333394"/>
                  <a:ext cx="6138604"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hangingPunct="0"/>
                  <a14:m>
                    <m:oMathPara xmlns:m="http://schemas.openxmlformats.org/officeDocument/2006/math">
                      <m:oMathParaPr>
                        <m:jc m:val="centerGroup"/>
                      </m:oMathParaPr>
                      <m:oMath xmlns:m="http://schemas.openxmlformats.org/officeDocument/2006/math">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𝑀𝑜𝑏𝑖𝑙𝑖𝑡𝑦</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0</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ctrlPr>
                          </m:sSubPr>
                          <m:e>
                            <m:r>
                              <a:rPr kumimoji="0" lang="en-US" sz="1800" b="0" i="1" u="none" strike="noStrike" cap="none" spc="0" normalizeH="0" baseline="0" smtClean="0">
                                <a:ln>
                                  <a:noFill/>
                                </a:ln>
                                <a:solidFill>
                                  <a:schemeClr val="accent1"/>
                                </a:solidFill>
                                <a:effectLst/>
                                <a:uFillTx/>
                                <a:latin typeface="Cambria Math" panose="02040503050406030204" pitchFamily="18" charset="0"/>
                                <a:ea typeface="Cambria Math" panose="02040503050406030204" pitchFamily="18" charset="0"/>
                                <a:cs typeface="+mj-cs"/>
                                <a:sym typeface="Calibri"/>
                              </a:rPr>
                              <m:t>𝛽</m:t>
                            </m:r>
                          </m:e>
                          <m: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1</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𝑁𝐶</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2</m:t>
                            </m:r>
                          </m:sub>
                        </m:sSub>
                        <m:sSup>
                          <m:sSupPr>
                            <m:ctrlP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ctrlPr>
                          </m:sSupPr>
                          <m:e>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𝑁𝐶</m:t>
                            </m:r>
                          </m:e>
                          <m:sup>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2</m:t>
                            </m:r>
                          </m:sup>
                        </m:sSup>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3</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𝐿𝑒𝑎𝑟𝑛</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4</m:t>
                            </m:r>
                          </m:sub>
                        </m:sSub>
                        <m:r>
                          <m:rPr>
                            <m:sty m:val="p"/>
                          </m:rPr>
                          <a:rPr lang="en-US" b="0" i="0" smtClean="0">
                            <a:solidFill>
                              <a:schemeClr val="accent1"/>
                            </a:solidFill>
                            <a:latin typeface="Cambria Math" panose="02040503050406030204" pitchFamily="18" charset="0"/>
                            <a:ea typeface="Cambria Math" panose="02040503050406030204" pitchFamily="18" charset="0"/>
                            <a:sym typeface="Calibri"/>
                          </a:rPr>
                          <m:t>NC</m:t>
                        </m:r>
                        <m:r>
                          <a:rPr lang="en-US" b="0" i="0" smtClean="0">
                            <a:solidFill>
                              <a:schemeClr val="accent1"/>
                            </a:solidFill>
                            <a:latin typeface="Cambria Math" panose="02040503050406030204" pitchFamily="18" charset="0"/>
                            <a:ea typeface="Cambria Math" panose="02040503050406030204" pitchFamily="18" charset="0"/>
                            <a:sym typeface="Calibri"/>
                          </a:rPr>
                          <m:t>∗</m:t>
                        </m:r>
                        <m:r>
                          <m:rPr>
                            <m:sty m:val="p"/>
                          </m:rPr>
                          <a:rPr lang="en-US" b="0" i="0" smtClean="0">
                            <a:solidFill>
                              <a:schemeClr val="accent1"/>
                            </a:solidFill>
                            <a:latin typeface="Cambria Math" panose="02040503050406030204" pitchFamily="18" charset="0"/>
                            <a:ea typeface="Cambria Math" panose="02040503050406030204" pitchFamily="18" charset="0"/>
                            <a:sym typeface="Calibri"/>
                          </a:rPr>
                          <m:t>Learn</m:t>
                        </m:r>
                      </m:oMath>
                    </m:oMathPara>
                  </a14:m>
                  <a:endParaRPr kumimoji="0" lang="en-US" sz="1800" b="0" i="0" u="none" strike="noStrike" cap="none" spc="0" normalizeH="0" baseline="0" dirty="0">
                    <a:ln>
                      <a:noFill/>
                    </a:ln>
                    <a:solidFill>
                      <a:schemeClr val="accent1"/>
                    </a:solidFill>
                    <a:effectLst/>
                    <a:uFillTx/>
                    <a:latin typeface="+mj-lt"/>
                    <a:ea typeface="+mj-ea"/>
                    <a:cs typeface="+mj-cs"/>
                    <a:sym typeface="Calibri"/>
                  </a:endParaRPr>
                </a:p>
              </p:txBody>
            </p:sp>
          </mc:Choice>
          <mc:Fallback xmlns="">
            <p:sp>
              <p:nvSpPr>
                <p:cNvPr id="30" name="TextBox 29">
                  <a:extLst>
                    <a:ext uri="{FF2B5EF4-FFF2-40B4-BE49-F238E27FC236}">
                      <a16:creationId xmlns:a16="http://schemas.microsoft.com/office/drawing/2014/main" id="{3110F31A-C21D-BA3A-1E96-B7858630FE45}"/>
                    </a:ext>
                  </a:extLst>
                </p:cNvPr>
                <p:cNvSpPr txBox="1">
                  <a:spLocks noRot="1" noChangeAspect="1" noMove="1" noResize="1" noEditPoints="1" noAdjustHandles="1" noChangeArrowheads="1" noChangeShapeType="1" noTextEdit="1"/>
                </p:cNvSpPr>
                <p:nvPr/>
              </p:nvSpPr>
              <p:spPr>
                <a:xfrm>
                  <a:off x="3975160" y="3333394"/>
                  <a:ext cx="6138604" cy="276999"/>
                </a:xfrm>
                <a:prstGeom prst="rect">
                  <a:avLst/>
                </a:prstGeom>
                <a:blipFill>
                  <a:blip r:embed="rId12"/>
                  <a:stretch>
                    <a:fillRect l="-894" t="-4444" r="-596" b="-35556"/>
                  </a:stretch>
                </a:blipFill>
                <a:ln w="12700" cap="flat">
                  <a:noFill/>
                  <a:miter lim="400000"/>
                </a:ln>
                <a:effectLst/>
              </p:spPr>
              <p:txBody>
                <a:bodyPr/>
                <a:lstStyle/>
                <a:p>
                  <a:r>
                    <a:rPr lang="en-US">
                      <a:noFill/>
                    </a:rPr>
                    <a:t> </a:t>
                  </a:r>
                </a:p>
              </p:txBody>
            </p:sp>
          </mc:Fallback>
        </mc:AlternateContent>
      </p:grpSp>
    </p:spTree>
    <p:extLst>
      <p:ext uri="{BB962C8B-B14F-4D97-AF65-F5344CB8AC3E}">
        <p14:creationId xmlns:p14="http://schemas.microsoft.com/office/powerpoint/2010/main" val="34364216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12" name="MEET OUR TEAM">
            <a:extLst>
              <a:ext uri="{FF2B5EF4-FFF2-40B4-BE49-F238E27FC236}">
                <a16:creationId xmlns:a16="http://schemas.microsoft.com/office/drawing/2014/main" id="{35254D17-5340-43C3-42D2-63FAF553E1E5}"/>
              </a:ext>
            </a:extLst>
          </p:cNvPr>
          <p:cNvSpPr/>
          <p:nvPr/>
        </p:nvSpPr>
        <p:spPr>
          <a:xfrm>
            <a:off x="627676" y="-216976"/>
            <a:ext cx="10826223" cy="1066927"/>
          </a:xfrm>
          <a:prstGeom prst="rect">
            <a:avLst/>
          </a:prstGeom>
          <a:ln w="12700">
            <a:miter lim="400000"/>
          </a:ln>
          <a:extLst>
            <a:ext uri="{C572A759-6A51-4108-AA02-DFA0A04FC94B}">
              <ma14:wrappingTextBoxFlag xmlns:ma14="http://schemas.microsoft.com/office/mac/drawingml/2011/main" xmlns="" val="1"/>
            </a:ext>
          </a:extLst>
        </p:spPr>
        <p:txBody>
          <a:bodyPr lIns="45719" tIns="45720" rIns="45719" bIns="45720"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a:defRPr/>
            </a:pPr>
            <a:r>
              <a:rPr lang="en-US" sz="3200" b="1" kern="0" spc="0">
                <a:solidFill>
                  <a:schemeClr val="accent1"/>
                </a:solidFill>
                <a:latin typeface="Arial"/>
                <a:cs typeface="Arial"/>
              </a:rPr>
              <a:t>Synonymous &amp; nonsynonymous phrases</a:t>
            </a:r>
            <a:endParaRPr lang="en-US" sz="3200" kern="0" spc="0">
              <a:solidFill>
                <a:schemeClr val="accent1"/>
              </a:solidFill>
              <a:latin typeface="Arial"/>
              <a:cs typeface="Arial"/>
            </a:endParaRPr>
          </a:p>
        </p:txBody>
      </p:sp>
      <p:sp>
        <p:nvSpPr>
          <p:cNvPr id="33" name="TextBox 32">
            <a:extLst>
              <a:ext uri="{FF2B5EF4-FFF2-40B4-BE49-F238E27FC236}">
                <a16:creationId xmlns:a16="http://schemas.microsoft.com/office/drawing/2014/main" id="{260293E4-E579-82C4-78CB-2B5C757A2F21}"/>
              </a:ext>
            </a:extLst>
          </p:cNvPr>
          <p:cNvSpPr txBox="1"/>
          <p:nvPr/>
        </p:nvSpPr>
        <p:spPr>
          <a:xfrm>
            <a:off x="627676" y="4419872"/>
            <a:ext cx="5648268" cy="61555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hangingPunct="0">
              <a:defRPr/>
            </a:pPr>
            <a:r>
              <a:rPr kumimoji="0" lang="en-US" sz="1600" i="0" u="none" strike="noStrike" kern="0" cap="none" spc="0" normalizeH="0" baseline="0" noProof="0" dirty="0">
                <a:ln>
                  <a:noFill/>
                </a:ln>
                <a:solidFill>
                  <a:srgbClr val="861F41"/>
                </a:solidFill>
                <a:effectLst/>
                <a:uLnTx/>
                <a:uFillTx/>
                <a:latin typeface="Calibri"/>
                <a:cs typeface="Calibri"/>
                <a:sym typeface="Calibri"/>
              </a:rPr>
              <a:t>***P&lt;0.000, **P&lt;0.01. *P&lt;0.05</a:t>
            </a:r>
            <a:endParaRPr kumimoji="0" lang="en-US" sz="1600" i="1" u="none" strike="noStrike" kern="0" cap="none" spc="0" normalizeH="0" baseline="0" noProof="0" dirty="0">
              <a:ln>
                <a:noFill/>
              </a:ln>
              <a:solidFill>
                <a:srgbClr val="861F41"/>
              </a:solidFill>
              <a:effectLst/>
              <a:uLnTx/>
              <a:uFillTx/>
              <a:latin typeface="Calibri"/>
              <a:cs typeface="Calibri"/>
              <a:sym typeface="Calibri"/>
            </a:endParaRPr>
          </a:p>
          <a:p>
            <a:pPr marL="285750" marR="0" lvl="0" indent="-285750" algn="l" defTabSz="914400" rtl="0" eaLnBrk="1" fontAlgn="auto" latinLnBrk="0" hangingPunct="0">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dirty="0">
              <a:ln>
                <a:noFill/>
              </a:ln>
              <a:solidFill>
                <a:srgbClr val="861F41"/>
              </a:solidFill>
              <a:effectLst/>
              <a:uLnTx/>
              <a:uFillTx/>
              <a:latin typeface="Calibri"/>
              <a:ea typeface="+mj-ea"/>
              <a:cs typeface="Calibri"/>
              <a:sym typeface="Calibri"/>
            </a:endParaRPr>
          </a:p>
        </p:txBody>
      </p:sp>
      <p:grpSp>
        <p:nvGrpSpPr>
          <p:cNvPr id="35" name="Group 34">
            <a:extLst>
              <a:ext uri="{FF2B5EF4-FFF2-40B4-BE49-F238E27FC236}">
                <a16:creationId xmlns:a16="http://schemas.microsoft.com/office/drawing/2014/main" id="{0F52A834-C276-EBBA-F04C-41F56D581F57}"/>
              </a:ext>
            </a:extLst>
          </p:cNvPr>
          <p:cNvGrpSpPr/>
          <p:nvPr/>
        </p:nvGrpSpPr>
        <p:grpSpPr>
          <a:xfrm>
            <a:off x="9389660" y="161840"/>
            <a:ext cx="2659336" cy="1613579"/>
            <a:chOff x="8517918" y="115896"/>
            <a:chExt cx="3273903" cy="1990153"/>
          </a:xfrm>
        </p:grpSpPr>
        <p:pic>
          <p:nvPicPr>
            <p:cNvPr id="5" name="Picture 4">
              <a:extLst>
                <a:ext uri="{FF2B5EF4-FFF2-40B4-BE49-F238E27FC236}">
                  <a16:creationId xmlns:a16="http://schemas.microsoft.com/office/drawing/2014/main" id="{E3CEEFC5-166C-AC02-2B75-5A10C65BC656}"/>
                </a:ext>
              </a:extLst>
            </p:cNvPr>
            <p:cNvPicPr>
              <a:picLocks noChangeAspect="1"/>
            </p:cNvPicPr>
            <p:nvPr/>
          </p:nvPicPr>
          <p:blipFill>
            <a:blip r:embed="rId4"/>
            <a:stretch>
              <a:fillRect/>
            </a:stretch>
          </p:blipFill>
          <p:spPr>
            <a:xfrm>
              <a:off x="8517918" y="115896"/>
              <a:ext cx="3262503" cy="1990153"/>
            </a:xfrm>
            <a:prstGeom prst="rect">
              <a:avLst/>
            </a:prstGeom>
          </p:spPr>
        </p:pic>
        <p:pic>
          <p:nvPicPr>
            <p:cNvPr id="34" name="Picture 33">
              <a:extLst>
                <a:ext uri="{FF2B5EF4-FFF2-40B4-BE49-F238E27FC236}">
                  <a16:creationId xmlns:a16="http://schemas.microsoft.com/office/drawing/2014/main" id="{5EECB91E-9FC2-9CD7-0ED6-517C738153A6}"/>
                </a:ext>
              </a:extLst>
            </p:cNvPr>
            <p:cNvPicPr>
              <a:picLocks noChangeAspect="1"/>
            </p:cNvPicPr>
            <p:nvPr/>
          </p:nvPicPr>
          <p:blipFill>
            <a:blip r:embed="rId5"/>
            <a:stretch>
              <a:fillRect/>
            </a:stretch>
          </p:blipFill>
          <p:spPr>
            <a:xfrm>
              <a:off x="10149169" y="115896"/>
              <a:ext cx="1642652" cy="1009624"/>
            </a:xfrm>
            <a:prstGeom prst="rect">
              <a:avLst/>
            </a:prstGeom>
          </p:spPr>
        </p:pic>
      </p:grpSp>
      <p:sp>
        <p:nvSpPr>
          <p:cNvPr id="3" name="TextBox 2">
            <a:extLst>
              <a:ext uri="{FF2B5EF4-FFF2-40B4-BE49-F238E27FC236}">
                <a16:creationId xmlns:a16="http://schemas.microsoft.com/office/drawing/2014/main" id="{CF63296A-D6E8-00F7-DE82-F77B93D44702}"/>
              </a:ext>
            </a:extLst>
          </p:cNvPr>
          <p:cNvSpPr txBox="1"/>
          <p:nvPr/>
        </p:nvSpPr>
        <p:spPr>
          <a:xfrm>
            <a:off x="627675" y="4727647"/>
            <a:ext cx="8699205" cy="830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R="0" defTabSz="914400" rtl="0" fontAlgn="auto" latinLnBrk="0" hangingPunct="0">
              <a:lnSpc>
                <a:spcPct val="100000"/>
              </a:lnSpc>
              <a:spcBef>
                <a:spcPts val="0"/>
              </a:spcBef>
              <a:spcAft>
                <a:spcPts val="0"/>
              </a:spcAft>
              <a:buClrTx/>
              <a:buSzTx/>
              <a:tabLst/>
            </a:pPr>
            <a:r>
              <a:rPr kumimoji="0" lang="en-US" sz="2400" b="1" i="0" u="none" strike="noStrike" cap="none" spc="0" normalizeH="0" baseline="0" dirty="0">
                <a:ln>
                  <a:noFill/>
                </a:ln>
                <a:solidFill>
                  <a:schemeClr val="accent2"/>
                </a:solidFill>
                <a:effectLst/>
                <a:uFillTx/>
                <a:latin typeface="+mj-lt"/>
                <a:ea typeface="+mj-ea"/>
                <a:cs typeface="+mj-cs"/>
                <a:sym typeface="Calibri"/>
              </a:rPr>
              <a:t>Are agents’ actions sensitive to synonymous phrases? </a:t>
            </a:r>
            <a:r>
              <a:rPr kumimoji="0" lang="en-US" sz="2400" b="1" i="0" u="none" strike="noStrike" cap="none" spc="0" normalizeH="0" baseline="0" dirty="0">
                <a:ln>
                  <a:noFill/>
                </a:ln>
                <a:solidFill>
                  <a:schemeClr val="accent1"/>
                </a:solidFill>
                <a:effectLst/>
                <a:uFillTx/>
                <a:latin typeface="+mj-lt"/>
                <a:ea typeface="+mj-ea"/>
                <a:cs typeface="+mj-cs"/>
                <a:sym typeface="Calibri"/>
              </a:rPr>
              <a:t>No</a:t>
            </a:r>
          </a:p>
          <a:p>
            <a:pPr marR="0" defTabSz="914400" rtl="0" fontAlgn="auto" latinLnBrk="0" hangingPunct="0">
              <a:lnSpc>
                <a:spcPct val="100000"/>
              </a:lnSpc>
              <a:spcBef>
                <a:spcPts val="0"/>
              </a:spcBef>
              <a:spcAft>
                <a:spcPts val="0"/>
              </a:spcAft>
              <a:buClrTx/>
              <a:buSzTx/>
              <a:tabLst/>
            </a:pPr>
            <a:r>
              <a:rPr lang="en-US" sz="2400" b="1" dirty="0">
                <a:solidFill>
                  <a:schemeClr val="accent2"/>
                </a:solidFill>
                <a:latin typeface="+mj-lt"/>
                <a:ea typeface="+mj-ea"/>
                <a:cs typeface="+mj-cs"/>
                <a:sym typeface="Calibri"/>
              </a:rPr>
              <a:t>Are agents’ actions sensitive to nonsynonymous phrases? </a:t>
            </a:r>
            <a:r>
              <a:rPr lang="en-US" sz="2400" b="1" dirty="0">
                <a:solidFill>
                  <a:schemeClr val="accent1"/>
                </a:solidFill>
                <a:latin typeface="+mj-lt"/>
                <a:ea typeface="+mj-ea"/>
                <a:cs typeface="+mj-cs"/>
                <a:sym typeface="Calibri"/>
              </a:rPr>
              <a:t>Yes</a:t>
            </a:r>
          </a:p>
        </p:txBody>
      </p:sp>
      <p:graphicFrame>
        <p:nvGraphicFramePr>
          <p:cNvPr id="6" name="Table 2">
            <a:extLst>
              <a:ext uri="{FF2B5EF4-FFF2-40B4-BE49-F238E27FC236}">
                <a16:creationId xmlns:a16="http://schemas.microsoft.com/office/drawing/2014/main" id="{DF613A48-5FC5-4B77-792E-6B038EF5CA72}"/>
              </a:ext>
            </a:extLst>
          </p:cNvPr>
          <p:cNvGraphicFramePr>
            <a:graphicFrameLocks noGrp="1"/>
          </p:cNvGraphicFramePr>
          <p:nvPr>
            <p:extLst>
              <p:ext uri="{D42A27DB-BD31-4B8C-83A1-F6EECF244321}">
                <p14:modId xmlns:p14="http://schemas.microsoft.com/office/powerpoint/2010/main" val="2266074079"/>
              </p:ext>
            </p:extLst>
          </p:nvPr>
        </p:nvGraphicFramePr>
        <p:xfrm>
          <a:off x="627676" y="1418684"/>
          <a:ext cx="7965803" cy="2966720"/>
        </p:xfrm>
        <a:graphic>
          <a:graphicData uri="http://schemas.openxmlformats.org/drawingml/2006/table">
            <a:tbl>
              <a:tblPr firstRow="1" bandRow="1">
                <a:tableStyleId>{5C22544A-7EE6-4342-B048-85BDC9FD1C3A}</a:tableStyleId>
              </a:tblPr>
              <a:tblGrid>
                <a:gridCol w="2740660">
                  <a:extLst>
                    <a:ext uri="{9D8B030D-6E8A-4147-A177-3AD203B41FA5}">
                      <a16:colId xmlns:a16="http://schemas.microsoft.com/office/drawing/2014/main" val="820701274"/>
                    </a:ext>
                  </a:extLst>
                </a:gridCol>
                <a:gridCol w="1358537">
                  <a:extLst>
                    <a:ext uri="{9D8B030D-6E8A-4147-A177-3AD203B41FA5}">
                      <a16:colId xmlns:a16="http://schemas.microsoft.com/office/drawing/2014/main" val="3715058434"/>
                    </a:ext>
                  </a:extLst>
                </a:gridCol>
                <a:gridCol w="1436915">
                  <a:extLst>
                    <a:ext uri="{9D8B030D-6E8A-4147-A177-3AD203B41FA5}">
                      <a16:colId xmlns:a16="http://schemas.microsoft.com/office/drawing/2014/main" val="3908031248"/>
                    </a:ext>
                  </a:extLst>
                </a:gridCol>
                <a:gridCol w="1267097">
                  <a:extLst>
                    <a:ext uri="{9D8B030D-6E8A-4147-A177-3AD203B41FA5}">
                      <a16:colId xmlns:a16="http://schemas.microsoft.com/office/drawing/2014/main" val="434091579"/>
                    </a:ext>
                  </a:extLst>
                </a:gridCol>
                <a:gridCol w="1162594">
                  <a:extLst>
                    <a:ext uri="{9D8B030D-6E8A-4147-A177-3AD203B41FA5}">
                      <a16:colId xmlns:a16="http://schemas.microsoft.com/office/drawing/2014/main" val="592120850"/>
                    </a:ext>
                  </a:extLst>
                </a:gridCol>
              </a:tblGrid>
              <a:tr h="370840">
                <a:tc>
                  <a:txBody>
                    <a:bodyPr/>
                    <a:lstStyle/>
                    <a:p>
                      <a:pPr marL="0" marR="0" indent="0" algn="l" defTabSz="914400" rtl="0" latinLnBrk="0">
                        <a:lnSpc>
                          <a:spcPct val="100000"/>
                        </a:lnSpc>
                        <a:spcBef>
                          <a:spcPts val="0"/>
                        </a:spcBef>
                        <a:spcAft>
                          <a:spcPts val="0"/>
                        </a:spcAft>
                        <a:buClrTx/>
                        <a:buSzTx/>
                        <a:buFontTx/>
                        <a:buNone/>
                        <a:tabLst/>
                      </a:pPr>
                      <a:r>
                        <a:rPr lang="en-US" sz="1800" b="1" i="0" u="none" strike="noStrike" cap="none" spc="0" baseline="0" dirty="0">
                          <a:ln>
                            <a:noFill/>
                          </a:ln>
                          <a:solidFill>
                            <a:schemeClr val="lt1"/>
                          </a:solidFill>
                          <a:uFillTx/>
                          <a:latin typeface="+mn-lt"/>
                          <a:ea typeface="+mn-ea"/>
                          <a:cs typeface="+mn-cs"/>
                          <a:sym typeface="Calibri"/>
                        </a:rPr>
                        <a:t>Experiment Number</a:t>
                      </a:r>
                    </a:p>
                  </a:txBody>
                  <a:tcPr marL="68580" marR="68580" marT="0" marB="0" anchor="ctr"/>
                </a:tc>
                <a:tc gridSpan="2">
                  <a:txBody>
                    <a:bodyPr/>
                    <a:lstStyle/>
                    <a:p>
                      <a:pPr marL="0" marR="0" indent="0" algn="ctr" defTabSz="914400" rtl="0" latinLnBrk="0">
                        <a:lnSpc>
                          <a:spcPct val="100000"/>
                        </a:lnSpc>
                        <a:spcBef>
                          <a:spcPts val="0"/>
                        </a:spcBef>
                        <a:spcAft>
                          <a:spcPts val="0"/>
                        </a:spcAft>
                        <a:buClrTx/>
                        <a:buSzTx/>
                        <a:buFontTx/>
                        <a:buNone/>
                        <a:tabLst/>
                      </a:pPr>
                      <a:r>
                        <a:rPr lang="en-US" sz="1800" b="1" i="0" u="none" strike="noStrike" cap="none" spc="0" baseline="0" dirty="0">
                          <a:ln>
                            <a:noFill/>
                          </a:ln>
                          <a:solidFill>
                            <a:schemeClr val="lt1"/>
                          </a:solidFill>
                          <a:uFillTx/>
                          <a:latin typeface="+mn-lt"/>
                          <a:ea typeface="+mn-ea"/>
                          <a:cs typeface="+mn-cs"/>
                          <a:sym typeface="Calibri"/>
                        </a:rPr>
                        <a:t>Aware</a:t>
                      </a:r>
                    </a:p>
                  </a:txBody>
                  <a:tcPr marL="68580" marR="68580" marT="0" marB="0" anchor="ctr"/>
                </a:tc>
                <a:tc hMerge="1">
                  <a:txBody>
                    <a:bodyPr/>
                    <a:lstStyle/>
                    <a:p>
                      <a:endParaRPr lang="en-US"/>
                    </a:p>
                  </a:txBody>
                  <a:tcPr/>
                </a:tc>
                <a:tc gridSpan="2">
                  <a:txBody>
                    <a:bodyPr/>
                    <a:lstStyle/>
                    <a:p>
                      <a:pPr marL="0" marR="0" indent="0" algn="ctr" defTabSz="914400" rtl="0" latinLnBrk="0">
                        <a:lnSpc>
                          <a:spcPct val="100000"/>
                        </a:lnSpc>
                        <a:spcBef>
                          <a:spcPts val="0"/>
                        </a:spcBef>
                        <a:spcAft>
                          <a:spcPts val="0"/>
                        </a:spcAft>
                        <a:buClrTx/>
                        <a:buSzTx/>
                        <a:buFontTx/>
                        <a:buNone/>
                        <a:tabLst/>
                      </a:pPr>
                      <a:r>
                        <a:rPr lang="en-US" sz="1800" b="1" i="0" u="none" strike="noStrike" cap="none" spc="0" baseline="0" dirty="0">
                          <a:ln>
                            <a:noFill/>
                          </a:ln>
                          <a:solidFill>
                            <a:schemeClr val="lt1"/>
                          </a:solidFill>
                          <a:uFillTx/>
                          <a:latin typeface="+mn-lt"/>
                          <a:ea typeface="+mn-ea"/>
                          <a:cs typeface="+mn-cs"/>
                          <a:sym typeface="Calibri"/>
                        </a:rPr>
                        <a:t>Learn</a:t>
                      </a:r>
                    </a:p>
                  </a:txBody>
                  <a:tcPr marL="68580" marR="68580" marT="0" marB="0" anchor="ctr"/>
                </a:tc>
                <a:tc hMerge="1">
                  <a:txBody>
                    <a:bodyPr/>
                    <a:lstStyle/>
                    <a:p>
                      <a:endParaRPr lang="en-US"/>
                    </a:p>
                  </a:txBody>
                  <a:tcPr/>
                </a:tc>
                <a:extLst>
                  <a:ext uri="{0D108BD9-81ED-4DB2-BD59-A6C34878D82A}">
                    <a16:rowId xmlns:a16="http://schemas.microsoft.com/office/drawing/2014/main" val="4018200896"/>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Constant</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0.91***</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0.91***</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0.94***</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0.92***</a:t>
                      </a:r>
                    </a:p>
                  </a:txBody>
                  <a:tcPr marL="68580" marR="68580" marT="0" marB="0" anchor="ctr"/>
                </a:tc>
                <a:extLst>
                  <a:ext uri="{0D108BD9-81ED-4DB2-BD59-A6C34878D82A}">
                    <a16:rowId xmlns:a16="http://schemas.microsoft.com/office/drawing/2014/main" val="2360943659"/>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New Cases</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-24.54***</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-23.98***</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-27.03***</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-25.8***</a:t>
                      </a:r>
                    </a:p>
                  </a:txBody>
                  <a:tcPr marL="68580" marR="68580" marT="0" marB="0" anchor="ctr"/>
                </a:tc>
                <a:extLst>
                  <a:ext uri="{0D108BD9-81ED-4DB2-BD59-A6C34878D82A}">
                    <a16:rowId xmlns:a16="http://schemas.microsoft.com/office/drawing/2014/main" val="1694673026"/>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New Cases</a:t>
                      </a:r>
                      <a:r>
                        <a:rPr lang="en-US" sz="1800" b="0" i="0" u="none" strike="noStrike" cap="none" spc="0" baseline="30000" dirty="0">
                          <a:ln>
                            <a:noFill/>
                          </a:ln>
                          <a:solidFill>
                            <a:schemeClr val="dk1"/>
                          </a:solidFill>
                          <a:uFillTx/>
                          <a:latin typeface="+mn-lt"/>
                          <a:ea typeface="+mn-ea"/>
                          <a:cs typeface="+mn-cs"/>
                          <a:sym typeface="Calibri"/>
                        </a:rPr>
                        <a:t>2</a:t>
                      </a:r>
                      <a:endParaRPr lang="en-US" sz="1800" b="0" i="0" u="none" strike="noStrike" cap="none" spc="0" baseline="0" dirty="0">
                        <a:ln>
                          <a:noFill/>
                        </a:ln>
                        <a:solidFill>
                          <a:schemeClr val="dk1"/>
                        </a:solidFill>
                        <a:uFillTx/>
                        <a:latin typeface="+mn-lt"/>
                        <a:ea typeface="+mn-ea"/>
                        <a:cs typeface="+mn-cs"/>
                        <a:sym typeface="Calibri"/>
                      </a:endParaRP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172.82***</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170.69***</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196.66***</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192.91***</a:t>
                      </a:r>
                    </a:p>
                  </a:txBody>
                  <a:tcPr marL="68580" marR="68580" marT="0" marB="0" anchor="ctr"/>
                </a:tc>
                <a:extLst>
                  <a:ext uri="{0D108BD9-81ED-4DB2-BD59-A6C34878D82A}">
                    <a16:rowId xmlns:a16="http://schemas.microsoft.com/office/drawing/2014/main" val="4031910938"/>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Experiment</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-0.015</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-0.00</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-0.10***</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-0.07**</a:t>
                      </a:r>
                    </a:p>
                  </a:txBody>
                  <a:tcPr marL="68580" marR="68580" marT="0" marB="0" anchor="ctr"/>
                </a:tc>
                <a:extLst>
                  <a:ext uri="{0D108BD9-81ED-4DB2-BD59-A6C34878D82A}">
                    <a16:rowId xmlns:a16="http://schemas.microsoft.com/office/drawing/2014/main" val="3082557664"/>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New Cases * Experiment</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 </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-0.84</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 </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-1.80*</a:t>
                      </a:r>
                    </a:p>
                  </a:txBody>
                  <a:tcPr marL="68580" marR="68580" marT="0" marB="0" anchor="ctr"/>
                </a:tc>
                <a:extLst>
                  <a:ext uri="{0D108BD9-81ED-4DB2-BD59-A6C34878D82A}">
                    <a16:rowId xmlns:a16="http://schemas.microsoft.com/office/drawing/2014/main" val="1757153458"/>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R</a:t>
                      </a:r>
                      <a:r>
                        <a:rPr lang="en-US" sz="1800" b="0" i="0" u="none" strike="noStrike" cap="none" spc="0" baseline="30000" dirty="0">
                          <a:ln>
                            <a:noFill/>
                          </a:ln>
                          <a:solidFill>
                            <a:schemeClr val="dk1"/>
                          </a:solidFill>
                          <a:uFillTx/>
                          <a:latin typeface="+mn-lt"/>
                          <a:ea typeface="+mn-ea"/>
                          <a:cs typeface="+mn-cs"/>
                          <a:sym typeface="Calibri"/>
                        </a:rPr>
                        <a:t>2</a:t>
                      </a:r>
                      <a:endParaRPr lang="en-US" sz="1800" b="0" i="0" u="none" strike="noStrike" cap="none" spc="0" baseline="0" dirty="0">
                        <a:ln>
                          <a:noFill/>
                        </a:ln>
                        <a:solidFill>
                          <a:schemeClr val="dk1"/>
                        </a:solidFill>
                        <a:uFillTx/>
                        <a:latin typeface="+mn-lt"/>
                        <a:ea typeface="+mn-ea"/>
                        <a:cs typeface="+mn-cs"/>
                        <a:sym typeface="Calibri"/>
                      </a:endParaRP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0.83</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0.83</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0.75</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0.76</a:t>
                      </a:r>
                    </a:p>
                  </a:txBody>
                  <a:tcPr marL="68580" marR="68580" marT="0" marB="0" anchor="ctr"/>
                </a:tc>
                <a:extLst>
                  <a:ext uri="{0D108BD9-81ED-4DB2-BD59-A6C34878D82A}">
                    <a16:rowId xmlns:a16="http://schemas.microsoft.com/office/drawing/2014/main" val="674088053"/>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N</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383 </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383</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381</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381</a:t>
                      </a:r>
                    </a:p>
                  </a:txBody>
                  <a:tcPr marL="68580" marR="68580" marT="0" marB="0" anchor="ctr"/>
                </a:tc>
                <a:extLst>
                  <a:ext uri="{0D108BD9-81ED-4DB2-BD59-A6C34878D82A}">
                    <a16:rowId xmlns:a16="http://schemas.microsoft.com/office/drawing/2014/main" val="4248162012"/>
                  </a:ext>
                </a:extLst>
              </a:tr>
            </a:tbl>
          </a:graphicData>
        </a:graphic>
      </p:graphicFrame>
      <p:sp>
        <p:nvSpPr>
          <p:cNvPr id="2" name="Rectangle 1">
            <a:extLst>
              <a:ext uri="{FF2B5EF4-FFF2-40B4-BE49-F238E27FC236}">
                <a16:creationId xmlns:a16="http://schemas.microsoft.com/office/drawing/2014/main" id="{9BFC6CCF-8E78-AD39-3662-759B9A7E2B44}"/>
              </a:ext>
            </a:extLst>
          </p:cNvPr>
          <p:cNvSpPr/>
          <p:nvPr/>
        </p:nvSpPr>
        <p:spPr>
          <a:xfrm>
            <a:off x="8593479" y="3028950"/>
            <a:ext cx="2121219" cy="1162050"/>
          </a:xfrm>
          <a:prstGeom prst="rect">
            <a:avLst/>
          </a:prstGeom>
          <a:ln w="12700">
            <a:miter lim="400000"/>
          </a:ln>
          <a:extLst>
            <a:ext uri="{C572A759-6A51-4108-AA02-DFA0A04FC94B}">
              <ma14:wrappingTextBoxFlag xmlns:ma14="http://schemas.microsoft.com/office/mac/drawingml/2011/main" xmlns="" val="1"/>
            </a:ext>
          </a:extLst>
        </p:spPr>
        <p:txBody>
          <a:bodyPr lIns="45719" rIns="45719" rtlCol="0" anchor="ctr">
            <a:spAutoFit/>
          </a:bodyPr>
          <a:lstStyle/>
          <a:p>
            <a:pPr algn="ctr"/>
            <a:endParaRPr lang="en-US" dirty="0"/>
          </a:p>
        </p:txBody>
      </p:sp>
      <p:sp>
        <p:nvSpPr>
          <p:cNvPr id="4" name="Rectangle 3">
            <a:extLst>
              <a:ext uri="{FF2B5EF4-FFF2-40B4-BE49-F238E27FC236}">
                <a16:creationId xmlns:a16="http://schemas.microsoft.com/office/drawing/2014/main" id="{996B6E7D-ED5C-E669-9AB0-D03D36D0920F}"/>
              </a:ext>
            </a:extLst>
          </p:cNvPr>
          <p:cNvSpPr/>
          <p:nvPr/>
        </p:nvSpPr>
        <p:spPr>
          <a:xfrm>
            <a:off x="627674" y="2908575"/>
            <a:ext cx="7965804" cy="770709"/>
          </a:xfrm>
          <a:prstGeom prst="rect">
            <a:avLst/>
          </a:prstGeom>
          <a:noFill/>
          <a:ln>
            <a:solidFill>
              <a:schemeClr val="bg2">
                <a:lumMod val="10000"/>
              </a:schemeClr>
            </a:solidFill>
          </a:ln>
          <a:extLst>
            <a:ext uri="{C572A759-6A51-4108-AA02-DFA0A04FC94B}">
              <ma14:wrappingTextBoxFlag xmlns:ma14="http://schemas.microsoft.com/office/mac/drawingml/2011/main" xmlns="" val="1"/>
            </a:ext>
          </a:extLst>
        </p:spPr>
        <p:style>
          <a:lnRef idx="2">
            <a:schemeClr val="accent6"/>
          </a:lnRef>
          <a:fillRef idx="1">
            <a:schemeClr val="lt1"/>
          </a:fillRef>
          <a:effectRef idx="0">
            <a:schemeClr val="accent6"/>
          </a:effectRef>
          <a:fontRef idx="minor">
            <a:schemeClr val="dk1"/>
          </a:fontRef>
        </p:style>
        <p:txBody>
          <a:bodyPr lIns="45719" rIns="45719" rtlCol="0" anchor="ctr">
            <a:spAutoFit/>
          </a:bodyPr>
          <a:lstStyle/>
          <a:p>
            <a:pPr algn="ctr"/>
            <a:endParaRPr lang="en-US" dirty="0"/>
          </a:p>
        </p:txBody>
      </p:sp>
    </p:spTree>
    <p:extLst>
      <p:ext uri="{BB962C8B-B14F-4D97-AF65-F5344CB8AC3E}">
        <p14:creationId xmlns:p14="http://schemas.microsoft.com/office/powerpoint/2010/main" val="27878786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pic>
        <p:nvPicPr>
          <p:cNvPr id="10" name="Picture 9" descr="A group of white cards with black text&#10;&#10;Description automatically generated">
            <a:extLst>
              <a:ext uri="{FF2B5EF4-FFF2-40B4-BE49-F238E27FC236}">
                <a16:creationId xmlns:a16="http://schemas.microsoft.com/office/drawing/2014/main" id="{79E8CA6A-2998-AEF2-243E-6040E0412FD7}"/>
              </a:ext>
            </a:extLst>
          </p:cNvPr>
          <p:cNvPicPr>
            <a:picLocks noChangeAspect="1"/>
          </p:cNvPicPr>
          <p:nvPr/>
        </p:nvPicPr>
        <p:blipFill>
          <a:blip r:embed="rId4"/>
          <a:stretch>
            <a:fillRect/>
          </a:stretch>
        </p:blipFill>
        <p:spPr>
          <a:xfrm>
            <a:off x="284777" y="2735580"/>
            <a:ext cx="7544159" cy="4028904"/>
          </a:xfrm>
          <a:prstGeom prst="rect">
            <a:avLst/>
          </a:prstGeom>
        </p:spPr>
      </p:pic>
      <p:pic>
        <p:nvPicPr>
          <p:cNvPr id="9220" name="Picture 4" descr="Adobe Character Animator Ryan Puppet on Behance">
            <a:extLst>
              <a:ext uri="{FF2B5EF4-FFF2-40B4-BE49-F238E27FC236}">
                <a16:creationId xmlns:a16="http://schemas.microsoft.com/office/drawing/2014/main" id="{E77EE326-4775-57E3-F435-514201FE1E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03679" y="2735579"/>
            <a:ext cx="4103542" cy="2051771"/>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Adobe Character Animator Debbie Puppet on Behance">
            <a:extLst>
              <a:ext uri="{FF2B5EF4-FFF2-40B4-BE49-F238E27FC236}">
                <a16:creationId xmlns:a16="http://schemas.microsoft.com/office/drawing/2014/main" id="{D99040A8-1EF0-550D-4DE6-6FAE3F0C19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03681" y="4712713"/>
            <a:ext cx="4103542" cy="205177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06DDF14E-E933-678B-B421-A359F8935AFE}"/>
              </a:ext>
            </a:extLst>
          </p:cNvPr>
          <p:cNvSpPr txBox="1"/>
          <p:nvPr/>
        </p:nvSpPr>
        <p:spPr>
          <a:xfrm>
            <a:off x="7013236" y="277521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(1)</a:t>
            </a:r>
          </a:p>
        </p:txBody>
      </p:sp>
      <p:sp>
        <p:nvSpPr>
          <p:cNvPr id="15" name="TextBox 14">
            <a:extLst>
              <a:ext uri="{FF2B5EF4-FFF2-40B4-BE49-F238E27FC236}">
                <a16:creationId xmlns:a16="http://schemas.microsoft.com/office/drawing/2014/main" id="{D02AD667-01C8-5BF4-5D28-127D08208B6A}"/>
              </a:ext>
            </a:extLst>
          </p:cNvPr>
          <p:cNvSpPr txBox="1"/>
          <p:nvPr/>
        </p:nvSpPr>
        <p:spPr>
          <a:xfrm>
            <a:off x="7016432" y="4769848"/>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(2)</a:t>
            </a:r>
          </a:p>
        </p:txBody>
      </p:sp>
      <p:sp>
        <p:nvSpPr>
          <p:cNvPr id="16" name="TextBox 15">
            <a:extLst>
              <a:ext uri="{FF2B5EF4-FFF2-40B4-BE49-F238E27FC236}">
                <a16:creationId xmlns:a16="http://schemas.microsoft.com/office/drawing/2014/main" id="{34FBB4F6-06F3-B3AB-0729-FEF8C01B246B}"/>
              </a:ext>
            </a:extLst>
          </p:cNvPr>
          <p:cNvSpPr txBox="1"/>
          <p:nvPr/>
        </p:nvSpPr>
        <p:spPr>
          <a:xfrm>
            <a:off x="3097975" y="475003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(1)</a:t>
            </a:r>
          </a:p>
        </p:txBody>
      </p:sp>
      <p:sp>
        <p:nvSpPr>
          <p:cNvPr id="21" name="TextBox 20">
            <a:extLst>
              <a:ext uri="{FF2B5EF4-FFF2-40B4-BE49-F238E27FC236}">
                <a16:creationId xmlns:a16="http://schemas.microsoft.com/office/drawing/2014/main" id="{36E808F2-B426-9C2F-93B6-6F4E44F47647}"/>
              </a:ext>
            </a:extLst>
          </p:cNvPr>
          <p:cNvSpPr txBox="1"/>
          <p:nvPr/>
        </p:nvSpPr>
        <p:spPr>
          <a:xfrm>
            <a:off x="11236488" y="277521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(3)</a:t>
            </a:r>
          </a:p>
        </p:txBody>
      </p:sp>
      <p:sp>
        <p:nvSpPr>
          <p:cNvPr id="23" name="TextBox 22">
            <a:extLst>
              <a:ext uri="{FF2B5EF4-FFF2-40B4-BE49-F238E27FC236}">
                <a16:creationId xmlns:a16="http://schemas.microsoft.com/office/drawing/2014/main" id="{A4820CFB-38D4-5974-F0D0-3E5F15D24F92}"/>
              </a:ext>
            </a:extLst>
          </p:cNvPr>
          <p:cNvSpPr txBox="1"/>
          <p:nvPr/>
        </p:nvSpPr>
        <p:spPr>
          <a:xfrm>
            <a:off x="11236488" y="4778599"/>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(3)</a:t>
            </a:r>
          </a:p>
        </p:txBody>
      </p:sp>
      <p:sp>
        <p:nvSpPr>
          <p:cNvPr id="3" name="TextBox 2">
            <a:extLst>
              <a:ext uri="{FF2B5EF4-FFF2-40B4-BE49-F238E27FC236}">
                <a16:creationId xmlns:a16="http://schemas.microsoft.com/office/drawing/2014/main" id="{01CB957A-B898-80AD-705E-485878362C87}"/>
              </a:ext>
            </a:extLst>
          </p:cNvPr>
          <p:cNvSpPr txBox="1"/>
          <p:nvPr/>
        </p:nvSpPr>
        <p:spPr>
          <a:xfrm>
            <a:off x="400732" y="955953"/>
            <a:ext cx="8887430"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hangingPunct="0">
              <a:buFontTx/>
              <a:buAutoNum type="arabicPeriod"/>
            </a:pPr>
            <a:r>
              <a:rPr lang="en-US" sz="2000" b="1" dirty="0">
                <a:solidFill>
                  <a:schemeClr val="accent1"/>
                </a:solidFill>
                <a:latin typeface="+mj-lt"/>
                <a:ea typeface="+mj-ea"/>
                <a:cs typeface="+mj-cs"/>
                <a:sym typeface="Calibri"/>
              </a:rPr>
              <a:t>Are agents’ actions sensitive to synonymous phrases?</a:t>
            </a:r>
            <a:endParaRPr lang="en-US" sz="2000" b="1" dirty="0">
              <a:solidFill>
                <a:schemeClr val="accent1"/>
              </a:solidFill>
              <a:latin typeface="+mj-lt"/>
              <a:ea typeface="+mj-ea"/>
              <a:cs typeface="+mj-cs"/>
            </a:endParaRPr>
          </a:p>
          <a:p>
            <a:pPr marL="342900" indent="-342900" hangingPunct="0">
              <a:buFontTx/>
              <a:buAutoNum type="arabicPeriod"/>
            </a:pPr>
            <a:r>
              <a:rPr lang="en-US" sz="2000" b="1" dirty="0">
                <a:solidFill>
                  <a:schemeClr val="accent1"/>
                </a:solidFill>
                <a:latin typeface="+mj-lt"/>
                <a:ea typeface="+mj-ea"/>
                <a:cs typeface="+mj-cs"/>
                <a:sym typeface="Calibri"/>
              </a:rPr>
              <a:t>Are agents’ actions sensitive to nonsynonymous phrases?</a:t>
            </a:r>
            <a:endParaRPr lang="en-US" sz="2000" b="1" dirty="0">
              <a:solidFill>
                <a:schemeClr val="accent1"/>
              </a:solidFill>
              <a:latin typeface="+mj-lt"/>
              <a:ea typeface="+mj-ea"/>
              <a:cs typeface="+mj-cs"/>
            </a:endParaRPr>
          </a:p>
          <a:p>
            <a:pPr marL="342900" indent="-342900" hangingPunct="0">
              <a:buFontTx/>
              <a:buAutoNum type="arabicPeriod"/>
            </a:pPr>
            <a:r>
              <a:rPr lang="en-US" sz="2000" dirty="0">
                <a:solidFill>
                  <a:schemeClr val="accent1"/>
                </a:solidFill>
                <a:latin typeface="+mj-lt"/>
                <a:ea typeface="+mj-ea"/>
                <a:cs typeface="+mj-cs"/>
                <a:sym typeface="Calibri"/>
              </a:rPr>
              <a:t>Are agents’ actions sensitive to different scenarios?</a:t>
            </a:r>
          </a:p>
          <a:p>
            <a:pPr marL="342900" indent="-342900">
              <a:buFontTx/>
              <a:buAutoNum type="arabicPeriod"/>
            </a:pPr>
            <a:r>
              <a:rPr lang="en-US" sz="2000" dirty="0">
                <a:solidFill>
                  <a:schemeClr val="accent1"/>
                </a:solidFill>
                <a:latin typeface="+mj-lt"/>
                <a:ea typeface="+mj-ea"/>
                <a:cs typeface="+mj-cs"/>
              </a:rPr>
              <a:t>Are agents’ actions sensitive to different names?</a:t>
            </a:r>
          </a:p>
        </p:txBody>
      </p:sp>
    </p:spTree>
    <p:extLst>
      <p:ext uri="{BB962C8B-B14F-4D97-AF65-F5344CB8AC3E}">
        <p14:creationId xmlns:p14="http://schemas.microsoft.com/office/powerpoint/2010/main" val="20438409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pic>
        <p:nvPicPr>
          <p:cNvPr id="10" name="Picture 9" descr="A group of white cards with black text&#10;&#10;Description automatically generated">
            <a:extLst>
              <a:ext uri="{FF2B5EF4-FFF2-40B4-BE49-F238E27FC236}">
                <a16:creationId xmlns:a16="http://schemas.microsoft.com/office/drawing/2014/main" id="{79E8CA6A-2998-AEF2-243E-6040E0412FD7}"/>
              </a:ext>
            </a:extLst>
          </p:cNvPr>
          <p:cNvPicPr>
            <a:picLocks noChangeAspect="1"/>
          </p:cNvPicPr>
          <p:nvPr/>
        </p:nvPicPr>
        <p:blipFill>
          <a:blip r:embed="rId4"/>
          <a:stretch>
            <a:fillRect/>
          </a:stretch>
        </p:blipFill>
        <p:spPr>
          <a:xfrm>
            <a:off x="284777" y="2735580"/>
            <a:ext cx="7544159" cy="4028904"/>
          </a:xfrm>
          <a:prstGeom prst="rect">
            <a:avLst/>
          </a:prstGeom>
        </p:spPr>
      </p:pic>
      <p:pic>
        <p:nvPicPr>
          <p:cNvPr id="9220" name="Picture 4" descr="Adobe Character Animator Ryan Puppet on Behance">
            <a:extLst>
              <a:ext uri="{FF2B5EF4-FFF2-40B4-BE49-F238E27FC236}">
                <a16:creationId xmlns:a16="http://schemas.microsoft.com/office/drawing/2014/main" id="{E77EE326-4775-57E3-F435-514201FE1E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03679" y="2735579"/>
            <a:ext cx="4103542" cy="2051771"/>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Adobe Character Animator Debbie Puppet on Behance">
            <a:extLst>
              <a:ext uri="{FF2B5EF4-FFF2-40B4-BE49-F238E27FC236}">
                <a16:creationId xmlns:a16="http://schemas.microsoft.com/office/drawing/2014/main" id="{D99040A8-1EF0-550D-4DE6-6FAE3F0C19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03681" y="4712713"/>
            <a:ext cx="4103542" cy="205177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06DDF14E-E933-678B-B421-A359F8935AFE}"/>
              </a:ext>
            </a:extLst>
          </p:cNvPr>
          <p:cNvSpPr txBox="1"/>
          <p:nvPr/>
        </p:nvSpPr>
        <p:spPr>
          <a:xfrm>
            <a:off x="7013236" y="277521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(1)</a:t>
            </a:r>
          </a:p>
        </p:txBody>
      </p:sp>
      <p:sp>
        <p:nvSpPr>
          <p:cNvPr id="15" name="TextBox 14">
            <a:extLst>
              <a:ext uri="{FF2B5EF4-FFF2-40B4-BE49-F238E27FC236}">
                <a16:creationId xmlns:a16="http://schemas.microsoft.com/office/drawing/2014/main" id="{D02AD667-01C8-5BF4-5D28-127D08208B6A}"/>
              </a:ext>
            </a:extLst>
          </p:cNvPr>
          <p:cNvSpPr txBox="1"/>
          <p:nvPr/>
        </p:nvSpPr>
        <p:spPr>
          <a:xfrm>
            <a:off x="7016432" y="4769848"/>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(2)</a:t>
            </a:r>
          </a:p>
        </p:txBody>
      </p:sp>
      <p:sp>
        <p:nvSpPr>
          <p:cNvPr id="16" name="TextBox 15">
            <a:extLst>
              <a:ext uri="{FF2B5EF4-FFF2-40B4-BE49-F238E27FC236}">
                <a16:creationId xmlns:a16="http://schemas.microsoft.com/office/drawing/2014/main" id="{34FBB4F6-06F3-B3AB-0729-FEF8C01B246B}"/>
              </a:ext>
            </a:extLst>
          </p:cNvPr>
          <p:cNvSpPr txBox="1"/>
          <p:nvPr/>
        </p:nvSpPr>
        <p:spPr>
          <a:xfrm>
            <a:off x="3097975" y="475003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(1)</a:t>
            </a:r>
          </a:p>
        </p:txBody>
      </p:sp>
      <p:sp>
        <p:nvSpPr>
          <p:cNvPr id="21" name="TextBox 20">
            <a:extLst>
              <a:ext uri="{FF2B5EF4-FFF2-40B4-BE49-F238E27FC236}">
                <a16:creationId xmlns:a16="http://schemas.microsoft.com/office/drawing/2014/main" id="{36E808F2-B426-9C2F-93B6-6F4E44F47647}"/>
              </a:ext>
            </a:extLst>
          </p:cNvPr>
          <p:cNvSpPr txBox="1"/>
          <p:nvPr/>
        </p:nvSpPr>
        <p:spPr>
          <a:xfrm>
            <a:off x="11236488" y="277521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(3)</a:t>
            </a:r>
          </a:p>
        </p:txBody>
      </p:sp>
      <p:sp>
        <p:nvSpPr>
          <p:cNvPr id="23" name="TextBox 22">
            <a:extLst>
              <a:ext uri="{FF2B5EF4-FFF2-40B4-BE49-F238E27FC236}">
                <a16:creationId xmlns:a16="http://schemas.microsoft.com/office/drawing/2014/main" id="{A4820CFB-38D4-5974-F0D0-3E5F15D24F92}"/>
              </a:ext>
            </a:extLst>
          </p:cNvPr>
          <p:cNvSpPr txBox="1"/>
          <p:nvPr/>
        </p:nvSpPr>
        <p:spPr>
          <a:xfrm>
            <a:off x="11236488" y="4778599"/>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(3)</a:t>
            </a:r>
          </a:p>
        </p:txBody>
      </p:sp>
      <p:sp>
        <p:nvSpPr>
          <p:cNvPr id="3" name="TextBox 2">
            <a:extLst>
              <a:ext uri="{FF2B5EF4-FFF2-40B4-BE49-F238E27FC236}">
                <a16:creationId xmlns:a16="http://schemas.microsoft.com/office/drawing/2014/main" id="{677409AF-1640-3BD2-29FF-94A12355497B}"/>
              </a:ext>
            </a:extLst>
          </p:cNvPr>
          <p:cNvSpPr txBox="1"/>
          <p:nvPr/>
        </p:nvSpPr>
        <p:spPr>
          <a:xfrm>
            <a:off x="400732" y="955953"/>
            <a:ext cx="8887430"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hangingPunct="0">
              <a:buFontTx/>
              <a:buAutoNum type="arabicPeriod"/>
            </a:pPr>
            <a:r>
              <a:rPr lang="en-US" sz="2000" dirty="0">
                <a:solidFill>
                  <a:schemeClr val="accent1"/>
                </a:solidFill>
                <a:latin typeface="+mj-lt"/>
                <a:ea typeface="+mj-ea"/>
                <a:cs typeface="+mj-cs"/>
                <a:sym typeface="Calibri"/>
              </a:rPr>
              <a:t>Are agents’ actions sensitive to synonymous phrases?</a:t>
            </a:r>
            <a:endParaRPr lang="en-US" sz="2000" dirty="0">
              <a:solidFill>
                <a:schemeClr val="accent1"/>
              </a:solidFill>
              <a:latin typeface="+mj-lt"/>
              <a:ea typeface="+mj-ea"/>
              <a:cs typeface="+mj-cs"/>
            </a:endParaRPr>
          </a:p>
          <a:p>
            <a:pPr marL="342900" indent="-342900" hangingPunct="0">
              <a:buFontTx/>
              <a:buAutoNum type="arabicPeriod"/>
            </a:pPr>
            <a:r>
              <a:rPr lang="en-US" sz="2000" dirty="0">
                <a:solidFill>
                  <a:schemeClr val="accent1"/>
                </a:solidFill>
                <a:latin typeface="+mj-lt"/>
                <a:ea typeface="+mj-ea"/>
                <a:cs typeface="+mj-cs"/>
                <a:sym typeface="Calibri"/>
              </a:rPr>
              <a:t>Are agents’ actions sensitive to nonsynonymous phrases?</a:t>
            </a:r>
            <a:endParaRPr lang="en-US" sz="2000" dirty="0">
              <a:solidFill>
                <a:schemeClr val="accent1"/>
              </a:solidFill>
              <a:latin typeface="+mj-lt"/>
              <a:ea typeface="+mj-ea"/>
              <a:cs typeface="+mj-cs"/>
            </a:endParaRPr>
          </a:p>
          <a:p>
            <a:pPr marL="342900" indent="-342900" hangingPunct="0">
              <a:buFontTx/>
              <a:buAutoNum type="arabicPeriod"/>
            </a:pPr>
            <a:r>
              <a:rPr lang="en-US" sz="2000" b="1" dirty="0">
                <a:solidFill>
                  <a:schemeClr val="accent1"/>
                </a:solidFill>
                <a:latin typeface="+mj-lt"/>
                <a:ea typeface="+mj-ea"/>
                <a:cs typeface="+mj-cs"/>
                <a:sym typeface="Calibri"/>
              </a:rPr>
              <a:t>Are agents’ actions sensitive to different scenarios?</a:t>
            </a:r>
            <a:endParaRPr lang="en-US" sz="2000" b="1" dirty="0">
              <a:solidFill>
                <a:schemeClr val="accent1"/>
              </a:solidFill>
              <a:latin typeface="+mj-lt"/>
              <a:ea typeface="+mj-ea"/>
              <a:cs typeface="+mj-cs"/>
            </a:endParaRPr>
          </a:p>
          <a:p>
            <a:pPr marL="342900" indent="-342900">
              <a:buFontTx/>
              <a:buAutoNum type="arabicPeriod"/>
            </a:pPr>
            <a:r>
              <a:rPr lang="en-US" sz="2000" dirty="0">
                <a:solidFill>
                  <a:schemeClr val="accent1"/>
                </a:solidFill>
                <a:latin typeface="+mj-lt"/>
                <a:ea typeface="+mj-ea"/>
                <a:cs typeface="+mj-cs"/>
              </a:rPr>
              <a:t>Are agents’ actions sensitive to different names?</a:t>
            </a:r>
          </a:p>
        </p:txBody>
      </p:sp>
    </p:spTree>
    <p:extLst>
      <p:ext uri="{BB962C8B-B14F-4D97-AF65-F5344CB8AC3E}">
        <p14:creationId xmlns:p14="http://schemas.microsoft.com/office/powerpoint/2010/main" val="32682945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12" name="MEET OUR TEAM">
            <a:extLst>
              <a:ext uri="{FF2B5EF4-FFF2-40B4-BE49-F238E27FC236}">
                <a16:creationId xmlns:a16="http://schemas.microsoft.com/office/drawing/2014/main" id="{35254D17-5340-43C3-42D2-63FAF553E1E5}"/>
              </a:ext>
            </a:extLst>
          </p:cNvPr>
          <p:cNvSpPr/>
          <p:nvPr/>
        </p:nvSpPr>
        <p:spPr>
          <a:xfrm>
            <a:off x="627676" y="-216976"/>
            <a:ext cx="10826223" cy="1066927"/>
          </a:xfrm>
          <a:prstGeom prst="rect">
            <a:avLst/>
          </a:prstGeom>
          <a:ln w="12700">
            <a:miter lim="400000"/>
          </a:ln>
          <a:extLst>
            <a:ext uri="{C572A759-6A51-4108-AA02-DFA0A04FC94B}">
              <ma14:wrappingTextBoxFlag xmlns:ma14="http://schemas.microsoft.com/office/mac/drawingml/2011/main" xmlns="" val="1"/>
            </a:ext>
          </a:extLst>
        </p:spPr>
        <p:txBody>
          <a:bodyPr lIns="45719" tIns="45720" rIns="45719" bIns="45720"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a:defRPr/>
            </a:pPr>
            <a:r>
              <a:rPr lang="en-US" sz="3200" b="1" kern="0" spc="0" dirty="0">
                <a:solidFill>
                  <a:srgbClr val="861F41"/>
                </a:solidFill>
                <a:latin typeface="Arial"/>
                <a:cs typeface="Arial"/>
              </a:rPr>
              <a:t>Different scenarios</a:t>
            </a:r>
            <a:endParaRPr lang="en-US" sz="3200" kern="0" spc="0" dirty="0">
              <a:solidFill>
                <a:srgbClr val="000000"/>
              </a:solidFill>
              <a:latin typeface="Arial"/>
              <a:cs typeface="Arial"/>
            </a:endParaRPr>
          </a:p>
        </p:txBody>
      </p:sp>
      <p:pic>
        <p:nvPicPr>
          <p:cNvPr id="9" name="Picture 8">
            <a:extLst>
              <a:ext uri="{FF2B5EF4-FFF2-40B4-BE49-F238E27FC236}">
                <a16:creationId xmlns:a16="http://schemas.microsoft.com/office/drawing/2014/main" id="{C10DB975-A9DA-AE4E-3AE8-E25BC64644EA}"/>
              </a:ext>
            </a:extLst>
          </p:cNvPr>
          <p:cNvPicPr>
            <a:picLocks noChangeAspect="1"/>
          </p:cNvPicPr>
          <p:nvPr/>
        </p:nvPicPr>
        <p:blipFill>
          <a:blip r:embed="rId4"/>
          <a:stretch>
            <a:fillRect/>
          </a:stretch>
        </p:blipFill>
        <p:spPr>
          <a:xfrm>
            <a:off x="-2" y="1136668"/>
            <a:ext cx="4697194" cy="2899023"/>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E809ABF-28F6-1222-20B2-076F2B65A223}"/>
                  </a:ext>
                </a:extLst>
              </p:cNvPr>
              <p:cNvSpPr txBox="1"/>
              <p:nvPr/>
            </p:nvSpPr>
            <p:spPr>
              <a:xfrm>
                <a:off x="4932755" y="3518299"/>
                <a:ext cx="626710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hangingPunct="0"/>
                <a14:m>
                  <m:oMathPara xmlns:m="http://schemas.openxmlformats.org/officeDocument/2006/math">
                    <m:oMathParaPr>
                      <m:jc m:val="centerGroup"/>
                    </m:oMathParaPr>
                    <m:oMath xmlns:m="http://schemas.openxmlformats.org/officeDocument/2006/math">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𝑀𝑜𝑏𝑖𝑙𝑖𝑡𝑦</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0</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ctrlPr>
                        </m:sSubPr>
                        <m:e>
                          <m:r>
                            <a:rPr kumimoji="0" lang="en-US" sz="1800" b="0" i="1" u="none" strike="noStrike" cap="none" spc="0" normalizeH="0" baseline="0" smtClean="0">
                              <a:ln>
                                <a:noFill/>
                              </a:ln>
                              <a:solidFill>
                                <a:schemeClr val="accent1"/>
                              </a:solidFill>
                              <a:effectLst/>
                              <a:uFillTx/>
                              <a:latin typeface="Cambria Math" panose="02040503050406030204" pitchFamily="18" charset="0"/>
                              <a:ea typeface="Cambria Math" panose="02040503050406030204" pitchFamily="18" charset="0"/>
                              <a:cs typeface="+mj-cs"/>
                              <a:sym typeface="Calibri"/>
                            </a:rPr>
                            <m:t>𝛽</m:t>
                          </m:r>
                        </m:e>
                        <m: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1</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𝑁𝑒𝑤𝐶𝑎𝑠𝑒𝑠</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2</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𝑁</m:t>
                      </m:r>
                      <m:sSup>
                        <m:sSupPr>
                          <m:ctrlP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ctrlPr>
                        </m:sSupPr>
                        <m:e>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𝑒𝑤𝐶𝑎𝑠𝑒𝑠</m:t>
                          </m:r>
                        </m:e>
                        <m:sup>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2</m:t>
                          </m:r>
                        </m:sup>
                      </m:sSup>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3</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𝑆𝑎𝑣𝑖𝑛𝑔𝑠</m:t>
                      </m:r>
                    </m:oMath>
                  </m:oMathPara>
                </a14:m>
                <a:endParaRPr kumimoji="0" lang="en-US" sz="1800" b="0" i="0" u="none" strike="noStrike" cap="none" spc="0" normalizeH="0" baseline="0" dirty="0">
                  <a:ln>
                    <a:noFill/>
                  </a:ln>
                  <a:solidFill>
                    <a:schemeClr val="accent1"/>
                  </a:solidFill>
                  <a:effectLst/>
                  <a:uFillTx/>
                  <a:latin typeface="+mj-lt"/>
                  <a:ea typeface="+mj-ea"/>
                  <a:cs typeface="+mj-cs"/>
                  <a:sym typeface="Calibri"/>
                </a:endParaRPr>
              </a:p>
            </p:txBody>
          </p:sp>
        </mc:Choice>
        <mc:Fallback xmlns="">
          <p:sp>
            <p:nvSpPr>
              <p:cNvPr id="25" name="TextBox 24">
                <a:extLst>
                  <a:ext uri="{FF2B5EF4-FFF2-40B4-BE49-F238E27FC236}">
                    <a16:creationId xmlns:a16="http://schemas.microsoft.com/office/drawing/2014/main" id="{5E809ABF-28F6-1222-20B2-076F2B65A223}"/>
                  </a:ext>
                </a:extLst>
              </p:cNvPr>
              <p:cNvSpPr txBox="1">
                <a:spLocks noRot="1" noChangeAspect="1" noMove="1" noResize="1" noEditPoints="1" noAdjustHandles="1" noChangeArrowheads="1" noChangeShapeType="1" noTextEdit="1"/>
              </p:cNvSpPr>
              <p:nvPr/>
            </p:nvSpPr>
            <p:spPr>
              <a:xfrm>
                <a:off x="4932755" y="3518299"/>
                <a:ext cx="6267100" cy="276999"/>
              </a:xfrm>
              <a:prstGeom prst="rect">
                <a:avLst/>
              </a:prstGeom>
              <a:blipFill>
                <a:blip r:embed="rId5"/>
                <a:stretch>
                  <a:fillRect l="-875" t="-4348" r="-875" b="-32609"/>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43753D0-826F-A0BB-3D50-7C4D0FD5A8D1}"/>
                  </a:ext>
                </a:extLst>
              </p:cNvPr>
              <p:cNvSpPr txBox="1"/>
              <p:nvPr/>
            </p:nvSpPr>
            <p:spPr>
              <a:xfrm>
                <a:off x="4932755" y="3909989"/>
                <a:ext cx="653852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hangingPunct="0"/>
                <a14:m>
                  <m:oMathPara xmlns:m="http://schemas.openxmlformats.org/officeDocument/2006/math">
                    <m:oMathParaPr>
                      <m:jc m:val="centerGroup"/>
                    </m:oMathParaPr>
                    <m:oMath xmlns:m="http://schemas.openxmlformats.org/officeDocument/2006/math">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𝑀𝑜𝑏𝑖𝑙𝑖𝑡𝑦</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0</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ctrlPr>
                        </m:sSubPr>
                        <m:e>
                          <m:r>
                            <a:rPr kumimoji="0" lang="en-US" sz="1800" b="0" i="1" u="none" strike="noStrike" cap="none" spc="0" normalizeH="0" baseline="0" smtClean="0">
                              <a:ln>
                                <a:noFill/>
                              </a:ln>
                              <a:solidFill>
                                <a:schemeClr val="accent1"/>
                              </a:solidFill>
                              <a:effectLst/>
                              <a:uFillTx/>
                              <a:latin typeface="Cambria Math" panose="02040503050406030204" pitchFamily="18" charset="0"/>
                              <a:ea typeface="Cambria Math" panose="02040503050406030204" pitchFamily="18" charset="0"/>
                              <a:cs typeface="+mj-cs"/>
                              <a:sym typeface="Calibri"/>
                            </a:rPr>
                            <m:t>𝛽</m:t>
                          </m:r>
                        </m:e>
                        <m: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1</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𝑁𝐶</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2</m:t>
                          </m:r>
                        </m:sub>
                      </m:sSub>
                      <m:sSup>
                        <m:sSupPr>
                          <m:ctrlP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ctrlPr>
                        </m:sSupPr>
                        <m:e>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𝑁𝐶</m:t>
                          </m:r>
                        </m:e>
                        <m:sup>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2</m:t>
                          </m:r>
                        </m:sup>
                      </m:sSup>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3</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𝑆𝑎𝑣𝑖𝑛𝑔𝑠</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4</m:t>
                          </m:r>
                        </m:sub>
                      </m:sSub>
                      <m:r>
                        <m:rPr>
                          <m:sty m:val="p"/>
                        </m:rPr>
                        <a:rPr lang="en-US" b="0" i="0" smtClean="0">
                          <a:solidFill>
                            <a:schemeClr val="accent1"/>
                          </a:solidFill>
                          <a:latin typeface="Cambria Math" panose="02040503050406030204" pitchFamily="18" charset="0"/>
                          <a:ea typeface="Cambria Math" panose="02040503050406030204" pitchFamily="18" charset="0"/>
                          <a:sym typeface="Calibri"/>
                        </a:rPr>
                        <m:t>NC</m:t>
                      </m:r>
                      <m:r>
                        <a:rPr lang="en-US" b="0" i="0" smtClean="0">
                          <a:solidFill>
                            <a:schemeClr val="accent1"/>
                          </a:solidFill>
                          <a:latin typeface="Cambria Math" panose="02040503050406030204" pitchFamily="18" charset="0"/>
                          <a:ea typeface="Cambria Math" panose="02040503050406030204" pitchFamily="18" charset="0"/>
                          <a:sym typeface="Calibri"/>
                        </a:rPr>
                        <m:t>∗</m:t>
                      </m:r>
                      <m:r>
                        <m:rPr>
                          <m:sty m:val="p"/>
                        </m:rPr>
                        <a:rPr lang="en-US" b="0" i="0" smtClean="0">
                          <a:solidFill>
                            <a:schemeClr val="accent1"/>
                          </a:solidFill>
                          <a:latin typeface="Cambria Math" panose="02040503050406030204" pitchFamily="18" charset="0"/>
                          <a:ea typeface="Cambria Math" panose="02040503050406030204" pitchFamily="18" charset="0"/>
                          <a:sym typeface="Calibri"/>
                        </a:rPr>
                        <m:t>Savings</m:t>
                      </m:r>
                    </m:oMath>
                  </m:oMathPara>
                </a14:m>
                <a:endParaRPr kumimoji="0" lang="en-US" sz="1800" b="0" i="0" u="none" strike="noStrike" cap="none" spc="0" normalizeH="0" baseline="0" dirty="0">
                  <a:ln>
                    <a:noFill/>
                  </a:ln>
                  <a:solidFill>
                    <a:schemeClr val="accent1"/>
                  </a:solidFill>
                  <a:effectLst/>
                  <a:uFillTx/>
                  <a:latin typeface="+mj-lt"/>
                  <a:ea typeface="+mj-ea"/>
                  <a:cs typeface="+mj-cs"/>
                  <a:sym typeface="Calibri"/>
                </a:endParaRPr>
              </a:p>
            </p:txBody>
          </p:sp>
        </mc:Choice>
        <mc:Fallback xmlns="">
          <p:sp>
            <p:nvSpPr>
              <p:cNvPr id="26" name="TextBox 25">
                <a:extLst>
                  <a:ext uri="{FF2B5EF4-FFF2-40B4-BE49-F238E27FC236}">
                    <a16:creationId xmlns:a16="http://schemas.microsoft.com/office/drawing/2014/main" id="{243753D0-826F-A0BB-3D50-7C4D0FD5A8D1}"/>
                  </a:ext>
                </a:extLst>
              </p:cNvPr>
              <p:cNvSpPr txBox="1">
                <a:spLocks noRot="1" noChangeAspect="1" noMove="1" noResize="1" noEditPoints="1" noAdjustHandles="1" noChangeArrowheads="1" noChangeShapeType="1" noTextEdit="1"/>
              </p:cNvSpPr>
              <p:nvPr/>
            </p:nvSpPr>
            <p:spPr>
              <a:xfrm>
                <a:off x="4932755" y="3909989"/>
                <a:ext cx="6538520" cy="276999"/>
              </a:xfrm>
              <a:prstGeom prst="rect">
                <a:avLst/>
              </a:prstGeom>
              <a:blipFill>
                <a:blip r:embed="rId6"/>
                <a:stretch>
                  <a:fillRect l="-839" t="-4348" r="-839" b="-32609"/>
                </a:stretch>
              </a:blipFill>
              <a:ln w="12700" cap="flat">
                <a:noFill/>
                <a:miter lim="400000"/>
              </a:ln>
              <a:effectLst/>
            </p:spPr>
            <p:txBody>
              <a:bodyPr/>
              <a:lstStyle/>
              <a:p>
                <a:r>
                  <a:rPr lang="en-US">
                    <a:noFill/>
                  </a:rPr>
                  <a:t> </a:t>
                </a:r>
              </a:p>
            </p:txBody>
          </p:sp>
        </mc:Fallback>
      </mc:AlternateContent>
      <p:pic>
        <p:nvPicPr>
          <p:cNvPr id="27" name="Picture 26">
            <a:extLst>
              <a:ext uri="{FF2B5EF4-FFF2-40B4-BE49-F238E27FC236}">
                <a16:creationId xmlns:a16="http://schemas.microsoft.com/office/drawing/2014/main" id="{DFB804E7-5821-C36D-B3BA-B6EC229DC9F2}"/>
              </a:ext>
            </a:extLst>
          </p:cNvPr>
          <p:cNvPicPr>
            <a:picLocks noChangeAspect="1"/>
          </p:cNvPicPr>
          <p:nvPr/>
        </p:nvPicPr>
        <p:blipFill>
          <a:blip r:embed="rId7"/>
          <a:stretch>
            <a:fillRect/>
          </a:stretch>
        </p:blipFill>
        <p:spPr>
          <a:xfrm>
            <a:off x="8034964" y="41967"/>
            <a:ext cx="4157599" cy="1103439"/>
          </a:xfrm>
          <a:prstGeom prst="rect">
            <a:avLst/>
          </a:prstGeom>
        </p:spPr>
      </p:pic>
      <p:pic>
        <p:nvPicPr>
          <p:cNvPr id="33" name="Picture 32">
            <a:extLst>
              <a:ext uri="{FF2B5EF4-FFF2-40B4-BE49-F238E27FC236}">
                <a16:creationId xmlns:a16="http://schemas.microsoft.com/office/drawing/2014/main" id="{FB6140E9-C886-63BA-A303-2ED0A572F53E}"/>
              </a:ext>
            </a:extLst>
          </p:cNvPr>
          <p:cNvPicPr>
            <a:picLocks noChangeAspect="1"/>
          </p:cNvPicPr>
          <p:nvPr/>
        </p:nvPicPr>
        <p:blipFill>
          <a:blip r:embed="rId8"/>
          <a:stretch>
            <a:fillRect/>
          </a:stretch>
        </p:blipFill>
        <p:spPr>
          <a:xfrm>
            <a:off x="-2" y="3998876"/>
            <a:ext cx="4696537" cy="2855561"/>
          </a:xfrm>
          <a:prstGeom prst="rect">
            <a:avLst/>
          </a:prstGeom>
        </p:spPr>
      </p:pic>
    </p:spTree>
    <p:extLst>
      <p:ext uri="{BB962C8B-B14F-4D97-AF65-F5344CB8AC3E}">
        <p14:creationId xmlns:p14="http://schemas.microsoft.com/office/powerpoint/2010/main" val="7089307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12" name="MEET OUR TEAM">
            <a:extLst>
              <a:ext uri="{FF2B5EF4-FFF2-40B4-BE49-F238E27FC236}">
                <a16:creationId xmlns:a16="http://schemas.microsoft.com/office/drawing/2014/main" id="{35254D17-5340-43C3-42D2-63FAF553E1E5}"/>
              </a:ext>
            </a:extLst>
          </p:cNvPr>
          <p:cNvSpPr/>
          <p:nvPr/>
        </p:nvSpPr>
        <p:spPr>
          <a:xfrm>
            <a:off x="627676" y="-216976"/>
            <a:ext cx="10826223" cy="1066927"/>
          </a:xfrm>
          <a:prstGeom prst="rect">
            <a:avLst/>
          </a:prstGeom>
          <a:ln w="12700">
            <a:miter lim="400000"/>
          </a:ln>
          <a:extLst>
            <a:ext uri="{C572A759-6A51-4108-AA02-DFA0A04FC94B}">
              <ma14:wrappingTextBoxFlag xmlns:ma14="http://schemas.microsoft.com/office/mac/drawingml/2011/main" xmlns="" val="1"/>
            </a:ext>
          </a:extLst>
        </p:spPr>
        <p:txBody>
          <a:bodyPr lIns="45719" tIns="45720" rIns="45719" bIns="45720"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a:defRPr/>
            </a:pPr>
            <a:r>
              <a:rPr lang="en-US" sz="3200" b="1" kern="0" spc="0" dirty="0">
                <a:solidFill>
                  <a:srgbClr val="861F41"/>
                </a:solidFill>
                <a:latin typeface="Arial"/>
                <a:cs typeface="Arial"/>
              </a:rPr>
              <a:t>Different scenarios</a:t>
            </a:r>
            <a:endParaRPr lang="en-US" dirty="0"/>
          </a:p>
        </p:txBody>
      </p:sp>
      <p:pic>
        <p:nvPicPr>
          <p:cNvPr id="3" name="Picture 2">
            <a:extLst>
              <a:ext uri="{FF2B5EF4-FFF2-40B4-BE49-F238E27FC236}">
                <a16:creationId xmlns:a16="http://schemas.microsoft.com/office/drawing/2014/main" id="{60F0DFEE-848B-6F7B-7963-78BB4F40C605}"/>
              </a:ext>
            </a:extLst>
          </p:cNvPr>
          <p:cNvPicPr>
            <a:picLocks noChangeAspect="1"/>
          </p:cNvPicPr>
          <p:nvPr/>
        </p:nvPicPr>
        <p:blipFill>
          <a:blip r:embed="rId4"/>
          <a:stretch>
            <a:fillRect/>
          </a:stretch>
        </p:blipFill>
        <p:spPr>
          <a:xfrm>
            <a:off x="8176477" y="1134634"/>
            <a:ext cx="1964896" cy="1197601"/>
          </a:xfrm>
          <a:prstGeom prst="rect">
            <a:avLst/>
          </a:prstGeom>
        </p:spPr>
      </p:pic>
      <p:pic>
        <p:nvPicPr>
          <p:cNvPr id="6" name="Picture 5">
            <a:extLst>
              <a:ext uri="{FF2B5EF4-FFF2-40B4-BE49-F238E27FC236}">
                <a16:creationId xmlns:a16="http://schemas.microsoft.com/office/drawing/2014/main" id="{727E2200-1628-94B1-88FC-FB3CF7DD0EA4}"/>
              </a:ext>
            </a:extLst>
          </p:cNvPr>
          <p:cNvPicPr>
            <a:picLocks noChangeAspect="1"/>
          </p:cNvPicPr>
          <p:nvPr/>
        </p:nvPicPr>
        <p:blipFill>
          <a:blip r:embed="rId5"/>
          <a:stretch>
            <a:fillRect/>
          </a:stretch>
        </p:blipFill>
        <p:spPr>
          <a:xfrm>
            <a:off x="10116257" y="1135647"/>
            <a:ext cx="1964896" cy="1196588"/>
          </a:xfrm>
          <a:prstGeom prst="rect">
            <a:avLst/>
          </a:prstGeom>
        </p:spPr>
      </p:pic>
      <p:pic>
        <p:nvPicPr>
          <p:cNvPr id="7" name="Picture 6">
            <a:extLst>
              <a:ext uri="{FF2B5EF4-FFF2-40B4-BE49-F238E27FC236}">
                <a16:creationId xmlns:a16="http://schemas.microsoft.com/office/drawing/2014/main" id="{B7053B91-6FAD-54B3-4E8B-E9BD0F468770}"/>
              </a:ext>
            </a:extLst>
          </p:cNvPr>
          <p:cNvPicPr>
            <a:picLocks noChangeAspect="1"/>
          </p:cNvPicPr>
          <p:nvPr/>
        </p:nvPicPr>
        <p:blipFill>
          <a:blip r:embed="rId6"/>
          <a:stretch>
            <a:fillRect/>
          </a:stretch>
        </p:blipFill>
        <p:spPr>
          <a:xfrm>
            <a:off x="8176478" y="68903"/>
            <a:ext cx="4015522" cy="1065731"/>
          </a:xfrm>
          <a:prstGeom prst="rect">
            <a:avLst/>
          </a:prstGeom>
        </p:spPr>
      </p:pic>
      <p:sp>
        <p:nvSpPr>
          <p:cNvPr id="8" name="TextBox 7">
            <a:extLst>
              <a:ext uri="{FF2B5EF4-FFF2-40B4-BE49-F238E27FC236}">
                <a16:creationId xmlns:a16="http://schemas.microsoft.com/office/drawing/2014/main" id="{E3E2D875-797A-BB56-75BA-A81200D92592}"/>
              </a:ext>
            </a:extLst>
          </p:cNvPr>
          <p:cNvSpPr txBox="1"/>
          <p:nvPr/>
        </p:nvSpPr>
        <p:spPr>
          <a:xfrm>
            <a:off x="627676" y="4380299"/>
            <a:ext cx="5648268" cy="61555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hangingPunct="0">
              <a:defRPr/>
            </a:pPr>
            <a:r>
              <a:rPr kumimoji="0" lang="en-US" sz="1600" i="0" u="none" strike="noStrike" kern="0" cap="none" spc="0" normalizeH="0" baseline="0" noProof="0" dirty="0">
                <a:ln>
                  <a:noFill/>
                </a:ln>
                <a:solidFill>
                  <a:srgbClr val="861F41"/>
                </a:solidFill>
                <a:effectLst/>
                <a:uLnTx/>
                <a:uFillTx/>
                <a:latin typeface="Calibri"/>
                <a:cs typeface="Calibri"/>
                <a:sym typeface="Calibri"/>
              </a:rPr>
              <a:t>***P&lt;0.000, **P&lt;0.01. *P&lt;0.05</a:t>
            </a:r>
            <a:endParaRPr kumimoji="0" lang="en-US" sz="1600" i="1" u="none" strike="noStrike" kern="0" cap="none" spc="0" normalizeH="0" baseline="0" noProof="0" dirty="0">
              <a:ln>
                <a:noFill/>
              </a:ln>
              <a:solidFill>
                <a:srgbClr val="861F41"/>
              </a:solidFill>
              <a:effectLst/>
              <a:uLnTx/>
              <a:uFillTx/>
              <a:latin typeface="Calibri"/>
              <a:cs typeface="Calibri"/>
              <a:sym typeface="Calibri"/>
            </a:endParaRPr>
          </a:p>
          <a:p>
            <a:pPr marL="285750" marR="0" lvl="0" indent="-285750" algn="l" defTabSz="914400" rtl="0" eaLnBrk="1" fontAlgn="auto" latinLnBrk="0" hangingPunct="0">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dirty="0">
              <a:ln>
                <a:noFill/>
              </a:ln>
              <a:solidFill>
                <a:srgbClr val="861F41"/>
              </a:solidFill>
              <a:effectLst/>
              <a:uLnTx/>
              <a:uFillTx/>
              <a:latin typeface="Calibri"/>
              <a:ea typeface="+mj-ea"/>
              <a:cs typeface="Calibri"/>
              <a:sym typeface="Calibri"/>
            </a:endParaRPr>
          </a:p>
        </p:txBody>
      </p:sp>
      <p:sp>
        <p:nvSpPr>
          <p:cNvPr id="9" name="TextBox 8">
            <a:extLst>
              <a:ext uri="{FF2B5EF4-FFF2-40B4-BE49-F238E27FC236}">
                <a16:creationId xmlns:a16="http://schemas.microsoft.com/office/drawing/2014/main" id="{77402FEE-FC44-317C-8DC9-C7822BDDD78F}"/>
              </a:ext>
            </a:extLst>
          </p:cNvPr>
          <p:cNvSpPr txBox="1"/>
          <p:nvPr/>
        </p:nvSpPr>
        <p:spPr>
          <a:xfrm>
            <a:off x="627675" y="4688074"/>
            <a:ext cx="7146729" cy="461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R="0" defTabSz="914400" rtl="0" fontAlgn="auto" latinLnBrk="0" hangingPunct="0">
              <a:lnSpc>
                <a:spcPct val="100000"/>
              </a:lnSpc>
              <a:spcBef>
                <a:spcPts val="0"/>
              </a:spcBef>
              <a:spcAft>
                <a:spcPts val="0"/>
              </a:spcAft>
              <a:buClrTx/>
              <a:buSzTx/>
              <a:tabLst/>
            </a:pPr>
            <a:r>
              <a:rPr kumimoji="0" lang="en-US" sz="2400" b="1" i="0" u="none" strike="noStrike" cap="none" spc="0" normalizeH="0" baseline="0" dirty="0">
                <a:ln>
                  <a:noFill/>
                </a:ln>
                <a:solidFill>
                  <a:schemeClr val="accent2"/>
                </a:solidFill>
                <a:effectLst/>
                <a:uFillTx/>
                <a:latin typeface="+mj-lt"/>
                <a:ea typeface="+mj-ea"/>
                <a:cs typeface="+mj-cs"/>
                <a:sym typeface="Calibri"/>
              </a:rPr>
              <a:t>Are agents’ actions sensitive to different scenarios? </a:t>
            </a:r>
            <a:r>
              <a:rPr lang="en-US" sz="2400" b="1" dirty="0">
                <a:solidFill>
                  <a:schemeClr val="accent1"/>
                </a:solidFill>
                <a:latin typeface="+mj-lt"/>
                <a:ea typeface="+mj-ea"/>
                <a:cs typeface="+mj-cs"/>
                <a:sym typeface="Calibri"/>
              </a:rPr>
              <a:t>Yes</a:t>
            </a:r>
            <a:endParaRPr kumimoji="0" lang="en-US" sz="2400" b="1" i="0" u="none" strike="noStrike" cap="none" spc="0" normalizeH="0" baseline="0" dirty="0">
              <a:ln>
                <a:noFill/>
              </a:ln>
              <a:solidFill>
                <a:schemeClr val="accent1"/>
              </a:solidFill>
              <a:effectLst/>
              <a:uFillTx/>
              <a:latin typeface="+mj-lt"/>
              <a:ea typeface="+mj-ea"/>
              <a:cs typeface="+mj-cs"/>
              <a:sym typeface="Calibri"/>
            </a:endParaRPr>
          </a:p>
        </p:txBody>
      </p:sp>
      <p:graphicFrame>
        <p:nvGraphicFramePr>
          <p:cNvPr id="10" name="Table 2">
            <a:extLst>
              <a:ext uri="{FF2B5EF4-FFF2-40B4-BE49-F238E27FC236}">
                <a16:creationId xmlns:a16="http://schemas.microsoft.com/office/drawing/2014/main" id="{919E4964-DDBD-CD94-B3FD-526B93FE00BE}"/>
              </a:ext>
            </a:extLst>
          </p:cNvPr>
          <p:cNvGraphicFramePr>
            <a:graphicFrameLocks noGrp="1"/>
          </p:cNvGraphicFramePr>
          <p:nvPr>
            <p:extLst>
              <p:ext uri="{D42A27DB-BD31-4B8C-83A1-F6EECF244321}">
                <p14:modId xmlns:p14="http://schemas.microsoft.com/office/powerpoint/2010/main" val="3947481313"/>
              </p:ext>
            </p:extLst>
          </p:nvPr>
        </p:nvGraphicFramePr>
        <p:xfrm>
          <a:off x="627676" y="1413579"/>
          <a:ext cx="5536112" cy="2966720"/>
        </p:xfrm>
        <a:graphic>
          <a:graphicData uri="http://schemas.openxmlformats.org/drawingml/2006/table">
            <a:tbl>
              <a:tblPr firstRow="1" bandRow="1">
                <a:tableStyleId>{5C22544A-7EE6-4342-B048-85BDC9FD1C3A}</a:tableStyleId>
              </a:tblPr>
              <a:tblGrid>
                <a:gridCol w="2740660">
                  <a:extLst>
                    <a:ext uri="{9D8B030D-6E8A-4147-A177-3AD203B41FA5}">
                      <a16:colId xmlns:a16="http://schemas.microsoft.com/office/drawing/2014/main" val="820701274"/>
                    </a:ext>
                  </a:extLst>
                </a:gridCol>
                <a:gridCol w="1358537">
                  <a:extLst>
                    <a:ext uri="{9D8B030D-6E8A-4147-A177-3AD203B41FA5}">
                      <a16:colId xmlns:a16="http://schemas.microsoft.com/office/drawing/2014/main" val="3715058434"/>
                    </a:ext>
                  </a:extLst>
                </a:gridCol>
                <a:gridCol w="1436915">
                  <a:extLst>
                    <a:ext uri="{9D8B030D-6E8A-4147-A177-3AD203B41FA5}">
                      <a16:colId xmlns:a16="http://schemas.microsoft.com/office/drawing/2014/main" val="3908031248"/>
                    </a:ext>
                  </a:extLst>
                </a:gridCol>
              </a:tblGrid>
              <a:tr h="370840">
                <a:tc>
                  <a:txBody>
                    <a:bodyPr/>
                    <a:lstStyle/>
                    <a:p>
                      <a:pPr marL="0" marR="0" indent="0" algn="l" defTabSz="914400" rtl="0" latinLnBrk="0">
                        <a:lnSpc>
                          <a:spcPct val="100000"/>
                        </a:lnSpc>
                        <a:spcBef>
                          <a:spcPts val="0"/>
                        </a:spcBef>
                        <a:spcAft>
                          <a:spcPts val="0"/>
                        </a:spcAft>
                        <a:buClrTx/>
                        <a:buSzTx/>
                        <a:buFontTx/>
                        <a:buNone/>
                        <a:tabLst/>
                      </a:pPr>
                      <a:r>
                        <a:rPr lang="en-US" sz="1800" b="1" i="0" u="none" strike="noStrike" cap="none" spc="0" baseline="0" dirty="0">
                          <a:ln>
                            <a:noFill/>
                          </a:ln>
                          <a:solidFill>
                            <a:schemeClr val="lt1"/>
                          </a:solidFill>
                          <a:uFillTx/>
                          <a:latin typeface="+mn-lt"/>
                          <a:ea typeface="+mn-ea"/>
                          <a:cs typeface="+mn-cs"/>
                          <a:sym typeface="Calibri"/>
                        </a:rPr>
                        <a:t>Experiment Number</a:t>
                      </a:r>
                    </a:p>
                  </a:txBody>
                  <a:tcPr marL="68580" marR="68580" marT="0" marB="0" anchor="ctr"/>
                </a:tc>
                <a:tc gridSpan="2">
                  <a:txBody>
                    <a:bodyPr/>
                    <a:lstStyle/>
                    <a:p>
                      <a:pPr marL="0" marR="0" indent="0" algn="ctr" defTabSz="914400" rtl="0" latinLnBrk="0">
                        <a:lnSpc>
                          <a:spcPct val="100000"/>
                        </a:lnSpc>
                        <a:spcBef>
                          <a:spcPts val="0"/>
                        </a:spcBef>
                        <a:spcAft>
                          <a:spcPts val="0"/>
                        </a:spcAft>
                        <a:buClrTx/>
                        <a:buSzTx/>
                        <a:buFontTx/>
                        <a:buNone/>
                        <a:tabLst/>
                      </a:pPr>
                      <a:r>
                        <a:rPr lang="en-US" sz="1800" b="1" i="0" u="none" strike="noStrike" cap="none" spc="0" baseline="0" dirty="0">
                          <a:ln>
                            <a:noFill/>
                          </a:ln>
                          <a:solidFill>
                            <a:schemeClr val="lt1"/>
                          </a:solidFill>
                          <a:uFillTx/>
                          <a:latin typeface="+mn-lt"/>
                          <a:ea typeface="+mn-ea"/>
                          <a:cs typeface="+mn-cs"/>
                          <a:sym typeface="Calibri"/>
                        </a:rPr>
                        <a:t>Savings</a:t>
                      </a:r>
                    </a:p>
                  </a:txBody>
                  <a:tcPr marL="68580" marR="68580" marT="0" marB="0" anchor="ctr"/>
                </a:tc>
                <a:tc hMerge="1">
                  <a:txBody>
                    <a:bodyPr/>
                    <a:lstStyle/>
                    <a:p>
                      <a:endParaRPr lang="en-US"/>
                    </a:p>
                  </a:txBody>
                  <a:tcPr/>
                </a:tc>
                <a:extLst>
                  <a:ext uri="{0D108BD9-81ED-4DB2-BD59-A6C34878D82A}">
                    <a16:rowId xmlns:a16="http://schemas.microsoft.com/office/drawing/2014/main" val="4018200896"/>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Constant</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0.85***</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0.88***</a:t>
                      </a:r>
                    </a:p>
                  </a:txBody>
                  <a:tcPr marL="68580" marR="68580" marT="0" marB="0" anchor="ctr"/>
                </a:tc>
                <a:extLst>
                  <a:ext uri="{0D108BD9-81ED-4DB2-BD59-A6C34878D82A}">
                    <a16:rowId xmlns:a16="http://schemas.microsoft.com/office/drawing/2014/main" val="2360943659"/>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New Cases</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-19.02***</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-20.68***</a:t>
                      </a:r>
                    </a:p>
                  </a:txBody>
                  <a:tcPr marL="68580" marR="68580" marT="0" marB="0" anchor="ctr"/>
                </a:tc>
                <a:extLst>
                  <a:ext uri="{0D108BD9-81ED-4DB2-BD59-A6C34878D82A}">
                    <a16:rowId xmlns:a16="http://schemas.microsoft.com/office/drawing/2014/main" val="1694673026"/>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New Cases</a:t>
                      </a:r>
                      <a:r>
                        <a:rPr lang="en-US" sz="1800" b="0" i="0" u="none" strike="noStrike" cap="none" spc="0" baseline="30000" dirty="0">
                          <a:ln>
                            <a:noFill/>
                          </a:ln>
                          <a:solidFill>
                            <a:schemeClr val="dk1"/>
                          </a:solidFill>
                          <a:uFillTx/>
                          <a:latin typeface="+mn-lt"/>
                          <a:ea typeface="+mn-ea"/>
                          <a:cs typeface="+mn-cs"/>
                          <a:sym typeface="Calibri"/>
                        </a:rPr>
                        <a:t>2</a:t>
                      </a:r>
                      <a:endParaRPr lang="en-US" sz="1800" b="0" i="0" u="none" strike="noStrike" cap="none" spc="0" baseline="0" dirty="0">
                        <a:ln>
                          <a:noFill/>
                        </a:ln>
                        <a:solidFill>
                          <a:schemeClr val="dk1"/>
                        </a:solidFill>
                        <a:uFillTx/>
                        <a:latin typeface="+mn-lt"/>
                        <a:ea typeface="+mn-ea"/>
                        <a:cs typeface="+mn-cs"/>
                        <a:sym typeface="Calibri"/>
                      </a:endParaRP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131.69***</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131.24***</a:t>
                      </a:r>
                    </a:p>
                  </a:txBody>
                  <a:tcPr marL="68580" marR="68580" marT="0" marB="0" anchor="ctr"/>
                </a:tc>
                <a:extLst>
                  <a:ext uri="{0D108BD9-81ED-4DB2-BD59-A6C34878D82A}">
                    <a16:rowId xmlns:a16="http://schemas.microsoft.com/office/drawing/2014/main" val="4031910938"/>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Experiment</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0.09***</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0.02</a:t>
                      </a:r>
                    </a:p>
                  </a:txBody>
                  <a:tcPr marL="68580" marR="68580" marT="0" marB="0" anchor="ctr"/>
                </a:tc>
                <a:extLst>
                  <a:ext uri="{0D108BD9-81ED-4DB2-BD59-A6C34878D82A}">
                    <a16:rowId xmlns:a16="http://schemas.microsoft.com/office/drawing/2014/main" val="3082557664"/>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New Cases * Experiment</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 </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3.04***</a:t>
                      </a:r>
                    </a:p>
                  </a:txBody>
                  <a:tcPr marL="68580" marR="68580" marT="0" marB="0" anchor="ctr"/>
                </a:tc>
                <a:extLst>
                  <a:ext uri="{0D108BD9-81ED-4DB2-BD59-A6C34878D82A}">
                    <a16:rowId xmlns:a16="http://schemas.microsoft.com/office/drawing/2014/main" val="1757153458"/>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R</a:t>
                      </a:r>
                      <a:r>
                        <a:rPr lang="en-US" sz="1800" b="0" i="0" u="none" strike="noStrike" cap="none" spc="0" baseline="30000" dirty="0">
                          <a:ln>
                            <a:noFill/>
                          </a:ln>
                          <a:solidFill>
                            <a:schemeClr val="dk1"/>
                          </a:solidFill>
                          <a:uFillTx/>
                          <a:latin typeface="+mn-lt"/>
                          <a:ea typeface="+mn-ea"/>
                          <a:cs typeface="+mn-cs"/>
                          <a:sym typeface="Calibri"/>
                        </a:rPr>
                        <a:t>2</a:t>
                      </a:r>
                      <a:endParaRPr lang="en-US" sz="1800" b="0" i="0" u="none" strike="noStrike" cap="none" spc="0" baseline="0" dirty="0">
                        <a:ln>
                          <a:noFill/>
                        </a:ln>
                        <a:solidFill>
                          <a:schemeClr val="dk1"/>
                        </a:solidFill>
                        <a:uFillTx/>
                        <a:latin typeface="+mn-lt"/>
                        <a:ea typeface="+mn-ea"/>
                        <a:cs typeface="+mn-cs"/>
                        <a:sym typeface="Calibri"/>
                      </a:endParaRP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0.8</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0.82</a:t>
                      </a:r>
                    </a:p>
                  </a:txBody>
                  <a:tcPr marL="68580" marR="68580" marT="0" marB="0" anchor="ctr"/>
                </a:tc>
                <a:extLst>
                  <a:ext uri="{0D108BD9-81ED-4DB2-BD59-A6C34878D82A}">
                    <a16:rowId xmlns:a16="http://schemas.microsoft.com/office/drawing/2014/main" val="674088053"/>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N</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316</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316</a:t>
                      </a:r>
                    </a:p>
                  </a:txBody>
                  <a:tcPr marL="68580" marR="68580" marT="0" marB="0" anchor="ctr"/>
                </a:tc>
                <a:extLst>
                  <a:ext uri="{0D108BD9-81ED-4DB2-BD59-A6C34878D82A}">
                    <a16:rowId xmlns:a16="http://schemas.microsoft.com/office/drawing/2014/main" val="4248162012"/>
                  </a:ext>
                </a:extLst>
              </a:tr>
            </a:tbl>
          </a:graphicData>
        </a:graphic>
      </p:graphicFrame>
      <p:sp>
        <p:nvSpPr>
          <p:cNvPr id="2" name="Rectangle 1">
            <a:extLst>
              <a:ext uri="{FF2B5EF4-FFF2-40B4-BE49-F238E27FC236}">
                <a16:creationId xmlns:a16="http://schemas.microsoft.com/office/drawing/2014/main" id="{F484808D-8722-A14B-0573-7C46CFF94F9D}"/>
              </a:ext>
            </a:extLst>
          </p:cNvPr>
          <p:cNvSpPr/>
          <p:nvPr/>
        </p:nvSpPr>
        <p:spPr>
          <a:xfrm>
            <a:off x="627674" y="2908575"/>
            <a:ext cx="5536114" cy="770709"/>
          </a:xfrm>
          <a:prstGeom prst="rect">
            <a:avLst/>
          </a:prstGeom>
          <a:noFill/>
          <a:ln>
            <a:solidFill>
              <a:schemeClr val="bg2">
                <a:lumMod val="10000"/>
              </a:schemeClr>
            </a:solidFill>
          </a:ln>
          <a:extLst>
            <a:ext uri="{C572A759-6A51-4108-AA02-DFA0A04FC94B}">
              <ma14:wrappingTextBoxFlag xmlns:ma14="http://schemas.microsoft.com/office/mac/drawingml/2011/main" xmlns="" val="1"/>
            </a:ext>
          </a:extLst>
        </p:spPr>
        <p:style>
          <a:lnRef idx="2">
            <a:schemeClr val="accent6"/>
          </a:lnRef>
          <a:fillRef idx="1">
            <a:schemeClr val="lt1"/>
          </a:fillRef>
          <a:effectRef idx="0">
            <a:schemeClr val="accent6"/>
          </a:effectRef>
          <a:fontRef idx="minor">
            <a:schemeClr val="dk1"/>
          </a:fontRef>
        </p:style>
        <p:txBody>
          <a:bodyPr wrap="square" lIns="45719" rIns="45719" rtlCol="0" anchor="ctr">
            <a:spAutoFit/>
          </a:bodyPr>
          <a:lstStyle/>
          <a:p>
            <a:pPr algn="ctr"/>
            <a:endParaRPr lang="en-US" dirty="0"/>
          </a:p>
        </p:txBody>
      </p:sp>
    </p:spTree>
    <p:extLst>
      <p:ext uri="{BB962C8B-B14F-4D97-AF65-F5344CB8AC3E}">
        <p14:creationId xmlns:p14="http://schemas.microsoft.com/office/powerpoint/2010/main" val="9671222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pic>
        <p:nvPicPr>
          <p:cNvPr id="10" name="Picture 9" descr="A group of white cards with black text&#10;&#10;Description automatically generated">
            <a:extLst>
              <a:ext uri="{FF2B5EF4-FFF2-40B4-BE49-F238E27FC236}">
                <a16:creationId xmlns:a16="http://schemas.microsoft.com/office/drawing/2014/main" id="{79E8CA6A-2998-AEF2-243E-6040E0412FD7}"/>
              </a:ext>
            </a:extLst>
          </p:cNvPr>
          <p:cNvPicPr>
            <a:picLocks noChangeAspect="1"/>
          </p:cNvPicPr>
          <p:nvPr/>
        </p:nvPicPr>
        <p:blipFill>
          <a:blip r:embed="rId4"/>
          <a:stretch>
            <a:fillRect/>
          </a:stretch>
        </p:blipFill>
        <p:spPr>
          <a:xfrm>
            <a:off x="284777" y="2735580"/>
            <a:ext cx="7544159" cy="4028904"/>
          </a:xfrm>
          <a:prstGeom prst="rect">
            <a:avLst/>
          </a:prstGeom>
        </p:spPr>
      </p:pic>
      <p:pic>
        <p:nvPicPr>
          <p:cNvPr id="9220" name="Picture 4" descr="Adobe Character Animator Ryan Puppet on Behance">
            <a:extLst>
              <a:ext uri="{FF2B5EF4-FFF2-40B4-BE49-F238E27FC236}">
                <a16:creationId xmlns:a16="http://schemas.microsoft.com/office/drawing/2014/main" id="{E77EE326-4775-57E3-F435-514201FE1E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03679" y="2735579"/>
            <a:ext cx="4103542" cy="2051771"/>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Adobe Character Animator Debbie Puppet on Behance">
            <a:extLst>
              <a:ext uri="{FF2B5EF4-FFF2-40B4-BE49-F238E27FC236}">
                <a16:creationId xmlns:a16="http://schemas.microsoft.com/office/drawing/2014/main" id="{D99040A8-1EF0-550D-4DE6-6FAE3F0C19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03681" y="4712713"/>
            <a:ext cx="4103542" cy="205177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06DDF14E-E933-678B-B421-A359F8935AFE}"/>
              </a:ext>
            </a:extLst>
          </p:cNvPr>
          <p:cNvSpPr txBox="1"/>
          <p:nvPr/>
        </p:nvSpPr>
        <p:spPr>
          <a:xfrm>
            <a:off x="7013236" y="277521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(1)</a:t>
            </a:r>
          </a:p>
        </p:txBody>
      </p:sp>
      <p:sp>
        <p:nvSpPr>
          <p:cNvPr id="15" name="TextBox 14">
            <a:extLst>
              <a:ext uri="{FF2B5EF4-FFF2-40B4-BE49-F238E27FC236}">
                <a16:creationId xmlns:a16="http://schemas.microsoft.com/office/drawing/2014/main" id="{D02AD667-01C8-5BF4-5D28-127D08208B6A}"/>
              </a:ext>
            </a:extLst>
          </p:cNvPr>
          <p:cNvSpPr txBox="1"/>
          <p:nvPr/>
        </p:nvSpPr>
        <p:spPr>
          <a:xfrm>
            <a:off x="7016432" y="4769848"/>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(2)</a:t>
            </a:r>
          </a:p>
        </p:txBody>
      </p:sp>
      <p:sp>
        <p:nvSpPr>
          <p:cNvPr id="16" name="TextBox 15">
            <a:extLst>
              <a:ext uri="{FF2B5EF4-FFF2-40B4-BE49-F238E27FC236}">
                <a16:creationId xmlns:a16="http://schemas.microsoft.com/office/drawing/2014/main" id="{34FBB4F6-06F3-B3AB-0729-FEF8C01B246B}"/>
              </a:ext>
            </a:extLst>
          </p:cNvPr>
          <p:cNvSpPr txBox="1"/>
          <p:nvPr/>
        </p:nvSpPr>
        <p:spPr>
          <a:xfrm>
            <a:off x="3097975" y="475003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(1)</a:t>
            </a:r>
          </a:p>
        </p:txBody>
      </p:sp>
      <p:sp>
        <p:nvSpPr>
          <p:cNvPr id="21" name="TextBox 20">
            <a:extLst>
              <a:ext uri="{FF2B5EF4-FFF2-40B4-BE49-F238E27FC236}">
                <a16:creationId xmlns:a16="http://schemas.microsoft.com/office/drawing/2014/main" id="{36E808F2-B426-9C2F-93B6-6F4E44F47647}"/>
              </a:ext>
            </a:extLst>
          </p:cNvPr>
          <p:cNvSpPr txBox="1"/>
          <p:nvPr/>
        </p:nvSpPr>
        <p:spPr>
          <a:xfrm>
            <a:off x="11236488" y="277521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(3)</a:t>
            </a:r>
          </a:p>
        </p:txBody>
      </p:sp>
      <p:sp>
        <p:nvSpPr>
          <p:cNvPr id="23" name="TextBox 22">
            <a:extLst>
              <a:ext uri="{FF2B5EF4-FFF2-40B4-BE49-F238E27FC236}">
                <a16:creationId xmlns:a16="http://schemas.microsoft.com/office/drawing/2014/main" id="{A4820CFB-38D4-5974-F0D0-3E5F15D24F92}"/>
              </a:ext>
            </a:extLst>
          </p:cNvPr>
          <p:cNvSpPr txBox="1"/>
          <p:nvPr/>
        </p:nvSpPr>
        <p:spPr>
          <a:xfrm>
            <a:off x="11236488" y="4778599"/>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(3)</a:t>
            </a:r>
          </a:p>
        </p:txBody>
      </p:sp>
      <p:sp>
        <p:nvSpPr>
          <p:cNvPr id="3" name="TextBox 2">
            <a:extLst>
              <a:ext uri="{FF2B5EF4-FFF2-40B4-BE49-F238E27FC236}">
                <a16:creationId xmlns:a16="http://schemas.microsoft.com/office/drawing/2014/main" id="{24BDDCEC-6D90-983A-0D98-26F85CEE302E}"/>
              </a:ext>
            </a:extLst>
          </p:cNvPr>
          <p:cNvSpPr txBox="1"/>
          <p:nvPr/>
        </p:nvSpPr>
        <p:spPr>
          <a:xfrm>
            <a:off x="400732" y="955953"/>
            <a:ext cx="8887430"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hangingPunct="0">
              <a:buFontTx/>
              <a:buAutoNum type="arabicPeriod"/>
            </a:pPr>
            <a:r>
              <a:rPr lang="en-US" sz="2000" dirty="0">
                <a:solidFill>
                  <a:schemeClr val="accent1"/>
                </a:solidFill>
                <a:latin typeface="+mj-lt"/>
                <a:ea typeface="+mj-ea"/>
                <a:cs typeface="+mj-cs"/>
                <a:sym typeface="Calibri"/>
              </a:rPr>
              <a:t>Are agents’ actions sensitive to synonymous phrases?</a:t>
            </a:r>
            <a:endParaRPr lang="en-US" sz="2000" dirty="0">
              <a:solidFill>
                <a:schemeClr val="accent1"/>
              </a:solidFill>
              <a:latin typeface="+mj-lt"/>
              <a:ea typeface="+mj-ea"/>
              <a:cs typeface="+mj-cs"/>
            </a:endParaRPr>
          </a:p>
          <a:p>
            <a:pPr marL="342900" indent="-342900" hangingPunct="0">
              <a:buFontTx/>
              <a:buAutoNum type="arabicPeriod"/>
            </a:pPr>
            <a:r>
              <a:rPr lang="en-US" sz="2000" dirty="0">
                <a:solidFill>
                  <a:schemeClr val="accent1"/>
                </a:solidFill>
                <a:latin typeface="+mj-lt"/>
                <a:ea typeface="+mj-ea"/>
                <a:cs typeface="+mj-cs"/>
                <a:sym typeface="Calibri"/>
              </a:rPr>
              <a:t>Are agents’ actions sensitive to nonsynonymous phrases?</a:t>
            </a:r>
            <a:endParaRPr lang="en-US" sz="2000" dirty="0">
              <a:solidFill>
                <a:schemeClr val="accent1"/>
              </a:solidFill>
              <a:latin typeface="+mj-lt"/>
              <a:ea typeface="+mj-ea"/>
              <a:cs typeface="+mj-cs"/>
            </a:endParaRPr>
          </a:p>
          <a:p>
            <a:pPr marL="342900" indent="-342900" hangingPunct="0">
              <a:buFontTx/>
              <a:buAutoNum type="arabicPeriod"/>
            </a:pPr>
            <a:r>
              <a:rPr lang="en-US" sz="2000" b="1" dirty="0">
                <a:solidFill>
                  <a:schemeClr val="accent1"/>
                </a:solidFill>
                <a:latin typeface="+mj-lt"/>
                <a:ea typeface="+mj-ea"/>
                <a:cs typeface="+mj-cs"/>
                <a:sym typeface="Calibri"/>
              </a:rPr>
              <a:t>Are agents’ actions sensitive to different scenarios?</a:t>
            </a:r>
            <a:endParaRPr lang="en-US" sz="2000" b="1" dirty="0">
              <a:solidFill>
                <a:schemeClr val="accent1"/>
              </a:solidFill>
              <a:latin typeface="+mj-lt"/>
              <a:ea typeface="+mj-ea"/>
              <a:cs typeface="+mj-cs"/>
            </a:endParaRPr>
          </a:p>
          <a:p>
            <a:pPr marL="342900" indent="-342900">
              <a:buFontTx/>
              <a:buAutoNum type="arabicPeriod"/>
            </a:pPr>
            <a:r>
              <a:rPr lang="en-US" sz="2000" dirty="0">
                <a:solidFill>
                  <a:schemeClr val="accent1"/>
                </a:solidFill>
                <a:latin typeface="+mj-lt"/>
                <a:ea typeface="+mj-ea"/>
                <a:cs typeface="+mj-cs"/>
              </a:rPr>
              <a:t>Are agents’ actions sensitive to different names?</a:t>
            </a:r>
          </a:p>
        </p:txBody>
      </p:sp>
    </p:spTree>
    <p:extLst>
      <p:ext uri="{BB962C8B-B14F-4D97-AF65-F5344CB8AC3E}">
        <p14:creationId xmlns:p14="http://schemas.microsoft.com/office/powerpoint/2010/main" val="39889957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pic>
        <p:nvPicPr>
          <p:cNvPr id="10" name="Picture 9" descr="A group of white cards with black text&#10;&#10;Description automatically generated">
            <a:extLst>
              <a:ext uri="{FF2B5EF4-FFF2-40B4-BE49-F238E27FC236}">
                <a16:creationId xmlns:a16="http://schemas.microsoft.com/office/drawing/2014/main" id="{79E8CA6A-2998-AEF2-243E-6040E0412FD7}"/>
              </a:ext>
            </a:extLst>
          </p:cNvPr>
          <p:cNvPicPr>
            <a:picLocks noChangeAspect="1"/>
          </p:cNvPicPr>
          <p:nvPr/>
        </p:nvPicPr>
        <p:blipFill>
          <a:blip r:embed="rId4"/>
          <a:stretch>
            <a:fillRect/>
          </a:stretch>
        </p:blipFill>
        <p:spPr>
          <a:xfrm>
            <a:off x="284777" y="2735580"/>
            <a:ext cx="7544159" cy="4028904"/>
          </a:xfrm>
          <a:prstGeom prst="rect">
            <a:avLst/>
          </a:prstGeom>
        </p:spPr>
      </p:pic>
      <p:pic>
        <p:nvPicPr>
          <p:cNvPr id="9220" name="Picture 4" descr="Adobe Character Animator Ryan Puppet on Behance">
            <a:extLst>
              <a:ext uri="{FF2B5EF4-FFF2-40B4-BE49-F238E27FC236}">
                <a16:creationId xmlns:a16="http://schemas.microsoft.com/office/drawing/2014/main" id="{E77EE326-4775-57E3-F435-514201FE1E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03679" y="2735579"/>
            <a:ext cx="4103542" cy="2051771"/>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Adobe Character Animator Debbie Puppet on Behance">
            <a:extLst>
              <a:ext uri="{FF2B5EF4-FFF2-40B4-BE49-F238E27FC236}">
                <a16:creationId xmlns:a16="http://schemas.microsoft.com/office/drawing/2014/main" id="{D99040A8-1EF0-550D-4DE6-6FAE3F0C19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03681" y="4712713"/>
            <a:ext cx="4103542" cy="205177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06DDF14E-E933-678B-B421-A359F8935AFE}"/>
              </a:ext>
            </a:extLst>
          </p:cNvPr>
          <p:cNvSpPr txBox="1"/>
          <p:nvPr/>
        </p:nvSpPr>
        <p:spPr>
          <a:xfrm>
            <a:off x="7013236" y="277521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(1)</a:t>
            </a:r>
          </a:p>
        </p:txBody>
      </p:sp>
      <p:sp>
        <p:nvSpPr>
          <p:cNvPr id="15" name="TextBox 14">
            <a:extLst>
              <a:ext uri="{FF2B5EF4-FFF2-40B4-BE49-F238E27FC236}">
                <a16:creationId xmlns:a16="http://schemas.microsoft.com/office/drawing/2014/main" id="{D02AD667-01C8-5BF4-5D28-127D08208B6A}"/>
              </a:ext>
            </a:extLst>
          </p:cNvPr>
          <p:cNvSpPr txBox="1"/>
          <p:nvPr/>
        </p:nvSpPr>
        <p:spPr>
          <a:xfrm>
            <a:off x="7016432" y="4769848"/>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(2)</a:t>
            </a:r>
          </a:p>
        </p:txBody>
      </p:sp>
      <p:sp>
        <p:nvSpPr>
          <p:cNvPr id="16" name="TextBox 15">
            <a:extLst>
              <a:ext uri="{FF2B5EF4-FFF2-40B4-BE49-F238E27FC236}">
                <a16:creationId xmlns:a16="http://schemas.microsoft.com/office/drawing/2014/main" id="{34FBB4F6-06F3-B3AB-0729-FEF8C01B246B}"/>
              </a:ext>
            </a:extLst>
          </p:cNvPr>
          <p:cNvSpPr txBox="1"/>
          <p:nvPr/>
        </p:nvSpPr>
        <p:spPr>
          <a:xfrm>
            <a:off x="3097975" y="475003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(1)</a:t>
            </a:r>
          </a:p>
        </p:txBody>
      </p:sp>
      <p:sp>
        <p:nvSpPr>
          <p:cNvPr id="21" name="TextBox 20">
            <a:extLst>
              <a:ext uri="{FF2B5EF4-FFF2-40B4-BE49-F238E27FC236}">
                <a16:creationId xmlns:a16="http://schemas.microsoft.com/office/drawing/2014/main" id="{36E808F2-B426-9C2F-93B6-6F4E44F47647}"/>
              </a:ext>
            </a:extLst>
          </p:cNvPr>
          <p:cNvSpPr txBox="1"/>
          <p:nvPr/>
        </p:nvSpPr>
        <p:spPr>
          <a:xfrm>
            <a:off x="11236488" y="2775212"/>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(3)</a:t>
            </a:r>
          </a:p>
        </p:txBody>
      </p:sp>
      <p:sp>
        <p:nvSpPr>
          <p:cNvPr id="23" name="TextBox 22">
            <a:extLst>
              <a:ext uri="{FF2B5EF4-FFF2-40B4-BE49-F238E27FC236}">
                <a16:creationId xmlns:a16="http://schemas.microsoft.com/office/drawing/2014/main" id="{A4820CFB-38D4-5974-F0D0-3E5F15D24F92}"/>
              </a:ext>
            </a:extLst>
          </p:cNvPr>
          <p:cNvSpPr txBox="1"/>
          <p:nvPr/>
        </p:nvSpPr>
        <p:spPr>
          <a:xfrm>
            <a:off x="11236488" y="4778599"/>
            <a:ext cx="81250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solidFill>
                  <a:schemeClr val="accent1"/>
                </a:solidFill>
              </a:rPr>
              <a:t>(3)</a:t>
            </a:r>
          </a:p>
        </p:txBody>
      </p:sp>
      <p:sp>
        <p:nvSpPr>
          <p:cNvPr id="3" name="TextBox 2">
            <a:extLst>
              <a:ext uri="{FF2B5EF4-FFF2-40B4-BE49-F238E27FC236}">
                <a16:creationId xmlns:a16="http://schemas.microsoft.com/office/drawing/2014/main" id="{0519A45D-40DD-BE9E-2B48-87E05E1EF26F}"/>
              </a:ext>
            </a:extLst>
          </p:cNvPr>
          <p:cNvSpPr txBox="1"/>
          <p:nvPr/>
        </p:nvSpPr>
        <p:spPr>
          <a:xfrm>
            <a:off x="400732" y="955953"/>
            <a:ext cx="8887430"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342900" indent="-342900" hangingPunct="0">
              <a:buFontTx/>
              <a:buAutoNum type="arabicPeriod"/>
            </a:pPr>
            <a:r>
              <a:rPr lang="en-US" sz="2000" dirty="0">
                <a:solidFill>
                  <a:schemeClr val="accent1"/>
                </a:solidFill>
                <a:latin typeface="+mj-lt"/>
                <a:ea typeface="+mj-ea"/>
                <a:cs typeface="+mj-cs"/>
                <a:sym typeface="Calibri"/>
              </a:rPr>
              <a:t>Are agents’ actions sensitive to synonymous phrases?</a:t>
            </a:r>
            <a:endParaRPr lang="en-US" sz="2000" dirty="0">
              <a:solidFill>
                <a:schemeClr val="accent1"/>
              </a:solidFill>
              <a:latin typeface="+mj-lt"/>
              <a:ea typeface="+mj-ea"/>
              <a:cs typeface="+mj-cs"/>
            </a:endParaRPr>
          </a:p>
          <a:p>
            <a:pPr marL="342900" indent="-342900" hangingPunct="0">
              <a:buFontTx/>
              <a:buAutoNum type="arabicPeriod"/>
            </a:pPr>
            <a:r>
              <a:rPr lang="en-US" sz="2000" dirty="0">
                <a:solidFill>
                  <a:schemeClr val="accent1"/>
                </a:solidFill>
                <a:latin typeface="+mj-lt"/>
                <a:ea typeface="+mj-ea"/>
                <a:cs typeface="+mj-cs"/>
                <a:sym typeface="Calibri"/>
              </a:rPr>
              <a:t>Are agents’ actions sensitive to nonsynonymous phrases?</a:t>
            </a:r>
            <a:endParaRPr lang="en-US" sz="2000" b="1" dirty="0">
              <a:solidFill>
                <a:schemeClr val="accent1"/>
              </a:solidFill>
              <a:latin typeface="+mj-lt"/>
              <a:ea typeface="+mj-ea"/>
              <a:cs typeface="+mj-cs"/>
            </a:endParaRPr>
          </a:p>
          <a:p>
            <a:pPr marL="342900" indent="-342900" hangingPunct="0">
              <a:buFontTx/>
              <a:buAutoNum type="arabicPeriod"/>
            </a:pPr>
            <a:r>
              <a:rPr lang="en-US" sz="2000" dirty="0">
                <a:solidFill>
                  <a:schemeClr val="accent1"/>
                </a:solidFill>
                <a:latin typeface="+mj-lt"/>
                <a:ea typeface="+mj-ea"/>
                <a:cs typeface="+mj-cs"/>
                <a:sym typeface="Calibri"/>
              </a:rPr>
              <a:t>Are agents’ actions sensitive to different scenarios?</a:t>
            </a:r>
          </a:p>
          <a:p>
            <a:pPr marL="342900" indent="-342900">
              <a:buFontTx/>
              <a:buAutoNum type="arabicPeriod"/>
            </a:pPr>
            <a:r>
              <a:rPr lang="en-US" sz="2000" b="1" dirty="0">
                <a:solidFill>
                  <a:schemeClr val="accent1"/>
                </a:solidFill>
                <a:latin typeface="+mj-lt"/>
                <a:ea typeface="+mj-ea"/>
                <a:cs typeface="+mj-cs"/>
              </a:rPr>
              <a:t>Are agents’ actions sensitive to different names?</a:t>
            </a:r>
          </a:p>
        </p:txBody>
      </p:sp>
    </p:spTree>
    <p:extLst>
      <p:ext uri="{BB962C8B-B14F-4D97-AF65-F5344CB8AC3E}">
        <p14:creationId xmlns:p14="http://schemas.microsoft.com/office/powerpoint/2010/main" val="28261428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12" name="MEET OUR TEAM">
            <a:extLst>
              <a:ext uri="{FF2B5EF4-FFF2-40B4-BE49-F238E27FC236}">
                <a16:creationId xmlns:a16="http://schemas.microsoft.com/office/drawing/2014/main" id="{35254D17-5340-43C3-42D2-63FAF553E1E5}"/>
              </a:ext>
            </a:extLst>
          </p:cNvPr>
          <p:cNvSpPr/>
          <p:nvPr/>
        </p:nvSpPr>
        <p:spPr>
          <a:xfrm>
            <a:off x="627676" y="-216976"/>
            <a:ext cx="10826223" cy="1066927"/>
          </a:xfrm>
          <a:prstGeom prst="rect">
            <a:avLst/>
          </a:prstGeom>
          <a:ln w="12700">
            <a:miter lim="400000"/>
          </a:ln>
          <a:extLst>
            <a:ext uri="{C572A759-6A51-4108-AA02-DFA0A04FC94B}">
              <ma14:wrappingTextBoxFlag xmlns:ma14="http://schemas.microsoft.com/office/mac/drawingml/2011/main" xmlns="" val="1"/>
            </a:ext>
          </a:extLst>
        </p:spPr>
        <p:txBody>
          <a:bodyPr lIns="45719" tIns="45720" rIns="45719" bIns="45720"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hangingPunct="0">
              <a:defRPr/>
            </a:pPr>
            <a:r>
              <a:rPr lang="en-US" sz="3200" b="1" kern="0" spc="0" dirty="0">
                <a:solidFill>
                  <a:srgbClr val="861F41"/>
                </a:solidFill>
                <a:latin typeface="Arial"/>
                <a:cs typeface="Arial"/>
              </a:rPr>
              <a:t>Name sensitivity analysis</a:t>
            </a:r>
            <a:endParaRPr kumimoji="0" lang="en-US" sz="3200" b="1" i="0" u="none" strike="noStrike" kern="0" cap="none" spc="0" normalizeH="0" baseline="0" noProof="0" dirty="0">
              <a:ln>
                <a:noFill/>
              </a:ln>
              <a:solidFill>
                <a:srgbClr val="861F41"/>
              </a:solidFill>
              <a:effectLst/>
              <a:uLnTx/>
              <a:uFillTx/>
              <a:latin typeface="Arial"/>
              <a:cs typeface="Arial"/>
              <a:sym typeface="Acherus Grotesque"/>
            </a:endParaRPr>
          </a:p>
        </p:txBody>
      </p:sp>
      <p:grpSp>
        <p:nvGrpSpPr>
          <p:cNvPr id="29" name="Group 28">
            <a:extLst>
              <a:ext uri="{FF2B5EF4-FFF2-40B4-BE49-F238E27FC236}">
                <a16:creationId xmlns:a16="http://schemas.microsoft.com/office/drawing/2014/main" id="{73BA0B92-0619-83C9-21EA-3E54024A6031}"/>
              </a:ext>
            </a:extLst>
          </p:cNvPr>
          <p:cNvGrpSpPr/>
          <p:nvPr/>
        </p:nvGrpSpPr>
        <p:grpSpPr>
          <a:xfrm>
            <a:off x="480382" y="3428999"/>
            <a:ext cx="6350265" cy="2990469"/>
            <a:chOff x="480382" y="3428999"/>
            <a:chExt cx="6350265" cy="2990469"/>
          </a:xfrm>
        </p:grpSpPr>
        <p:pic>
          <p:nvPicPr>
            <p:cNvPr id="14" name="Picture 13">
              <a:extLst>
                <a:ext uri="{FF2B5EF4-FFF2-40B4-BE49-F238E27FC236}">
                  <a16:creationId xmlns:a16="http://schemas.microsoft.com/office/drawing/2014/main" id="{FDF1896E-8D90-1DBC-66F6-64E763F6A3EA}"/>
                </a:ext>
              </a:extLst>
            </p:cNvPr>
            <p:cNvPicPr>
              <a:picLocks noChangeAspect="1"/>
            </p:cNvPicPr>
            <p:nvPr/>
          </p:nvPicPr>
          <p:blipFill rotWithShape="1">
            <a:blip r:embed="rId4"/>
            <a:srcRect t="50065" b="858"/>
            <a:stretch/>
          </p:blipFill>
          <p:spPr>
            <a:xfrm>
              <a:off x="480382" y="3428999"/>
              <a:ext cx="3173144" cy="2990469"/>
            </a:xfrm>
            <a:prstGeom prst="rect">
              <a:avLst/>
            </a:prstGeom>
          </p:spPr>
        </p:pic>
        <p:pic>
          <p:nvPicPr>
            <p:cNvPr id="15" name="Picture 14">
              <a:extLst>
                <a:ext uri="{FF2B5EF4-FFF2-40B4-BE49-F238E27FC236}">
                  <a16:creationId xmlns:a16="http://schemas.microsoft.com/office/drawing/2014/main" id="{02190ECD-F8A3-D2DE-7C29-2356D082E901}"/>
                </a:ext>
              </a:extLst>
            </p:cNvPr>
            <p:cNvPicPr>
              <a:picLocks noChangeAspect="1"/>
            </p:cNvPicPr>
            <p:nvPr/>
          </p:nvPicPr>
          <p:blipFill rotWithShape="1">
            <a:blip r:embed="rId4"/>
            <a:srcRect t="1517" b="50858"/>
            <a:stretch/>
          </p:blipFill>
          <p:spPr>
            <a:xfrm>
              <a:off x="3653526" y="3513909"/>
              <a:ext cx="3177121" cy="2905558"/>
            </a:xfrm>
            <a:prstGeom prst="rect">
              <a:avLst/>
            </a:prstGeom>
          </p:spPr>
        </p:pic>
      </p:grpSp>
      <p:grpSp>
        <p:nvGrpSpPr>
          <p:cNvPr id="30" name="Group 29">
            <a:extLst>
              <a:ext uri="{FF2B5EF4-FFF2-40B4-BE49-F238E27FC236}">
                <a16:creationId xmlns:a16="http://schemas.microsoft.com/office/drawing/2014/main" id="{35035501-AA39-1CB1-56A0-4452F4E3BDC2}"/>
              </a:ext>
            </a:extLst>
          </p:cNvPr>
          <p:cNvGrpSpPr/>
          <p:nvPr/>
        </p:nvGrpSpPr>
        <p:grpSpPr>
          <a:xfrm>
            <a:off x="761694" y="723731"/>
            <a:ext cx="6630732" cy="1537703"/>
            <a:chOff x="761694" y="723731"/>
            <a:chExt cx="6630732" cy="1537703"/>
          </a:xfrm>
        </p:grpSpPr>
        <p:pic>
          <p:nvPicPr>
            <p:cNvPr id="11" name="Picture 10">
              <a:extLst>
                <a:ext uri="{FF2B5EF4-FFF2-40B4-BE49-F238E27FC236}">
                  <a16:creationId xmlns:a16="http://schemas.microsoft.com/office/drawing/2014/main" id="{BAC3B768-1BDA-480B-75C1-778F54B96DB4}"/>
                </a:ext>
              </a:extLst>
            </p:cNvPr>
            <p:cNvPicPr>
              <a:picLocks noChangeAspect="1"/>
            </p:cNvPicPr>
            <p:nvPr/>
          </p:nvPicPr>
          <p:blipFill>
            <a:blip r:embed="rId5"/>
            <a:stretch>
              <a:fillRect/>
            </a:stretch>
          </p:blipFill>
          <p:spPr>
            <a:xfrm>
              <a:off x="2745540" y="801713"/>
              <a:ext cx="4646886" cy="1459721"/>
            </a:xfrm>
            <a:prstGeom prst="rect">
              <a:avLst/>
            </a:prstGeom>
          </p:spPr>
        </p:pic>
        <p:pic>
          <p:nvPicPr>
            <p:cNvPr id="11268" name="Picture 4" descr="Reuters | Breaking International News &amp; Views">
              <a:extLst>
                <a:ext uri="{FF2B5EF4-FFF2-40B4-BE49-F238E27FC236}">
                  <a16:creationId xmlns:a16="http://schemas.microsoft.com/office/drawing/2014/main" id="{0E0379A5-2CFF-5C8F-A588-EC620E28EB5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694" y="723731"/>
              <a:ext cx="1459722" cy="145972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1" name="Group 30">
            <a:extLst>
              <a:ext uri="{FF2B5EF4-FFF2-40B4-BE49-F238E27FC236}">
                <a16:creationId xmlns:a16="http://schemas.microsoft.com/office/drawing/2014/main" id="{C57BD25B-2CA1-C6AE-06E6-0C6EC5215FC3}"/>
              </a:ext>
            </a:extLst>
          </p:cNvPr>
          <p:cNvGrpSpPr/>
          <p:nvPr/>
        </p:nvGrpSpPr>
        <p:grpSpPr>
          <a:xfrm>
            <a:off x="480382" y="2199512"/>
            <a:ext cx="6855742" cy="1074818"/>
            <a:chOff x="480382" y="2199512"/>
            <a:chExt cx="6855742" cy="1074818"/>
          </a:xfrm>
        </p:grpSpPr>
        <p:pic>
          <p:nvPicPr>
            <p:cNvPr id="17" name="Picture 16">
              <a:extLst>
                <a:ext uri="{FF2B5EF4-FFF2-40B4-BE49-F238E27FC236}">
                  <a16:creationId xmlns:a16="http://schemas.microsoft.com/office/drawing/2014/main" id="{3E1F6D69-ABA8-3541-0AF3-D38D13EC8047}"/>
                </a:ext>
              </a:extLst>
            </p:cNvPr>
            <p:cNvPicPr>
              <a:picLocks noChangeAspect="1"/>
            </p:cNvPicPr>
            <p:nvPr/>
          </p:nvPicPr>
          <p:blipFill>
            <a:blip r:embed="rId7"/>
            <a:stretch>
              <a:fillRect/>
            </a:stretch>
          </p:blipFill>
          <p:spPr>
            <a:xfrm>
              <a:off x="2745540" y="2199512"/>
              <a:ext cx="4590584" cy="1074818"/>
            </a:xfrm>
            <a:prstGeom prst="rect">
              <a:avLst/>
            </a:prstGeom>
          </p:spPr>
        </p:pic>
        <p:pic>
          <p:nvPicPr>
            <p:cNvPr id="11270" name="Picture 6" descr="Alfred Landecker | AlgorithmWatch">
              <a:extLst>
                <a:ext uri="{FF2B5EF4-FFF2-40B4-BE49-F238E27FC236}">
                  <a16:creationId xmlns:a16="http://schemas.microsoft.com/office/drawing/2014/main" id="{3663AF7F-FF24-5E33-6C2C-789AB9B04A8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0382" y="2199512"/>
              <a:ext cx="2022345" cy="106173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4" name="Group 23">
            <a:extLst>
              <a:ext uri="{FF2B5EF4-FFF2-40B4-BE49-F238E27FC236}">
                <a16:creationId xmlns:a16="http://schemas.microsoft.com/office/drawing/2014/main" id="{48040F1D-54D3-B10E-D0AC-60A0FB677990}"/>
              </a:ext>
            </a:extLst>
          </p:cNvPr>
          <p:cNvGrpSpPr/>
          <p:nvPr/>
        </p:nvGrpSpPr>
        <p:grpSpPr>
          <a:xfrm>
            <a:off x="7635239" y="250545"/>
            <a:ext cx="4220069" cy="2406093"/>
            <a:chOff x="7772400" y="1897663"/>
            <a:chExt cx="4220069" cy="2406093"/>
          </a:xfrm>
        </p:grpSpPr>
        <p:pic>
          <p:nvPicPr>
            <p:cNvPr id="20" name="Picture 19">
              <a:extLst>
                <a:ext uri="{FF2B5EF4-FFF2-40B4-BE49-F238E27FC236}">
                  <a16:creationId xmlns:a16="http://schemas.microsoft.com/office/drawing/2014/main" id="{BAEA637B-9398-1B84-6A36-9114F3F7D263}"/>
                </a:ext>
              </a:extLst>
            </p:cNvPr>
            <p:cNvPicPr>
              <a:picLocks noChangeAspect="1"/>
            </p:cNvPicPr>
            <p:nvPr/>
          </p:nvPicPr>
          <p:blipFill rotWithShape="1">
            <a:blip r:embed="rId9"/>
            <a:srcRect t="38081"/>
            <a:stretch/>
          </p:blipFill>
          <p:spPr>
            <a:xfrm>
              <a:off x="7772400" y="2518834"/>
              <a:ext cx="4220069" cy="1784922"/>
            </a:xfrm>
            <a:prstGeom prst="rect">
              <a:avLst/>
            </a:prstGeom>
          </p:spPr>
        </p:pic>
        <p:pic>
          <p:nvPicPr>
            <p:cNvPr id="23" name="Picture 22">
              <a:extLst>
                <a:ext uri="{FF2B5EF4-FFF2-40B4-BE49-F238E27FC236}">
                  <a16:creationId xmlns:a16="http://schemas.microsoft.com/office/drawing/2014/main" id="{39433717-FE07-A35B-7166-6961E5D4C630}"/>
                </a:ext>
              </a:extLst>
            </p:cNvPr>
            <p:cNvPicPr>
              <a:picLocks noChangeAspect="1"/>
            </p:cNvPicPr>
            <p:nvPr/>
          </p:nvPicPr>
          <p:blipFill>
            <a:blip r:embed="rId10"/>
            <a:stretch>
              <a:fillRect/>
            </a:stretch>
          </p:blipFill>
          <p:spPr>
            <a:xfrm>
              <a:off x="9015538" y="1897663"/>
              <a:ext cx="1733792" cy="571580"/>
            </a:xfrm>
            <a:prstGeom prst="rect">
              <a:avLst/>
            </a:prstGeom>
          </p:spPr>
        </p:pic>
      </p:grpSp>
      <p:grpSp>
        <p:nvGrpSpPr>
          <p:cNvPr id="32" name="Group 31">
            <a:extLst>
              <a:ext uri="{FF2B5EF4-FFF2-40B4-BE49-F238E27FC236}">
                <a16:creationId xmlns:a16="http://schemas.microsoft.com/office/drawing/2014/main" id="{5889A6F9-5A73-0703-77C2-8F14708C651F}"/>
              </a:ext>
            </a:extLst>
          </p:cNvPr>
          <p:cNvGrpSpPr/>
          <p:nvPr/>
        </p:nvGrpSpPr>
        <p:grpSpPr>
          <a:xfrm>
            <a:off x="7848214" y="2736921"/>
            <a:ext cx="3958385" cy="3961401"/>
            <a:chOff x="545339" y="909411"/>
            <a:chExt cx="3958385" cy="3961401"/>
          </a:xfrm>
        </p:grpSpPr>
        <p:pic>
          <p:nvPicPr>
            <p:cNvPr id="34" name="Picture 4" descr="Adobe Character Animator Ryan Puppet on Behance">
              <a:extLst>
                <a:ext uri="{FF2B5EF4-FFF2-40B4-BE49-F238E27FC236}">
                  <a16:creationId xmlns:a16="http://schemas.microsoft.com/office/drawing/2014/main" id="{14485D50-93AF-5258-E66E-F41C9939EC2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5339" y="909411"/>
              <a:ext cx="3958385" cy="1979193"/>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descr="Adobe Character Animator Debbie Puppet on Behance">
              <a:extLst>
                <a:ext uri="{FF2B5EF4-FFF2-40B4-BE49-F238E27FC236}">
                  <a16:creationId xmlns:a16="http://schemas.microsoft.com/office/drawing/2014/main" id="{39246AEA-CA3C-053E-0972-216BA38285F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5339" y="2891620"/>
              <a:ext cx="3958384" cy="197919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04697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12" name="MEET OUR TEAM">
            <a:extLst>
              <a:ext uri="{FF2B5EF4-FFF2-40B4-BE49-F238E27FC236}">
                <a16:creationId xmlns:a16="http://schemas.microsoft.com/office/drawing/2014/main" id="{35254D17-5340-43C3-42D2-63FAF553E1E5}"/>
              </a:ext>
            </a:extLst>
          </p:cNvPr>
          <p:cNvSpPr/>
          <p:nvPr/>
        </p:nvSpPr>
        <p:spPr>
          <a:xfrm>
            <a:off x="627676" y="-216976"/>
            <a:ext cx="10826223" cy="1066927"/>
          </a:xfrm>
          <a:prstGeom prst="rect">
            <a:avLst/>
          </a:prstGeom>
          <a:ln w="12700">
            <a:miter lim="400000"/>
          </a:ln>
          <a:extLst>
            <a:ext uri="{C572A759-6A51-4108-AA02-DFA0A04FC94B}">
              <ma14:wrappingTextBoxFlag xmlns="" xmlns:ma14="http://schemas.microsoft.com/office/mac/drawingml/2011/main" val="1"/>
            </a:ext>
          </a:extLst>
        </p:spPr>
        <p:txBody>
          <a:bodyPr lIns="45719" tIns="45720" rIns="45719" bIns="45720"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a:defRPr/>
            </a:pPr>
            <a:r>
              <a:rPr lang="en-US" sz="3200" b="1" kern="0" spc="0" dirty="0">
                <a:solidFill>
                  <a:srgbClr val="861F41"/>
                </a:solidFill>
                <a:latin typeface="Arial"/>
                <a:cs typeface="Arial"/>
              </a:rPr>
              <a:t>Name sensitivity analysis</a:t>
            </a:r>
            <a:endParaRPr lang="en-US" sz="3200" kern="0" spc="0" dirty="0">
              <a:solidFill>
                <a:srgbClr val="000000"/>
              </a:solidFill>
              <a:latin typeface="Arial"/>
              <a:cs typeface="Arial"/>
            </a:endParaRPr>
          </a:p>
        </p:txBody>
      </p:sp>
      <p:grpSp>
        <p:nvGrpSpPr>
          <p:cNvPr id="9" name="Group 8">
            <a:extLst>
              <a:ext uri="{FF2B5EF4-FFF2-40B4-BE49-F238E27FC236}">
                <a16:creationId xmlns:a16="http://schemas.microsoft.com/office/drawing/2014/main" id="{68EB38EC-AADA-F1F1-B3B1-8B4A3842B25A}"/>
              </a:ext>
            </a:extLst>
          </p:cNvPr>
          <p:cNvGrpSpPr/>
          <p:nvPr/>
        </p:nvGrpSpPr>
        <p:grpSpPr>
          <a:xfrm>
            <a:off x="545339" y="909411"/>
            <a:ext cx="3958385" cy="3961401"/>
            <a:chOff x="545339" y="909411"/>
            <a:chExt cx="3958385" cy="3961401"/>
          </a:xfrm>
        </p:grpSpPr>
        <p:pic>
          <p:nvPicPr>
            <p:cNvPr id="2" name="Picture 4" descr="Adobe Character Animator Ryan Puppet on Behance">
              <a:extLst>
                <a:ext uri="{FF2B5EF4-FFF2-40B4-BE49-F238E27FC236}">
                  <a16:creationId xmlns:a16="http://schemas.microsoft.com/office/drawing/2014/main" id="{C1F47F1C-07B5-BFA0-5249-56DA8834A7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339" y="909411"/>
              <a:ext cx="3958385" cy="197919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6" descr="Adobe Character Animator Debbie Puppet on Behance">
              <a:extLst>
                <a:ext uri="{FF2B5EF4-FFF2-40B4-BE49-F238E27FC236}">
                  <a16:creationId xmlns:a16="http://schemas.microsoft.com/office/drawing/2014/main" id="{C6356597-671E-8738-55E6-E8EFEAFD67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5339" y="2891620"/>
              <a:ext cx="3958384" cy="1979192"/>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TextBox 4">
            <a:extLst>
              <a:ext uri="{FF2B5EF4-FFF2-40B4-BE49-F238E27FC236}">
                <a16:creationId xmlns:a16="http://schemas.microsoft.com/office/drawing/2014/main" id="{57AE6C8E-834D-0D5A-AB4A-775C61BB6B38}"/>
              </a:ext>
            </a:extLst>
          </p:cNvPr>
          <p:cNvSpPr txBox="1"/>
          <p:nvPr/>
        </p:nvSpPr>
        <p:spPr>
          <a:xfrm>
            <a:off x="513926" y="5173407"/>
            <a:ext cx="9570599" cy="11079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514350" indent="-514350">
              <a:buFont typeface="+mj-lt"/>
              <a:buAutoNum type="arabicPeriod"/>
            </a:pPr>
            <a:r>
              <a:rPr kumimoji="0" lang="en-US" sz="2200" b="1" i="0" u="none" strike="noStrike" kern="0" cap="none" spc="0" normalizeH="0" baseline="0" noProof="0" dirty="0">
                <a:ln>
                  <a:noFill/>
                </a:ln>
                <a:solidFill>
                  <a:schemeClr val="accent1"/>
                </a:solidFill>
                <a:effectLst/>
                <a:uLnTx/>
                <a:uFillTx/>
                <a:latin typeface="Arial" panose="020B0604020202020204" pitchFamily="34" charset="0"/>
                <a:cs typeface="Arial" panose="020B0604020202020204" pitchFamily="34" charset="0"/>
                <a:sym typeface="Acherus Grotesque"/>
              </a:rPr>
              <a:t>Baseline: </a:t>
            </a:r>
            <a:r>
              <a:rPr kumimoji="0" lang="en-US" sz="2200" b="1" i="0" u="none" strike="noStrike" kern="0" cap="none" spc="0" normalizeH="0" baseline="0" noProof="0" dirty="0">
                <a:ln>
                  <a:noFill/>
                </a:ln>
                <a:solidFill>
                  <a:schemeClr val="accent2"/>
                </a:solidFill>
                <a:effectLst/>
                <a:uLnTx/>
                <a:uFillTx/>
                <a:latin typeface="Arial" panose="020B0604020202020204" pitchFamily="34" charset="0"/>
                <a:cs typeface="Arial" panose="020B0604020202020204" pitchFamily="34" charset="0"/>
                <a:sym typeface="Acherus Grotesque"/>
              </a:rPr>
              <a:t>100 most popular names in US (50 female, 50 male)</a:t>
            </a:r>
            <a:endParaRPr kumimoji="0" lang="en-US" sz="2200" b="1" i="0" u="none" strike="noStrike" kern="0" cap="none" spc="0" normalizeH="0" baseline="0" noProof="0" dirty="0">
              <a:ln>
                <a:noFill/>
              </a:ln>
              <a:solidFill>
                <a:schemeClr val="accent2"/>
              </a:solidFill>
              <a:effectLst/>
              <a:highlight>
                <a:srgbClr val="81273E"/>
              </a:highlight>
              <a:uLnTx/>
              <a:uFillTx/>
              <a:latin typeface="Arial" panose="020B0604020202020204" pitchFamily="34" charset="0"/>
              <a:cs typeface="Arial" panose="020B0604020202020204" pitchFamily="34" charset="0"/>
              <a:sym typeface="Acherus Grotesque"/>
            </a:endParaRPr>
          </a:p>
          <a:p>
            <a:pPr marL="514350" indent="-514350">
              <a:buFont typeface="+mj-lt"/>
              <a:buAutoNum type="arabicPeriod"/>
            </a:pPr>
            <a:r>
              <a:rPr lang="en-US" sz="2200" b="1" kern="0" dirty="0">
                <a:solidFill>
                  <a:schemeClr val="accent1"/>
                </a:solidFill>
                <a:latin typeface="Arial" panose="020B0604020202020204" pitchFamily="34" charset="0"/>
                <a:cs typeface="Arial" panose="020B0604020202020204" pitchFamily="34" charset="0"/>
                <a:sym typeface="Acherus Grotesque"/>
              </a:rPr>
              <a:t>Experiment 1: </a:t>
            </a:r>
            <a:r>
              <a:rPr lang="en-US" sz="2200" b="1" kern="0" dirty="0">
                <a:solidFill>
                  <a:schemeClr val="accent2"/>
                </a:solidFill>
                <a:latin typeface="Arial" panose="020B0604020202020204" pitchFamily="34" charset="0"/>
                <a:cs typeface="Arial" panose="020B0604020202020204" pitchFamily="34" charset="0"/>
                <a:sym typeface="Acherus Grotesque"/>
              </a:rPr>
              <a:t>100 most popular female names in US</a:t>
            </a:r>
          </a:p>
          <a:p>
            <a:pPr marL="514350" indent="-514350">
              <a:buFont typeface="+mj-lt"/>
              <a:buAutoNum type="arabicPeriod"/>
            </a:pPr>
            <a:r>
              <a:rPr lang="en-US" sz="2200" b="1" kern="0" dirty="0">
                <a:solidFill>
                  <a:schemeClr val="accent1"/>
                </a:solidFill>
                <a:latin typeface="Arial" panose="020B0604020202020204" pitchFamily="34" charset="0"/>
                <a:cs typeface="Arial" panose="020B0604020202020204" pitchFamily="34" charset="0"/>
                <a:sym typeface="Acherus Grotesque"/>
              </a:rPr>
              <a:t>Experiment 2: </a:t>
            </a:r>
            <a:r>
              <a:rPr lang="en-US" sz="2200" b="1" kern="0" dirty="0">
                <a:solidFill>
                  <a:schemeClr val="accent2"/>
                </a:solidFill>
                <a:latin typeface="Arial" panose="020B0604020202020204" pitchFamily="34" charset="0"/>
                <a:cs typeface="Arial" panose="020B0604020202020204" pitchFamily="34" charset="0"/>
                <a:sym typeface="Acherus Grotesque"/>
              </a:rPr>
              <a:t>2 most popular names in US (50 Jose, 50 Maria)</a:t>
            </a:r>
            <a:endParaRPr kumimoji="0" lang="en-US" sz="2200" b="1" i="0" u="none" strike="noStrike" kern="0" cap="none" spc="0" normalizeH="0" baseline="0" noProof="0" dirty="0">
              <a:ln>
                <a:noFill/>
              </a:ln>
              <a:solidFill>
                <a:schemeClr val="accent2"/>
              </a:solidFill>
              <a:effectLst/>
              <a:uLnTx/>
              <a:uFillTx/>
              <a:latin typeface="Arial" panose="020B0604020202020204" pitchFamily="34" charset="0"/>
              <a:cs typeface="Arial" panose="020B0604020202020204" pitchFamily="34" charset="0"/>
              <a:sym typeface="Acherus Grotesque"/>
            </a:endParaRPr>
          </a:p>
        </p:txBody>
      </p:sp>
      <p:grpSp>
        <p:nvGrpSpPr>
          <p:cNvPr id="24" name="Group 23">
            <a:extLst>
              <a:ext uri="{FF2B5EF4-FFF2-40B4-BE49-F238E27FC236}">
                <a16:creationId xmlns:a16="http://schemas.microsoft.com/office/drawing/2014/main" id="{A0220DA6-255F-22F6-CBCA-57DEE8C59C8B}"/>
              </a:ext>
            </a:extLst>
          </p:cNvPr>
          <p:cNvGrpSpPr/>
          <p:nvPr/>
        </p:nvGrpSpPr>
        <p:grpSpPr>
          <a:xfrm>
            <a:off x="4503723" y="911470"/>
            <a:ext cx="4101190" cy="3959342"/>
            <a:chOff x="4503723" y="911470"/>
            <a:chExt cx="4101190" cy="3959342"/>
          </a:xfrm>
        </p:grpSpPr>
        <p:pic>
          <p:nvPicPr>
            <p:cNvPr id="26630" name="Picture 6" descr="Debbie Adobe Character Animator Puppet ElectroPuppet, 42% OFF">
              <a:extLst>
                <a:ext uri="{FF2B5EF4-FFF2-40B4-BE49-F238E27FC236}">
                  <a16:creationId xmlns:a16="http://schemas.microsoft.com/office/drawing/2014/main" id="{96A4119D-1DE7-3BAC-307E-3F7496E20C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3723" y="911470"/>
              <a:ext cx="3964416" cy="1982208"/>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CA23C639-8184-568D-7418-83607FDD67CF}"/>
                </a:ext>
              </a:extLst>
            </p:cNvPr>
            <p:cNvGrpSpPr/>
            <p:nvPr/>
          </p:nvGrpSpPr>
          <p:grpSpPr>
            <a:xfrm>
              <a:off x="4503724" y="2317505"/>
              <a:ext cx="4101189" cy="2553307"/>
              <a:chOff x="4503724" y="2317505"/>
              <a:chExt cx="4101189" cy="2553307"/>
            </a:xfrm>
          </p:grpSpPr>
          <p:pic>
            <p:nvPicPr>
              <p:cNvPr id="26626" name="Picture 2" descr="Jose - Adobe Character Animator Puppet | ElectroPuppet">
                <a:extLst>
                  <a:ext uri="{FF2B5EF4-FFF2-40B4-BE49-F238E27FC236}">
                    <a16:creationId xmlns:a16="http://schemas.microsoft.com/office/drawing/2014/main" id="{E457806B-062A-8820-D1A3-5A408EDC2F3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03724" y="2888604"/>
                <a:ext cx="3964416" cy="198220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7724563-CA51-7D67-C0AC-7DCAB39D59ED}"/>
                  </a:ext>
                </a:extLst>
              </p:cNvPr>
              <p:cNvSpPr txBox="1"/>
              <p:nvPr/>
            </p:nvSpPr>
            <p:spPr>
              <a:xfrm>
                <a:off x="7202557" y="2317505"/>
                <a:ext cx="1402356"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sz="3600" b="1" i="0" u="none" strike="noStrike" kern="0" cap="none" spc="0" normalizeH="0" baseline="0" noProof="0" dirty="0">
                    <a:ln>
                      <a:noFill/>
                    </a:ln>
                    <a:solidFill>
                      <a:schemeClr val="bg1"/>
                    </a:solidFill>
                    <a:effectLst/>
                    <a:highlight>
                      <a:srgbClr val="000000"/>
                    </a:highlight>
                    <a:uLnTx/>
                    <a:uFillTx/>
                    <a:latin typeface="Arial" panose="020B0604020202020204" pitchFamily="34" charset="0"/>
                    <a:cs typeface="Arial" panose="020B0604020202020204" pitchFamily="34" charset="0"/>
                    <a:sym typeface="Acherus Grotesque"/>
                  </a:rPr>
                  <a:t>Maria</a:t>
                </a:r>
              </a:p>
            </p:txBody>
          </p:sp>
        </p:grpSp>
      </p:grpSp>
      <p:grpSp>
        <p:nvGrpSpPr>
          <p:cNvPr id="25" name="Group 24">
            <a:extLst>
              <a:ext uri="{FF2B5EF4-FFF2-40B4-BE49-F238E27FC236}">
                <a16:creationId xmlns:a16="http://schemas.microsoft.com/office/drawing/2014/main" id="{681C5EB0-8D54-1918-4552-267B0C01ECEA}"/>
              </a:ext>
            </a:extLst>
          </p:cNvPr>
          <p:cNvGrpSpPr/>
          <p:nvPr/>
        </p:nvGrpSpPr>
        <p:grpSpPr>
          <a:xfrm>
            <a:off x="8699863" y="2239662"/>
            <a:ext cx="3479073" cy="2027403"/>
            <a:chOff x="8699863" y="2239662"/>
            <a:chExt cx="3479073" cy="2027403"/>
          </a:xfrm>
        </p:grpSpPr>
        <p:grpSp>
          <p:nvGrpSpPr>
            <p:cNvPr id="21" name="Group 20">
              <a:extLst>
                <a:ext uri="{FF2B5EF4-FFF2-40B4-BE49-F238E27FC236}">
                  <a16:creationId xmlns:a16="http://schemas.microsoft.com/office/drawing/2014/main" id="{C78010D8-132E-235E-76BD-1FC09A5E914F}"/>
                </a:ext>
              </a:extLst>
            </p:cNvPr>
            <p:cNvGrpSpPr/>
            <p:nvPr/>
          </p:nvGrpSpPr>
          <p:grpSpPr>
            <a:xfrm>
              <a:off x="8699863" y="2239662"/>
              <a:ext cx="3479073" cy="1368608"/>
              <a:chOff x="8699863" y="2239662"/>
              <a:chExt cx="3479073" cy="1368608"/>
            </a:xfrm>
          </p:grpSpPr>
          <p:pic>
            <p:nvPicPr>
              <p:cNvPr id="16" name="Picture 15">
                <a:extLst>
                  <a:ext uri="{FF2B5EF4-FFF2-40B4-BE49-F238E27FC236}">
                    <a16:creationId xmlns:a16="http://schemas.microsoft.com/office/drawing/2014/main" id="{FF6BEB07-2DB9-D152-CC9C-0A7517562E1D}"/>
                  </a:ext>
                </a:extLst>
              </p:cNvPr>
              <p:cNvPicPr>
                <a:picLocks noChangeAspect="1"/>
              </p:cNvPicPr>
              <p:nvPr/>
            </p:nvPicPr>
            <p:blipFill>
              <a:blip r:embed="rId8"/>
              <a:stretch>
                <a:fillRect/>
              </a:stretch>
            </p:blipFill>
            <p:spPr>
              <a:xfrm>
                <a:off x="8699863" y="2893678"/>
                <a:ext cx="3479073" cy="714592"/>
              </a:xfrm>
              <a:prstGeom prst="rect">
                <a:avLst/>
              </a:prstGeom>
            </p:spPr>
          </p:pic>
          <p:pic>
            <p:nvPicPr>
              <p:cNvPr id="18" name="Picture 17">
                <a:extLst>
                  <a:ext uri="{FF2B5EF4-FFF2-40B4-BE49-F238E27FC236}">
                    <a16:creationId xmlns:a16="http://schemas.microsoft.com/office/drawing/2014/main" id="{0DA457AC-9D7B-1503-9E34-9B9E7F02F5D7}"/>
                  </a:ext>
                </a:extLst>
              </p:cNvPr>
              <p:cNvPicPr>
                <a:picLocks noChangeAspect="1"/>
              </p:cNvPicPr>
              <p:nvPr/>
            </p:nvPicPr>
            <p:blipFill>
              <a:blip r:embed="rId9"/>
              <a:stretch>
                <a:fillRect/>
              </a:stretch>
            </p:blipFill>
            <p:spPr>
              <a:xfrm>
                <a:off x="8860115" y="2239662"/>
                <a:ext cx="3158570" cy="637692"/>
              </a:xfrm>
              <a:prstGeom prst="rect">
                <a:avLst/>
              </a:prstGeom>
            </p:spPr>
          </p:pic>
        </p:grpSp>
        <p:pic>
          <p:nvPicPr>
            <p:cNvPr id="20" name="Picture 19">
              <a:extLst>
                <a:ext uri="{FF2B5EF4-FFF2-40B4-BE49-F238E27FC236}">
                  <a16:creationId xmlns:a16="http://schemas.microsoft.com/office/drawing/2014/main" id="{91236966-1007-5088-BABD-57D61424B2F5}"/>
                </a:ext>
              </a:extLst>
            </p:cNvPr>
            <p:cNvPicPr>
              <a:picLocks noChangeAspect="1"/>
            </p:cNvPicPr>
            <p:nvPr/>
          </p:nvPicPr>
          <p:blipFill>
            <a:blip r:embed="rId10"/>
            <a:stretch>
              <a:fillRect/>
            </a:stretch>
          </p:blipFill>
          <p:spPr>
            <a:xfrm>
              <a:off x="8772321" y="3696277"/>
              <a:ext cx="3168458" cy="570788"/>
            </a:xfrm>
            <a:prstGeom prst="rect">
              <a:avLst/>
            </a:prstGeom>
          </p:spPr>
        </p:pic>
      </p:grpSp>
    </p:spTree>
    <p:extLst>
      <p:ext uri="{BB962C8B-B14F-4D97-AF65-F5344CB8AC3E}">
        <p14:creationId xmlns:p14="http://schemas.microsoft.com/office/powerpoint/2010/main" val="38275319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12" name="MEET OUR TEAM">
            <a:extLst>
              <a:ext uri="{FF2B5EF4-FFF2-40B4-BE49-F238E27FC236}">
                <a16:creationId xmlns:a16="http://schemas.microsoft.com/office/drawing/2014/main" id="{35254D17-5340-43C3-42D2-63FAF553E1E5}"/>
              </a:ext>
            </a:extLst>
          </p:cNvPr>
          <p:cNvSpPr/>
          <p:nvPr/>
        </p:nvSpPr>
        <p:spPr>
          <a:xfrm>
            <a:off x="627676" y="-216976"/>
            <a:ext cx="10826223" cy="1066927"/>
          </a:xfrm>
          <a:prstGeom prst="rect">
            <a:avLst/>
          </a:prstGeom>
          <a:ln w="12700">
            <a:miter lim="400000"/>
          </a:ln>
          <a:extLst>
            <a:ext uri="{C572A759-6A51-4108-AA02-DFA0A04FC94B}">
              <ma14:wrappingTextBoxFlag xmlns:ma14="http://schemas.microsoft.com/office/mac/drawingml/2011/main" xmlns="" val="1"/>
            </a:ext>
          </a:extLst>
        </p:spPr>
        <p:txBody>
          <a:bodyPr lIns="45719" tIns="45720" rIns="45719" bIns="45720"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a:defRPr/>
            </a:pPr>
            <a:r>
              <a:rPr lang="en-US" sz="3200" b="1" kern="0" spc="0" dirty="0">
                <a:solidFill>
                  <a:srgbClr val="861F41"/>
                </a:solidFill>
                <a:latin typeface="Arial" panose="020B0604020202020204" pitchFamily="34" charset="0"/>
                <a:cs typeface="Arial" panose="020B0604020202020204" pitchFamily="34" charset="0"/>
              </a:rPr>
              <a:t>Name sensitivity analysis</a:t>
            </a:r>
            <a:endParaRPr lang="en-US" sz="3200" kern="0" spc="0" dirty="0">
              <a:solidFill>
                <a:srgbClr val="000000"/>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C10DB975-A9DA-AE4E-3AE8-E25BC64644EA}"/>
              </a:ext>
            </a:extLst>
          </p:cNvPr>
          <p:cNvPicPr>
            <a:picLocks noChangeAspect="1"/>
          </p:cNvPicPr>
          <p:nvPr/>
        </p:nvPicPr>
        <p:blipFill>
          <a:blip r:embed="rId4"/>
          <a:stretch>
            <a:fillRect/>
          </a:stretch>
        </p:blipFill>
        <p:spPr>
          <a:xfrm>
            <a:off x="177044" y="979202"/>
            <a:ext cx="3976320" cy="2423562"/>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E809ABF-28F6-1222-20B2-076F2B65A223}"/>
                  </a:ext>
                </a:extLst>
              </p:cNvPr>
              <p:cNvSpPr txBox="1"/>
              <p:nvPr/>
            </p:nvSpPr>
            <p:spPr>
              <a:xfrm>
                <a:off x="2123711" y="3724507"/>
                <a:ext cx="754884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hangingPunct="0"/>
                <a14:m>
                  <m:oMathPara xmlns:m="http://schemas.openxmlformats.org/officeDocument/2006/math">
                    <m:oMathParaPr>
                      <m:jc m:val="left"/>
                    </m:oMathParaPr>
                    <m:oMath xmlns:m="http://schemas.openxmlformats.org/officeDocument/2006/math">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𝑀𝑜𝑏𝑖𝑙𝑖𝑡𝑦</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0</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ctrlPr>
                        </m:sSubPr>
                        <m:e>
                          <m:r>
                            <a:rPr kumimoji="0" lang="en-US" sz="1800" b="0" i="1" u="none" strike="noStrike" cap="none" spc="0" normalizeH="0" baseline="0" smtClean="0">
                              <a:ln>
                                <a:noFill/>
                              </a:ln>
                              <a:solidFill>
                                <a:schemeClr val="accent1"/>
                              </a:solidFill>
                              <a:effectLst/>
                              <a:uFillTx/>
                              <a:latin typeface="Cambria Math" panose="02040503050406030204" pitchFamily="18" charset="0"/>
                              <a:ea typeface="Cambria Math" panose="02040503050406030204" pitchFamily="18" charset="0"/>
                              <a:cs typeface="+mj-cs"/>
                              <a:sym typeface="Calibri"/>
                            </a:rPr>
                            <m:t>𝛽</m:t>
                          </m:r>
                        </m:e>
                        <m: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1</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𝑁𝑒𝑤𝐶𝑎𝑠𝑒𝑠</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2</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𝑁</m:t>
                      </m:r>
                      <m:sSup>
                        <m:sSupPr>
                          <m:ctrlP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ctrlPr>
                        </m:sSupPr>
                        <m:e>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𝑒𝑤𝐶𝑎𝑠𝑒𝑠</m:t>
                          </m:r>
                        </m:e>
                        <m:sup>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2</m:t>
                          </m:r>
                        </m:sup>
                      </m:sSup>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3</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𝐹𝑒𝑚𝑎𝑙𝑒</m:t>
                      </m:r>
                    </m:oMath>
                  </m:oMathPara>
                </a14:m>
                <a:endParaRPr kumimoji="0" lang="en-US" sz="1800" b="0" i="0" u="none" strike="noStrike" cap="none" spc="0" normalizeH="0" baseline="0" dirty="0">
                  <a:ln>
                    <a:noFill/>
                  </a:ln>
                  <a:solidFill>
                    <a:schemeClr val="accent1"/>
                  </a:solidFill>
                  <a:effectLst/>
                  <a:uFillTx/>
                  <a:latin typeface="+mj-lt"/>
                  <a:ea typeface="+mj-ea"/>
                  <a:cs typeface="+mj-cs"/>
                  <a:sym typeface="Calibri"/>
                </a:endParaRPr>
              </a:p>
            </p:txBody>
          </p:sp>
        </mc:Choice>
        <mc:Fallback xmlns="">
          <p:sp>
            <p:nvSpPr>
              <p:cNvPr id="25" name="TextBox 24">
                <a:extLst>
                  <a:ext uri="{FF2B5EF4-FFF2-40B4-BE49-F238E27FC236}">
                    <a16:creationId xmlns:a16="http://schemas.microsoft.com/office/drawing/2014/main" id="{5E809ABF-28F6-1222-20B2-076F2B65A223}"/>
                  </a:ext>
                </a:extLst>
              </p:cNvPr>
              <p:cNvSpPr txBox="1">
                <a:spLocks noRot="1" noChangeAspect="1" noMove="1" noResize="1" noEditPoints="1" noAdjustHandles="1" noChangeArrowheads="1" noChangeShapeType="1" noTextEdit="1"/>
              </p:cNvSpPr>
              <p:nvPr/>
            </p:nvSpPr>
            <p:spPr>
              <a:xfrm>
                <a:off x="2123711" y="3724507"/>
                <a:ext cx="7548840" cy="276999"/>
              </a:xfrm>
              <a:prstGeom prst="rect">
                <a:avLst/>
              </a:prstGeom>
              <a:blipFill>
                <a:blip r:embed="rId5"/>
                <a:stretch>
                  <a:fillRect l="-1453" t="-4444" b="-35556"/>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43753D0-826F-A0BB-3D50-7C4D0FD5A8D1}"/>
                  </a:ext>
                </a:extLst>
              </p:cNvPr>
              <p:cNvSpPr txBox="1"/>
              <p:nvPr/>
            </p:nvSpPr>
            <p:spPr>
              <a:xfrm>
                <a:off x="2123711" y="4121909"/>
                <a:ext cx="7752804"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hangingPunct="0"/>
                <a14:m>
                  <m:oMathPara xmlns:m="http://schemas.openxmlformats.org/officeDocument/2006/math">
                    <m:oMathParaPr>
                      <m:jc m:val="left"/>
                    </m:oMathParaPr>
                    <m:oMath xmlns:m="http://schemas.openxmlformats.org/officeDocument/2006/math">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𝑀𝑜𝑏𝑖𝑙𝑖𝑡𝑦</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0</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ctrlPr>
                        </m:sSubPr>
                        <m:e>
                          <m:r>
                            <a:rPr kumimoji="0" lang="en-US" sz="1800" b="0" i="1" u="none" strike="noStrike" cap="none" spc="0" normalizeH="0" baseline="0" smtClean="0">
                              <a:ln>
                                <a:noFill/>
                              </a:ln>
                              <a:solidFill>
                                <a:schemeClr val="accent1"/>
                              </a:solidFill>
                              <a:effectLst/>
                              <a:uFillTx/>
                              <a:latin typeface="Cambria Math" panose="02040503050406030204" pitchFamily="18" charset="0"/>
                              <a:ea typeface="Cambria Math" panose="02040503050406030204" pitchFamily="18" charset="0"/>
                              <a:cs typeface="+mj-cs"/>
                              <a:sym typeface="Calibri"/>
                            </a:rPr>
                            <m:t>𝛽</m:t>
                          </m:r>
                        </m:e>
                        <m: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1</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𝑁𝐶</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2</m:t>
                          </m:r>
                        </m:sub>
                      </m:sSub>
                      <m:sSup>
                        <m:sSupPr>
                          <m:ctrlP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ctrlPr>
                        </m:sSupPr>
                        <m:e>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𝑁𝐶</m:t>
                          </m:r>
                        </m:e>
                        <m:sup>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2</m:t>
                          </m:r>
                        </m:sup>
                      </m:sSup>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3</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𝐹𝑒𝑚𝑎𝑙𝑒</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4</m:t>
                          </m:r>
                        </m:sub>
                      </m:sSub>
                      <m:r>
                        <m:rPr>
                          <m:sty m:val="p"/>
                        </m:rPr>
                        <a:rPr lang="en-US" b="0" i="0" smtClean="0">
                          <a:solidFill>
                            <a:schemeClr val="accent1"/>
                          </a:solidFill>
                          <a:latin typeface="Cambria Math" panose="02040503050406030204" pitchFamily="18" charset="0"/>
                          <a:ea typeface="Cambria Math" panose="02040503050406030204" pitchFamily="18" charset="0"/>
                          <a:sym typeface="Calibri"/>
                        </a:rPr>
                        <m:t>NC</m:t>
                      </m:r>
                      <m:r>
                        <a:rPr lang="en-US" b="0" i="0" smtClean="0">
                          <a:solidFill>
                            <a:schemeClr val="accent1"/>
                          </a:solidFill>
                          <a:latin typeface="Cambria Math" panose="02040503050406030204" pitchFamily="18" charset="0"/>
                          <a:ea typeface="Cambria Math" panose="02040503050406030204" pitchFamily="18" charset="0"/>
                          <a:sym typeface="Calibri"/>
                        </a:rPr>
                        <m:t>∗</m:t>
                      </m:r>
                      <m:r>
                        <m:rPr>
                          <m:sty m:val="p"/>
                        </m:rPr>
                        <a:rPr lang="en-US" b="0" i="0" smtClean="0">
                          <a:solidFill>
                            <a:schemeClr val="accent1"/>
                          </a:solidFill>
                          <a:latin typeface="Cambria Math" panose="02040503050406030204" pitchFamily="18" charset="0"/>
                          <a:ea typeface="Cambria Math" panose="02040503050406030204" pitchFamily="18" charset="0"/>
                          <a:sym typeface="Calibri"/>
                        </a:rPr>
                        <m:t>Female</m:t>
                      </m:r>
                    </m:oMath>
                  </m:oMathPara>
                </a14:m>
                <a:endParaRPr kumimoji="0" lang="en-US" sz="1800" b="0" i="0" u="none" strike="noStrike" cap="none" spc="0" normalizeH="0" baseline="0" dirty="0">
                  <a:ln>
                    <a:noFill/>
                  </a:ln>
                  <a:solidFill>
                    <a:schemeClr val="accent1"/>
                  </a:solidFill>
                  <a:effectLst/>
                  <a:uFillTx/>
                  <a:latin typeface="+mj-lt"/>
                  <a:ea typeface="+mj-ea"/>
                  <a:cs typeface="+mj-cs"/>
                  <a:sym typeface="Calibri"/>
                </a:endParaRPr>
              </a:p>
            </p:txBody>
          </p:sp>
        </mc:Choice>
        <mc:Fallback xmlns="">
          <p:sp>
            <p:nvSpPr>
              <p:cNvPr id="26" name="TextBox 25">
                <a:extLst>
                  <a:ext uri="{FF2B5EF4-FFF2-40B4-BE49-F238E27FC236}">
                    <a16:creationId xmlns:a16="http://schemas.microsoft.com/office/drawing/2014/main" id="{243753D0-826F-A0BB-3D50-7C4D0FD5A8D1}"/>
                  </a:ext>
                </a:extLst>
              </p:cNvPr>
              <p:cNvSpPr txBox="1">
                <a:spLocks noRot="1" noChangeAspect="1" noMove="1" noResize="1" noEditPoints="1" noAdjustHandles="1" noChangeArrowheads="1" noChangeShapeType="1" noTextEdit="1"/>
              </p:cNvSpPr>
              <p:nvPr/>
            </p:nvSpPr>
            <p:spPr>
              <a:xfrm>
                <a:off x="2123711" y="4121909"/>
                <a:ext cx="7752804" cy="276999"/>
              </a:xfrm>
              <a:prstGeom prst="rect">
                <a:avLst/>
              </a:prstGeom>
              <a:blipFill>
                <a:blip r:embed="rId6"/>
                <a:stretch>
                  <a:fillRect l="-1415" t="-4348" b="-32609"/>
                </a:stretch>
              </a:blipFill>
              <a:ln w="12700" cap="flat">
                <a:noFill/>
                <a:miter lim="400000"/>
              </a:ln>
              <a:effectLst/>
            </p:spPr>
            <p:txBody>
              <a:bodyPr/>
              <a:lstStyle/>
              <a:p>
                <a:r>
                  <a:rPr lang="en-US">
                    <a:noFill/>
                  </a:rPr>
                  <a:t> </a:t>
                </a:r>
              </a:p>
            </p:txBody>
          </p:sp>
        </mc:Fallback>
      </mc:AlternateContent>
      <p:grpSp>
        <p:nvGrpSpPr>
          <p:cNvPr id="32" name="Group 31">
            <a:extLst>
              <a:ext uri="{FF2B5EF4-FFF2-40B4-BE49-F238E27FC236}">
                <a16:creationId xmlns:a16="http://schemas.microsoft.com/office/drawing/2014/main" id="{298F7098-55EC-7B4A-4BBD-FB69E2CEEF2A}"/>
              </a:ext>
            </a:extLst>
          </p:cNvPr>
          <p:cNvGrpSpPr/>
          <p:nvPr/>
        </p:nvGrpSpPr>
        <p:grpSpPr>
          <a:xfrm>
            <a:off x="2123711" y="4519311"/>
            <a:ext cx="7213385" cy="674401"/>
            <a:chOff x="3975160" y="2935992"/>
            <a:chExt cx="6230819" cy="674401"/>
          </a:xfrm>
        </p:grpSpPr>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8F2DADF-E6AC-A570-D7CF-2A99A24B6203}"/>
                    </a:ext>
                  </a:extLst>
                </p:cNvPr>
                <p:cNvSpPr txBox="1"/>
                <p:nvPr/>
              </p:nvSpPr>
              <p:spPr>
                <a:xfrm>
                  <a:off x="3975160" y="2935992"/>
                  <a:ext cx="5683439"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hangingPunct="0"/>
                  <a14:m>
                    <m:oMathPara xmlns:m="http://schemas.openxmlformats.org/officeDocument/2006/math">
                      <m:oMathParaPr>
                        <m:jc m:val="left"/>
                      </m:oMathParaPr>
                      <m:oMath xmlns:m="http://schemas.openxmlformats.org/officeDocument/2006/math">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𝑀𝑜𝑏𝑖𝑙𝑖𝑡𝑦</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0</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ctrlPr>
                          </m:sSubPr>
                          <m:e>
                            <m:r>
                              <a:rPr kumimoji="0" lang="en-US" sz="1800" b="0" i="1" u="none" strike="noStrike" cap="none" spc="0" normalizeH="0" baseline="0" smtClean="0">
                                <a:ln>
                                  <a:noFill/>
                                </a:ln>
                                <a:solidFill>
                                  <a:schemeClr val="accent1"/>
                                </a:solidFill>
                                <a:effectLst/>
                                <a:uFillTx/>
                                <a:latin typeface="Cambria Math" panose="02040503050406030204" pitchFamily="18" charset="0"/>
                                <a:ea typeface="Cambria Math" panose="02040503050406030204" pitchFamily="18" charset="0"/>
                                <a:cs typeface="+mj-cs"/>
                                <a:sym typeface="Calibri"/>
                              </a:rPr>
                              <m:t>𝛽</m:t>
                            </m:r>
                          </m:e>
                          <m: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1</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𝑁𝑒𝑤𝐶𝑎𝑠𝑒𝑠</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2</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𝑁</m:t>
                        </m:r>
                        <m:sSup>
                          <m:sSupPr>
                            <m:ctrlP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ctrlPr>
                          </m:sSupPr>
                          <m:e>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𝑒𝑤𝐶𝑎𝑠𝑒𝑠</m:t>
                            </m:r>
                          </m:e>
                          <m:sup>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2</m:t>
                            </m:r>
                          </m:sup>
                        </m:sSup>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3</m:t>
                            </m:r>
                          </m:sub>
                        </m:sSub>
                        <m:r>
                          <a:rPr lang="en-US" b="0" i="1" smtClean="0">
                            <a:solidFill>
                              <a:schemeClr val="accent1"/>
                            </a:solidFill>
                            <a:latin typeface="Cambria Math" panose="02040503050406030204" pitchFamily="18" charset="0"/>
                            <a:sym typeface="Calibri"/>
                          </a:rPr>
                          <m:t>∗</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𝑇𝑤𝑜𝑁𝑎𝑚𝑒𝑠</m:t>
                        </m:r>
                      </m:oMath>
                    </m:oMathPara>
                  </a14:m>
                  <a:endParaRPr kumimoji="0" lang="en-US" sz="1800" b="0" i="0" u="none" strike="noStrike" cap="none" spc="0" normalizeH="0" baseline="0" dirty="0">
                    <a:ln>
                      <a:noFill/>
                    </a:ln>
                    <a:solidFill>
                      <a:schemeClr val="accent1"/>
                    </a:solidFill>
                    <a:effectLst/>
                    <a:uFillTx/>
                    <a:latin typeface="+mj-lt"/>
                    <a:ea typeface="+mj-ea"/>
                    <a:cs typeface="+mj-cs"/>
                    <a:sym typeface="Calibri"/>
                  </a:endParaRPr>
                </a:p>
              </p:txBody>
            </p:sp>
          </mc:Choice>
          <mc:Fallback xmlns="">
            <p:sp>
              <p:nvSpPr>
                <p:cNvPr id="29" name="TextBox 28">
                  <a:extLst>
                    <a:ext uri="{FF2B5EF4-FFF2-40B4-BE49-F238E27FC236}">
                      <a16:creationId xmlns:a16="http://schemas.microsoft.com/office/drawing/2014/main" id="{28F2DADF-E6AC-A570-D7CF-2A99A24B6203}"/>
                    </a:ext>
                  </a:extLst>
                </p:cNvPr>
                <p:cNvSpPr txBox="1">
                  <a:spLocks noRot="1" noChangeAspect="1" noMove="1" noResize="1" noEditPoints="1" noAdjustHandles="1" noChangeArrowheads="1" noChangeShapeType="1" noTextEdit="1"/>
                </p:cNvSpPr>
                <p:nvPr/>
              </p:nvSpPr>
              <p:spPr>
                <a:xfrm>
                  <a:off x="3975160" y="2935992"/>
                  <a:ext cx="5683439" cy="276999"/>
                </a:xfrm>
                <a:prstGeom prst="rect">
                  <a:avLst/>
                </a:prstGeom>
                <a:blipFill>
                  <a:blip r:embed="rId8"/>
                  <a:stretch>
                    <a:fillRect l="-1667" t="-4444" b="-35556"/>
                  </a:stretch>
                </a:blipFill>
                <a:ln w="12700" cap="flat">
                  <a:noFill/>
                  <a:miter lim="400000"/>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110F31A-C21D-BA3A-1E96-B7858630FE45}"/>
                    </a:ext>
                  </a:extLst>
                </p:cNvPr>
                <p:cNvSpPr txBox="1"/>
                <p:nvPr/>
              </p:nvSpPr>
              <p:spPr>
                <a:xfrm>
                  <a:off x="3975160" y="3333394"/>
                  <a:ext cx="6230819"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hangingPunct="0"/>
                  <a14:m>
                    <m:oMathPara xmlns:m="http://schemas.openxmlformats.org/officeDocument/2006/math">
                      <m:oMathParaPr>
                        <m:jc m:val="left"/>
                      </m:oMathParaPr>
                      <m:oMath xmlns:m="http://schemas.openxmlformats.org/officeDocument/2006/math">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𝑀𝑜𝑏𝑖𝑙𝑖𝑡𝑦</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0</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ctrlPr>
                          </m:sSubPr>
                          <m:e>
                            <m:r>
                              <a:rPr kumimoji="0" lang="en-US" sz="1800" b="0" i="1" u="none" strike="noStrike" cap="none" spc="0" normalizeH="0" baseline="0" smtClean="0">
                                <a:ln>
                                  <a:noFill/>
                                </a:ln>
                                <a:solidFill>
                                  <a:schemeClr val="accent1"/>
                                </a:solidFill>
                                <a:effectLst/>
                                <a:uFillTx/>
                                <a:latin typeface="Cambria Math" panose="02040503050406030204" pitchFamily="18" charset="0"/>
                                <a:ea typeface="Cambria Math" panose="02040503050406030204" pitchFamily="18" charset="0"/>
                                <a:cs typeface="+mj-cs"/>
                                <a:sym typeface="Calibri"/>
                              </a:rPr>
                              <m:t>𝛽</m:t>
                            </m:r>
                          </m:e>
                          <m: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1</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𝑁𝐶</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2</m:t>
                            </m:r>
                          </m:sub>
                        </m:sSub>
                        <m:sSup>
                          <m:sSupPr>
                            <m:ctrlP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ctrlPr>
                          </m:sSupPr>
                          <m:e>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𝑁𝐶</m:t>
                            </m:r>
                          </m:e>
                          <m:sup>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2</m:t>
                            </m:r>
                          </m:sup>
                        </m:sSup>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3</m:t>
                            </m:r>
                          </m:sub>
                        </m:sSub>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𝑇𝑤𝑜𝑁𝑎𝑚𝑒𝑠</m:t>
                        </m:r>
                        <m:r>
                          <a:rPr kumimoji="0" lang="en-US" sz="1800" b="0" i="1" u="none" strike="noStrike" cap="none" spc="0" normalizeH="0" baseline="0" smtClean="0">
                            <a:ln>
                              <a:noFill/>
                            </a:ln>
                            <a:solidFill>
                              <a:schemeClr val="accent1"/>
                            </a:solidFill>
                            <a:effectLst/>
                            <a:uFillTx/>
                            <a:latin typeface="Cambria Math" panose="02040503050406030204" pitchFamily="18" charset="0"/>
                            <a:ea typeface="+mj-ea"/>
                            <a:cs typeface="+mj-cs"/>
                            <a:sym typeface="Calibri"/>
                          </a:rPr>
                          <m:t>+</m:t>
                        </m:r>
                        <m:sSub>
                          <m:sSubPr>
                            <m:ctrlPr>
                              <a:rPr lang="en-US" i="1">
                                <a:solidFill>
                                  <a:schemeClr val="accent1"/>
                                </a:solidFill>
                                <a:latin typeface="Cambria Math" panose="02040503050406030204" pitchFamily="18" charset="0"/>
                                <a:sym typeface="Calibri"/>
                              </a:rPr>
                            </m:ctrlPr>
                          </m:sSubPr>
                          <m:e>
                            <m:r>
                              <a:rPr lang="en-US" i="1">
                                <a:solidFill>
                                  <a:schemeClr val="accent1"/>
                                </a:solidFill>
                                <a:latin typeface="Cambria Math" panose="02040503050406030204" pitchFamily="18" charset="0"/>
                                <a:ea typeface="Cambria Math" panose="02040503050406030204" pitchFamily="18" charset="0"/>
                                <a:sym typeface="Calibri"/>
                              </a:rPr>
                              <m:t>𝛽</m:t>
                            </m:r>
                          </m:e>
                          <m:sub>
                            <m:r>
                              <a:rPr lang="en-US" b="0" i="1" smtClean="0">
                                <a:solidFill>
                                  <a:schemeClr val="accent1"/>
                                </a:solidFill>
                                <a:latin typeface="Cambria Math" panose="02040503050406030204" pitchFamily="18" charset="0"/>
                                <a:ea typeface="Cambria Math" panose="02040503050406030204" pitchFamily="18" charset="0"/>
                                <a:sym typeface="Calibri"/>
                              </a:rPr>
                              <m:t>4</m:t>
                            </m:r>
                          </m:sub>
                        </m:sSub>
                        <m:r>
                          <m:rPr>
                            <m:sty m:val="p"/>
                          </m:rPr>
                          <a:rPr lang="en-US" b="0" i="0" smtClean="0">
                            <a:solidFill>
                              <a:schemeClr val="accent1"/>
                            </a:solidFill>
                            <a:latin typeface="Cambria Math" panose="02040503050406030204" pitchFamily="18" charset="0"/>
                            <a:ea typeface="Cambria Math" panose="02040503050406030204" pitchFamily="18" charset="0"/>
                            <a:sym typeface="Calibri"/>
                          </a:rPr>
                          <m:t>NC</m:t>
                        </m:r>
                        <m:r>
                          <a:rPr lang="en-US" b="0" i="0" smtClean="0">
                            <a:solidFill>
                              <a:schemeClr val="accent1"/>
                            </a:solidFill>
                            <a:latin typeface="Cambria Math" panose="02040503050406030204" pitchFamily="18" charset="0"/>
                            <a:ea typeface="Cambria Math" panose="02040503050406030204" pitchFamily="18" charset="0"/>
                            <a:sym typeface="Calibri"/>
                          </a:rPr>
                          <m:t>∗</m:t>
                        </m:r>
                        <m:r>
                          <m:rPr>
                            <m:sty m:val="p"/>
                          </m:rPr>
                          <a:rPr lang="en-US" b="0" i="0" smtClean="0">
                            <a:solidFill>
                              <a:schemeClr val="accent1"/>
                            </a:solidFill>
                            <a:latin typeface="Cambria Math" panose="02040503050406030204" pitchFamily="18" charset="0"/>
                            <a:ea typeface="Cambria Math" panose="02040503050406030204" pitchFamily="18" charset="0"/>
                            <a:sym typeface="Calibri"/>
                          </a:rPr>
                          <m:t>TwoNames</m:t>
                        </m:r>
                      </m:oMath>
                    </m:oMathPara>
                  </a14:m>
                  <a:endParaRPr kumimoji="0" lang="en-US" sz="1800" b="0" i="0" u="none" strike="noStrike" cap="none" spc="0" normalizeH="0" baseline="0" dirty="0">
                    <a:ln>
                      <a:noFill/>
                    </a:ln>
                    <a:solidFill>
                      <a:schemeClr val="accent1"/>
                    </a:solidFill>
                    <a:effectLst/>
                    <a:uFillTx/>
                    <a:latin typeface="+mj-lt"/>
                    <a:ea typeface="+mj-ea"/>
                    <a:cs typeface="+mj-cs"/>
                    <a:sym typeface="Calibri"/>
                  </a:endParaRPr>
                </a:p>
              </p:txBody>
            </p:sp>
          </mc:Choice>
          <mc:Fallback xmlns="">
            <p:sp>
              <p:nvSpPr>
                <p:cNvPr id="30" name="TextBox 29">
                  <a:extLst>
                    <a:ext uri="{FF2B5EF4-FFF2-40B4-BE49-F238E27FC236}">
                      <a16:creationId xmlns:a16="http://schemas.microsoft.com/office/drawing/2014/main" id="{3110F31A-C21D-BA3A-1E96-B7858630FE45}"/>
                    </a:ext>
                  </a:extLst>
                </p:cNvPr>
                <p:cNvSpPr txBox="1">
                  <a:spLocks noRot="1" noChangeAspect="1" noMove="1" noResize="1" noEditPoints="1" noAdjustHandles="1" noChangeArrowheads="1" noChangeShapeType="1" noTextEdit="1"/>
                </p:cNvSpPr>
                <p:nvPr/>
              </p:nvSpPr>
              <p:spPr>
                <a:xfrm>
                  <a:off x="3975160" y="3333394"/>
                  <a:ext cx="6230819" cy="276999"/>
                </a:xfrm>
                <a:prstGeom prst="rect">
                  <a:avLst/>
                </a:prstGeom>
                <a:blipFill>
                  <a:blip r:embed="rId9"/>
                  <a:stretch>
                    <a:fillRect l="-1520" t="-4348" b="-32609"/>
                  </a:stretch>
                </a:blipFill>
                <a:ln w="12700" cap="flat">
                  <a:noFill/>
                  <a:miter lim="400000"/>
                </a:ln>
                <a:effectLst/>
              </p:spPr>
              <p:txBody>
                <a:bodyPr/>
                <a:lstStyle/>
                <a:p>
                  <a:r>
                    <a:rPr lang="en-US">
                      <a:noFill/>
                    </a:rPr>
                    <a:t> </a:t>
                  </a:r>
                </a:p>
              </p:txBody>
            </p:sp>
          </mc:Fallback>
        </mc:AlternateContent>
      </p:grpSp>
      <p:pic>
        <p:nvPicPr>
          <p:cNvPr id="15" name="Picture 14">
            <a:extLst>
              <a:ext uri="{FF2B5EF4-FFF2-40B4-BE49-F238E27FC236}">
                <a16:creationId xmlns:a16="http://schemas.microsoft.com/office/drawing/2014/main" id="{1BACF279-C152-D402-9C95-D3A174234AC7}"/>
              </a:ext>
            </a:extLst>
          </p:cNvPr>
          <p:cNvPicPr>
            <a:picLocks noChangeAspect="1"/>
          </p:cNvPicPr>
          <p:nvPr/>
        </p:nvPicPr>
        <p:blipFill>
          <a:blip r:embed="rId10"/>
          <a:stretch>
            <a:fillRect/>
          </a:stretch>
        </p:blipFill>
        <p:spPr>
          <a:xfrm>
            <a:off x="4153364" y="979202"/>
            <a:ext cx="3976322" cy="2423562"/>
          </a:xfrm>
          <a:prstGeom prst="rect">
            <a:avLst/>
          </a:prstGeom>
        </p:spPr>
      </p:pic>
      <p:pic>
        <p:nvPicPr>
          <p:cNvPr id="16" name="Picture 15">
            <a:extLst>
              <a:ext uri="{FF2B5EF4-FFF2-40B4-BE49-F238E27FC236}">
                <a16:creationId xmlns:a16="http://schemas.microsoft.com/office/drawing/2014/main" id="{70C6001C-EB8C-6C78-B381-F7B81DFDA4E7}"/>
              </a:ext>
            </a:extLst>
          </p:cNvPr>
          <p:cNvPicPr>
            <a:picLocks noChangeAspect="1"/>
          </p:cNvPicPr>
          <p:nvPr/>
        </p:nvPicPr>
        <p:blipFill>
          <a:blip r:embed="rId11"/>
          <a:stretch>
            <a:fillRect/>
          </a:stretch>
        </p:blipFill>
        <p:spPr>
          <a:xfrm>
            <a:off x="8129682" y="979202"/>
            <a:ext cx="3976320" cy="2423562"/>
          </a:xfrm>
          <a:prstGeom prst="rect">
            <a:avLst/>
          </a:prstGeom>
        </p:spPr>
      </p:pic>
      <p:pic>
        <p:nvPicPr>
          <p:cNvPr id="33" name="Picture 4" descr="Adobe Character Animator Ryan Puppet on Behance">
            <a:extLst>
              <a:ext uri="{FF2B5EF4-FFF2-40B4-BE49-F238E27FC236}">
                <a16:creationId xmlns:a16="http://schemas.microsoft.com/office/drawing/2014/main" id="{4EDE1893-3292-52D7-1F7A-07737037FE6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98160" y="8057"/>
            <a:ext cx="1326307" cy="66315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6" descr="Adobe Character Animator Debbie Puppet on Behance">
            <a:extLst>
              <a:ext uri="{FF2B5EF4-FFF2-40B4-BE49-F238E27FC236}">
                <a16:creationId xmlns:a16="http://schemas.microsoft.com/office/drawing/2014/main" id="{50530925-ED76-7A3F-4054-DFDA816B094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24467" y="8057"/>
            <a:ext cx="1326308" cy="663154"/>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Jose - Adobe Character Animator Puppet | ElectroPuppet">
            <a:extLst>
              <a:ext uri="{FF2B5EF4-FFF2-40B4-BE49-F238E27FC236}">
                <a16:creationId xmlns:a16="http://schemas.microsoft.com/office/drawing/2014/main" id="{96DD6449-CD14-4DC0-12E7-AD7DA294873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877082" y="9778"/>
            <a:ext cx="1314918" cy="657459"/>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a:extLst>
              <a:ext uri="{FF2B5EF4-FFF2-40B4-BE49-F238E27FC236}">
                <a16:creationId xmlns:a16="http://schemas.microsoft.com/office/drawing/2014/main" id="{A84F1EDF-F6FD-3204-83A5-31A7C97E1D60}"/>
              </a:ext>
            </a:extLst>
          </p:cNvPr>
          <p:cNvPicPr>
            <a:picLocks noChangeAspect="1"/>
          </p:cNvPicPr>
          <p:nvPr/>
        </p:nvPicPr>
        <p:blipFill rotWithShape="1">
          <a:blip r:embed="rId15"/>
          <a:srcRect r="6373" b="9396"/>
          <a:stretch/>
        </p:blipFill>
        <p:spPr>
          <a:xfrm>
            <a:off x="9550776" y="8057"/>
            <a:ext cx="1336216" cy="687171"/>
          </a:xfrm>
          <a:prstGeom prst="rect">
            <a:avLst/>
          </a:prstGeom>
        </p:spPr>
      </p:pic>
    </p:spTree>
    <p:extLst>
      <p:ext uri="{BB962C8B-B14F-4D97-AF65-F5344CB8AC3E}">
        <p14:creationId xmlns:p14="http://schemas.microsoft.com/office/powerpoint/2010/main" val="31989446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12" name="MEET OUR TEAM">
            <a:extLst>
              <a:ext uri="{FF2B5EF4-FFF2-40B4-BE49-F238E27FC236}">
                <a16:creationId xmlns:a16="http://schemas.microsoft.com/office/drawing/2014/main" id="{35254D17-5340-43C3-42D2-63FAF553E1E5}"/>
              </a:ext>
            </a:extLst>
          </p:cNvPr>
          <p:cNvSpPr/>
          <p:nvPr/>
        </p:nvSpPr>
        <p:spPr>
          <a:xfrm>
            <a:off x="627676" y="-216976"/>
            <a:ext cx="10826223" cy="1066927"/>
          </a:xfrm>
          <a:prstGeom prst="rect">
            <a:avLst/>
          </a:prstGeom>
          <a:ln w="12700">
            <a:miter lim="400000"/>
          </a:ln>
          <a:extLst>
            <a:ext uri="{C572A759-6A51-4108-AA02-DFA0A04FC94B}">
              <ma14:wrappingTextBoxFlag xmlns:ma14="http://schemas.microsoft.com/office/mac/drawingml/2011/main" xmlns="" val="1"/>
            </a:ext>
          </a:extLst>
        </p:spPr>
        <p:txBody>
          <a:bodyPr lIns="45719" tIns="45720" rIns="45719" bIns="45720"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a:defRPr/>
            </a:pPr>
            <a:r>
              <a:rPr lang="en-US" sz="3200" b="1" kern="0" spc="0" dirty="0">
                <a:solidFill>
                  <a:srgbClr val="861F41"/>
                </a:solidFill>
                <a:latin typeface="Arial"/>
                <a:cs typeface="Arial"/>
              </a:rPr>
              <a:t>Name sensitivity analysis</a:t>
            </a:r>
            <a:endParaRPr lang="en-US" sz="3200" kern="0" spc="0" dirty="0">
              <a:solidFill>
                <a:srgbClr val="000000"/>
              </a:solidFill>
              <a:latin typeface="Arial"/>
              <a:cs typeface="Arial"/>
            </a:endParaRPr>
          </a:p>
        </p:txBody>
      </p:sp>
      <p:grpSp>
        <p:nvGrpSpPr>
          <p:cNvPr id="36" name="Group 35">
            <a:extLst>
              <a:ext uri="{FF2B5EF4-FFF2-40B4-BE49-F238E27FC236}">
                <a16:creationId xmlns:a16="http://schemas.microsoft.com/office/drawing/2014/main" id="{E467F214-7175-8571-B5A5-D5064CE8455B}"/>
              </a:ext>
            </a:extLst>
          </p:cNvPr>
          <p:cNvGrpSpPr/>
          <p:nvPr/>
        </p:nvGrpSpPr>
        <p:grpSpPr>
          <a:xfrm>
            <a:off x="8908715" y="29394"/>
            <a:ext cx="3250705" cy="1641114"/>
            <a:chOff x="177042" y="979202"/>
            <a:chExt cx="7952640" cy="4847124"/>
          </a:xfrm>
        </p:grpSpPr>
        <p:pic>
          <p:nvPicPr>
            <p:cNvPr id="9" name="Picture 8">
              <a:extLst>
                <a:ext uri="{FF2B5EF4-FFF2-40B4-BE49-F238E27FC236}">
                  <a16:creationId xmlns:a16="http://schemas.microsoft.com/office/drawing/2014/main" id="{7933480B-A8EE-7A62-8BCC-8C8C9A38C6FF}"/>
                </a:ext>
              </a:extLst>
            </p:cNvPr>
            <p:cNvPicPr>
              <a:picLocks noChangeAspect="1"/>
            </p:cNvPicPr>
            <p:nvPr/>
          </p:nvPicPr>
          <p:blipFill>
            <a:blip r:embed="rId4"/>
            <a:stretch>
              <a:fillRect/>
            </a:stretch>
          </p:blipFill>
          <p:spPr>
            <a:xfrm>
              <a:off x="177044" y="979202"/>
              <a:ext cx="3976320" cy="2423562"/>
            </a:xfrm>
            <a:prstGeom prst="rect">
              <a:avLst/>
            </a:prstGeom>
          </p:spPr>
        </p:pic>
        <p:pic>
          <p:nvPicPr>
            <p:cNvPr id="10" name="Picture 9">
              <a:extLst>
                <a:ext uri="{FF2B5EF4-FFF2-40B4-BE49-F238E27FC236}">
                  <a16:creationId xmlns:a16="http://schemas.microsoft.com/office/drawing/2014/main" id="{3E5BA5D8-99E0-298C-9B41-5D79175D3D07}"/>
                </a:ext>
              </a:extLst>
            </p:cNvPr>
            <p:cNvPicPr>
              <a:picLocks noChangeAspect="1"/>
            </p:cNvPicPr>
            <p:nvPr/>
          </p:nvPicPr>
          <p:blipFill>
            <a:blip r:embed="rId5"/>
            <a:stretch>
              <a:fillRect/>
            </a:stretch>
          </p:blipFill>
          <p:spPr>
            <a:xfrm>
              <a:off x="177042" y="3402764"/>
              <a:ext cx="3976322" cy="2423562"/>
            </a:xfrm>
            <a:prstGeom prst="rect">
              <a:avLst/>
            </a:prstGeom>
          </p:spPr>
        </p:pic>
        <p:pic>
          <p:nvPicPr>
            <p:cNvPr id="11" name="Picture 10">
              <a:extLst>
                <a:ext uri="{FF2B5EF4-FFF2-40B4-BE49-F238E27FC236}">
                  <a16:creationId xmlns:a16="http://schemas.microsoft.com/office/drawing/2014/main" id="{2078AF66-7983-0AC2-ACF4-DE2EBCB06F05}"/>
                </a:ext>
              </a:extLst>
            </p:cNvPr>
            <p:cNvPicPr>
              <a:picLocks noChangeAspect="1"/>
            </p:cNvPicPr>
            <p:nvPr/>
          </p:nvPicPr>
          <p:blipFill>
            <a:blip r:embed="rId6"/>
            <a:stretch>
              <a:fillRect/>
            </a:stretch>
          </p:blipFill>
          <p:spPr>
            <a:xfrm>
              <a:off x="4153362" y="3402764"/>
              <a:ext cx="3976320" cy="2423562"/>
            </a:xfrm>
            <a:prstGeom prst="rect">
              <a:avLst/>
            </a:prstGeom>
          </p:spPr>
        </p:pic>
        <p:pic>
          <p:nvPicPr>
            <p:cNvPr id="31" name="Picture 30">
              <a:extLst>
                <a:ext uri="{FF2B5EF4-FFF2-40B4-BE49-F238E27FC236}">
                  <a16:creationId xmlns:a16="http://schemas.microsoft.com/office/drawing/2014/main" id="{C713D2DB-226C-BA20-0998-18818F54B0F1}"/>
                </a:ext>
              </a:extLst>
            </p:cNvPr>
            <p:cNvPicPr>
              <a:picLocks noChangeAspect="1"/>
            </p:cNvPicPr>
            <p:nvPr/>
          </p:nvPicPr>
          <p:blipFill rotWithShape="1">
            <a:blip r:embed="rId7"/>
            <a:srcRect r="3484"/>
            <a:stretch/>
          </p:blipFill>
          <p:spPr>
            <a:xfrm>
              <a:off x="4153363" y="979203"/>
              <a:ext cx="3976319" cy="2439276"/>
            </a:xfrm>
            <a:prstGeom prst="rect">
              <a:avLst/>
            </a:prstGeom>
          </p:spPr>
        </p:pic>
      </p:grpSp>
      <p:sp>
        <p:nvSpPr>
          <p:cNvPr id="5" name="TextBox 4">
            <a:extLst>
              <a:ext uri="{FF2B5EF4-FFF2-40B4-BE49-F238E27FC236}">
                <a16:creationId xmlns:a16="http://schemas.microsoft.com/office/drawing/2014/main" id="{9176564D-DD8F-CBE0-A9BE-3E1B3AA35DDD}"/>
              </a:ext>
            </a:extLst>
          </p:cNvPr>
          <p:cNvSpPr txBox="1"/>
          <p:nvPr/>
        </p:nvSpPr>
        <p:spPr>
          <a:xfrm>
            <a:off x="627676" y="4419872"/>
            <a:ext cx="5648268" cy="61555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hangingPunct="0">
              <a:defRPr/>
            </a:pPr>
            <a:r>
              <a:rPr kumimoji="0" lang="en-US" sz="1600" i="0" u="none" strike="noStrike" kern="0" cap="none" spc="0" normalizeH="0" baseline="0" noProof="0" dirty="0">
                <a:ln>
                  <a:noFill/>
                </a:ln>
                <a:solidFill>
                  <a:srgbClr val="861F41"/>
                </a:solidFill>
                <a:effectLst/>
                <a:uLnTx/>
                <a:uFillTx/>
                <a:latin typeface="Calibri"/>
                <a:cs typeface="Calibri"/>
                <a:sym typeface="Calibri"/>
              </a:rPr>
              <a:t>***P&lt;0.000, **P&lt;0.01. *P&lt;0.05</a:t>
            </a:r>
            <a:endParaRPr kumimoji="0" lang="en-US" sz="1600" i="1" u="none" strike="noStrike" kern="0" cap="none" spc="0" normalizeH="0" baseline="0" noProof="0" dirty="0">
              <a:ln>
                <a:noFill/>
              </a:ln>
              <a:solidFill>
                <a:srgbClr val="861F41"/>
              </a:solidFill>
              <a:effectLst/>
              <a:uLnTx/>
              <a:uFillTx/>
              <a:latin typeface="Calibri"/>
              <a:cs typeface="Calibri"/>
              <a:sym typeface="Calibri"/>
            </a:endParaRPr>
          </a:p>
          <a:p>
            <a:pPr marL="285750" marR="0" lvl="0" indent="-285750" algn="l" defTabSz="914400" rtl="0" eaLnBrk="1" fontAlgn="auto" latinLnBrk="0" hangingPunct="0">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dirty="0">
              <a:ln>
                <a:noFill/>
              </a:ln>
              <a:solidFill>
                <a:srgbClr val="861F41"/>
              </a:solidFill>
              <a:effectLst/>
              <a:uLnTx/>
              <a:uFillTx/>
              <a:latin typeface="Calibri"/>
              <a:ea typeface="+mj-ea"/>
              <a:cs typeface="Calibri"/>
              <a:sym typeface="Calibri"/>
            </a:endParaRPr>
          </a:p>
        </p:txBody>
      </p:sp>
      <p:sp>
        <p:nvSpPr>
          <p:cNvPr id="6" name="TextBox 5">
            <a:extLst>
              <a:ext uri="{FF2B5EF4-FFF2-40B4-BE49-F238E27FC236}">
                <a16:creationId xmlns:a16="http://schemas.microsoft.com/office/drawing/2014/main" id="{3D58EE14-95C3-ADFE-B69D-F6D75B1EEBD9}"/>
              </a:ext>
            </a:extLst>
          </p:cNvPr>
          <p:cNvSpPr txBox="1"/>
          <p:nvPr/>
        </p:nvSpPr>
        <p:spPr>
          <a:xfrm>
            <a:off x="627675" y="4727647"/>
            <a:ext cx="7146729" cy="461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R="0" defTabSz="914400" rtl="0" fontAlgn="auto" latinLnBrk="0" hangingPunct="0">
              <a:lnSpc>
                <a:spcPct val="100000"/>
              </a:lnSpc>
              <a:spcBef>
                <a:spcPts val="0"/>
              </a:spcBef>
              <a:spcAft>
                <a:spcPts val="0"/>
              </a:spcAft>
              <a:buClrTx/>
              <a:buSzTx/>
              <a:tabLst/>
            </a:pPr>
            <a:r>
              <a:rPr kumimoji="0" lang="en-US" sz="2400" b="1" i="0" u="none" strike="noStrike" cap="none" spc="0" normalizeH="0" baseline="0" dirty="0">
                <a:ln>
                  <a:noFill/>
                </a:ln>
                <a:solidFill>
                  <a:schemeClr val="accent2"/>
                </a:solidFill>
                <a:effectLst/>
                <a:uFillTx/>
                <a:latin typeface="+mj-lt"/>
                <a:ea typeface="+mj-ea"/>
                <a:cs typeface="+mj-cs"/>
                <a:sym typeface="Calibri"/>
              </a:rPr>
              <a:t>Are agents’ actions sensitive to different names? </a:t>
            </a:r>
            <a:r>
              <a:rPr kumimoji="0" lang="en-US" sz="2400" b="1" i="0" u="none" strike="noStrike" cap="none" spc="0" normalizeH="0" baseline="0" dirty="0">
                <a:ln>
                  <a:noFill/>
                </a:ln>
                <a:solidFill>
                  <a:schemeClr val="accent1"/>
                </a:solidFill>
                <a:effectLst/>
                <a:uFillTx/>
                <a:latin typeface="+mj-lt"/>
                <a:ea typeface="+mj-ea"/>
                <a:cs typeface="+mj-cs"/>
                <a:sym typeface="Calibri"/>
              </a:rPr>
              <a:t>No</a:t>
            </a:r>
          </a:p>
        </p:txBody>
      </p:sp>
      <p:graphicFrame>
        <p:nvGraphicFramePr>
          <p:cNvPr id="7" name="Table 2">
            <a:extLst>
              <a:ext uri="{FF2B5EF4-FFF2-40B4-BE49-F238E27FC236}">
                <a16:creationId xmlns:a16="http://schemas.microsoft.com/office/drawing/2014/main" id="{61A38928-3E74-3679-43D7-591ABEBA0435}"/>
              </a:ext>
            </a:extLst>
          </p:cNvPr>
          <p:cNvGraphicFramePr>
            <a:graphicFrameLocks noGrp="1"/>
          </p:cNvGraphicFramePr>
          <p:nvPr>
            <p:extLst>
              <p:ext uri="{D42A27DB-BD31-4B8C-83A1-F6EECF244321}">
                <p14:modId xmlns:p14="http://schemas.microsoft.com/office/powerpoint/2010/main" val="2292006734"/>
              </p:ext>
            </p:extLst>
          </p:nvPr>
        </p:nvGraphicFramePr>
        <p:xfrm>
          <a:off x="627676" y="1418684"/>
          <a:ext cx="7965803" cy="2966720"/>
        </p:xfrm>
        <a:graphic>
          <a:graphicData uri="http://schemas.openxmlformats.org/drawingml/2006/table">
            <a:tbl>
              <a:tblPr firstRow="1" bandRow="1">
                <a:tableStyleId>{5C22544A-7EE6-4342-B048-85BDC9FD1C3A}</a:tableStyleId>
              </a:tblPr>
              <a:tblGrid>
                <a:gridCol w="2740660">
                  <a:extLst>
                    <a:ext uri="{9D8B030D-6E8A-4147-A177-3AD203B41FA5}">
                      <a16:colId xmlns:a16="http://schemas.microsoft.com/office/drawing/2014/main" val="820701274"/>
                    </a:ext>
                  </a:extLst>
                </a:gridCol>
                <a:gridCol w="1358537">
                  <a:extLst>
                    <a:ext uri="{9D8B030D-6E8A-4147-A177-3AD203B41FA5}">
                      <a16:colId xmlns:a16="http://schemas.microsoft.com/office/drawing/2014/main" val="3715058434"/>
                    </a:ext>
                  </a:extLst>
                </a:gridCol>
                <a:gridCol w="1436915">
                  <a:extLst>
                    <a:ext uri="{9D8B030D-6E8A-4147-A177-3AD203B41FA5}">
                      <a16:colId xmlns:a16="http://schemas.microsoft.com/office/drawing/2014/main" val="3908031248"/>
                    </a:ext>
                  </a:extLst>
                </a:gridCol>
                <a:gridCol w="1267097">
                  <a:extLst>
                    <a:ext uri="{9D8B030D-6E8A-4147-A177-3AD203B41FA5}">
                      <a16:colId xmlns:a16="http://schemas.microsoft.com/office/drawing/2014/main" val="434091579"/>
                    </a:ext>
                  </a:extLst>
                </a:gridCol>
                <a:gridCol w="1162594">
                  <a:extLst>
                    <a:ext uri="{9D8B030D-6E8A-4147-A177-3AD203B41FA5}">
                      <a16:colId xmlns:a16="http://schemas.microsoft.com/office/drawing/2014/main" val="592120850"/>
                    </a:ext>
                  </a:extLst>
                </a:gridCol>
              </a:tblGrid>
              <a:tr h="370840">
                <a:tc>
                  <a:txBody>
                    <a:bodyPr/>
                    <a:lstStyle/>
                    <a:p>
                      <a:pPr marL="0" marR="0" indent="0" algn="l" defTabSz="914400" rtl="0" latinLnBrk="0">
                        <a:lnSpc>
                          <a:spcPct val="100000"/>
                        </a:lnSpc>
                        <a:spcBef>
                          <a:spcPts val="0"/>
                        </a:spcBef>
                        <a:spcAft>
                          <a:spcPts val="0"/>
                        </a:spcAft>
                        <a:buClrTx/>
                        <a:buSzTx/>
                        <a:buFontTx/>
                        <a:buNone/>
                        <a:tabLst/>
                      </a:pPr>
                      <a:r>
                        <a:rPr lang="en-US" sz="1800" b="1" i="0" u="none" strike="noStrike" cap="none" spc="0" baseline="0" dirty="0">
                          <a:ln>
                            <a:noFill/>
                          </a:ln>
                          <a:solidFill>
                            <a:schemeClr val="lt1"/>
                          </a:solidFill>
                          <a:uFillTx/>
                          <a:latin typeface="+mn-lt"/>
                          <a:ea typeface="+mn-ea"/>
                          <a:cs typeface="+mn-cs"/>
                          <a:sym typeface="Calibri"/>
                        </a:rPr>
                        <a:t>Experiment Number</a:t>
                      </a:r>
                    </a:p>
                  </a:txBody>
                  <a:tcPr marL="68580" marR="68580" marT="0" marB="0" anchor="ctr"/>
                </a:tc>
                <a:tc gridSpan="2">
                  <a:txBody>
                    <a:bodyPr/>
                    <a:lstStyle/>
                    <a:p>
                      <a:pPr marL="0" marR="0" indent="0" algn="ctr" defTabSz="914400" rtl="0" latinLnBrk="0">
                        <a:lnSpc>
                          <a:spcPct val="100000"/>
                        </a:lnSpc>
                        <a:spcBef>
                          <a:spcPts val="0"/>
                        </a:spcBef>
                        <a:spcAft>
                          <a:spcPts val="0"/>
                        </a:spcAft>
                        <a:buClrTx/>
                        <a:buSzTx/>
                        <a:buFontTx/>
                        <a:buNone/>
                        <a:tabLst/>
                      </a:pPr>
                      <a:r>
                        <a:rPr lang="en-US" sz="1800" b="1" i="0" u="none" strike="noStrike" cap="none" spc="0" baseline="0" dirty="0">
                          <a:ln>
                            <a:noFill/>
                          </a:ln>
                          <a:solidFill>
                            <a:schemeClr val="lt1"/>
                          </a:solidFill>
                          <a:uFillTx/>
                          <a:latin typeface="+mn-lt"/>
                          <a:ea typeface="+mn-ea"/>
                          <a:cs typeface="+mn-cs"/>
                          <a:sym typeface="Calibri"/>
                        </a:rPr>
                        <a:t>Female</a:t>
                      </a:r>
                    </a:p>
                  </a:txBody>
                  <a:tcPr marL="68580" marR="68580" marT="0" marB="0" anchor="ctr"/>
                </a:tc>
                <a:tc hMerge="1">
                  <a:txBody>
                    <a:bodyPr/>
                    <a:lstStyle/>
                    <a:p>
                      <a:endParaRPr lang="en-US"/>
                    </a:p>
                  </a:txBody>
                  <a:tcPr/>
                </a:tc>
                <a:tc gridSpan="2">
                  <a:txBody>
                    <a:bodyPr/>
                    <a:lstStyle/>
                    <a:p>
                      <a:pPr marL="0" marR="0" indent="0" algn="ctr" defTabSz="914400" rtl="0" latinLnBrk="0">
                        <a:lnSpc>
                          <a:spcPct val="100000"/>
                        </a:lnSpc>
                        <a:spcBef>
                          <a:spcPts val="0"/>
                        </a:spcBef>
                        <a:spcAft>
                          <a:spcPts val="0"/>
                        </a:spcAft>
                        <a:buClrTx/>
                        <a:buSzTx/>
                        <a:buFontTx/>
                        <a:buNone/>
                        <a:tabLst/>
                      </a:pPr>
                      <a:r>
                        <a:rPr lang="en-US" sz="1800" b="1" i="0" u="none" strike="noStrike" cap="none" spc="0" baseline="0" dirty="0" err="1">
                          <a:ln>
                            <a:noFill/>
                          </a:ln>
                          <a:solidFill>
                            <a:schemeClr val="lt1"/>
                          </a:solidFill>
                          <a:uFillTx/>
                          <a:latin typeface="+mn-lt"/>
                          <a:ea typeface="+mn-ea"/>
                          <a:cs typeface="+mn-cs"/>
                          <a:sym typeface="Calibri"/>
                        </a:rPr>
                        <a:t>TwoNames</a:t>
                      </a:r>
                      <a:endParaRPr lang="en-US" sz="1800" b="1" i="0" u="none" strike="noStrike" cap="none" spc="0" baseline="0" dirty="0">
                        <a:ln>
                          <a:noFill/>
                        </a:ln>
                        <a:solidFill>
                          <a:schemeClr val="lt1"/>
                        </a:solidFill>
                        <a:uFillTx/>
                        <a:latin typeface="+mn-lt"/>
                        <a:ea typeface="+mn-ea"/>
                        <a:cs typeface="+mn-cs"/>
                        <a:sym typeface="Calibri"/>
                      </a:endParaRPr>
                    </a:p>
                  </a:txBody>
                  <a:tcPr marL="68580" marR="68580" marT="0" marB="0" anchor="ctr"/>
                </a:tc>
                <a:tc hMerge="1">
                  <a:txBody>
                    <a:bodyPr/>
                    <a:lstStyle/>
                    <a:p>
                      <a:endParaRPr lang="en-US"/>
                    </a:p>
                  </a:txBody>
                  <a:tcPr/>
                </a:tc>
                <a:extLst>
                  <a:ext uri="{0D108BD9-81ED-4DB2-BD59-A6C34878D82A}">
                    <a16:rowId xmlns:a16="http://schemas.microsoft.com/office/drawing/2014/main" val="4018200896"/>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Constant</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0.88***</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0.88***</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0.89***</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0.90***</a:t>
                      </a:r>
                    </a:p>
                  </a:txBody>
                  <a:tcPr marL="68580" marR="68580" marT="0" marB="0" anchor="ctr"/>
                </a:tc>
                <a:extLst>
                  <a:ext uri="{0D108BD9-81ED-4DB2-BD59-A6C34878D82A}">
                    <a16:rowId xmlns:a16="http://schemas.microsoft.com/office/drawing/2014/main" val="2360943659"/>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New Cases</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-21.27***</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-21.32***</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-23.05***</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-23.76***</a:t>
                      </a:r>
                    </a:p>
                  </a:txBody>
                  <a:tcPr marL="68580" marR="68580" marT="0" marB="0" anchor="ctr"/>
                </a:tc>
                <a:extLst>
                  <a:ext uri="{0D108BD9-81ED-4DB2-BD59-A6C34878D82A}">
                    <a16:rowId xmlns:a16="http://schemas.microsoft.com/office/drawing/2014/main" val="1694673026"/>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New Cases</a:t>
                      </a:r>
                      <a:r>
                        <a:rPr lang="en-US" sz="1800" b="0" i="0" u="none" strike="noStrike" cap="none" spc="0" baseline="30000" dirty="0">
                          <a:ln>
                            <a:noFill/>
                          </a:ln>
                          <a:solidFill>
                            <a:schemeClr val="dk1"/>
                          </a:solidFill>
                          <a:uFillTx/>
                          <a:latin typeface="+mn-lt"/>
                          <a:ea typeface="+mn-ea"/>
                          <a:cs typeface="+mn-cs"/>
                          <a:sym typeface="Calibri"/>
                        </a:rPr>
                        <a:t>2</a:t>
                      </a:r>
                      <a:endParaRPr lang="en-US" sz="1800" b="0" i="0" u="none" strike="noStrike" cap="none" spc="0" baseline="0" dirty="0">
                        <a:ln>
                          <a:noFill/>
                        </a:ln>
                        <a:solidFill>
                          <a:schemeClr val="dk1"/>
                        </a:solidFill>
                        <a:uFillTx/>
                        <a:latin typeface="+mn-lt"/>
                        <a:ea typeface="+mn-ea"/>
                        <a:cs typeface="+mn-cs"/>
                        <a:sym typeface="Calibri"/>
                      </a:endParaRP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138.87***</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138.84***</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164.49***</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168.07***</a:t>
                      </a:r>
                    </a:p>
                  </a:txBody>
                  <a:tcPr marL="68580" marR="68580" marT="0" marB="0" anchor="ctr"/>
                </a:tc>
                <a:extLst>
                  <a:ext uri="{0D108BD9-81ED-4DB2-BD59-A6C34878D82A}">
                    <a16:rowId xmlns:a16="http://schemas.microsoft.com/office/drawing/2014/main" val="4031910938"/>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Experiment</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0.00</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0.00</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-0.02</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-0.04</a:t>
                      </a:r>
                    </a:p>
                  </a:txBody>
                  <a:tcPr marL="68580" marR="68580" marT="0" marB="0" anchor="ctr"/>
                </a:tc>
                <a:extLst>
                  <a:ext uri="{0D108BD9-81ED-4DB2-BD59-A6C34878D82A}">
                    <a16:rowId xmlns:a16="http://schemas.microsoft.com/office/drawing/2014/main" val="3082557664"/>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New Cases * Experiment</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 </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0.10</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 </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1.03</a:t>
                      </a:r>
                    </a:p>
                  </a:txBody>
                  <a:tcPr marL="68580" marR="68580" marT="0" marB="0" anchor="ctr"/>
                </a:tc>
                <a:extLst>
                  <a:ext uri="{0D108BD9-81ED-4DB2-BD59-A6C34878D82A}">
                    <a16:rowId xmlns:a16="http://schemas.microsoft.com/office/drawing/2014/main" val="1757153458"/>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R</a:t>
                      </a:r>
                      <a:r>
                        <a:rPr lang="en-US" sz="1800" b="0" i="0" u="none" strike="noStrike" cap="none" spc="0" baseline="30000" dirty="0">
                          <a:ln>
                            <a:noFill/>
                          </a:ln>
                          <a:solidFill>
                            <a:schemeClr val="dk1"/>
                          </a:solidFill>
                          <a:uFillTx/>
                          <a:latin typeface="+mn-lt"/>
                          <a:ea typeface="+mn-ea"/>
                          <a:cs typeface="+mn-cs"/>
                          <a:sym typeface="Calibri"/>
                        </a:rPr>
                        <a:t>2</a:t>
                      </a:r>
                      <a:endParaRPr lang="en-US" sz="1800" b="0" i="0" u="none" strike="noStrike" cap="none" spc="0" baseline="0" dirty="0">
                        <a:ln>
                          <a:noFill/>
                        </a:ln>
                        <a:solidFill>
                          <a:schemeClr val="dk1"/>
                        </a:solidFill>
                        <a:uFillTx/>
                        <a:latin typeface="+mn-lt"/>
                        <a:ea typeface="+mn-ea"/>
                        <a:cs typeface="+mn-cs"/>
                        <a:sym typeface="Calibri"/>
                      </a:endParaRP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0.79</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0.82</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0.79</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0.79</a:t>
                      </a:r>
                    </a:p>
                  </a:txBody>
                  <a:tcPr marL="68580" marR="68580" marT="0" marB="0" anchor="ctr"/>
                </a:tc>
                <a:extLst>
                  <a:ext uri="{0D108BD9-81ED-4DB2-BD59-A6C34878D82A}">
                    <a16:rowId xmlns:a16="http://schemas.microsoft.com/office/drawing/2014/main" val="674088053"/>
                  </a:ext>
                </a:extLst>
              </a:tr>
              <a:tr h="370840">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N</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328</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a:ln>
                            <a:noFill/>
                          </a:ln>
                          <a:solidFill>
                            <a:schemeClr val="dk1"/>
                          </a:solidFill>
                          <a:uFillTx/>
                          <a:latin typeface="+mn-lt"/>
                          <a:ea typeface="+mn-ea"/>
                          <a:cs typeface="+mn-cs"/>
                          <a:sym typeface="Calibri"/>
                        </a:rPr>
                        <a:t>328</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355</a:t>
                      </a:r>
                    </a:p>
                  </a:txBody>
                  <a:tcPr marL="68580" marR="68580" marT="0" marB="0" anchor="ctr"/>
                </a:tc>
                <a:tc>
                  <a:txBody>
                    <a:bodyPr/>
                    <a:lstStyle/>
                    <a:p>
                      <a:pPr marL="0" marR="0" indent="0" algn="l" defTabSz="914400" rtl="0" latinLnBrk="0">
                        <a:lnSpc>
                          <a:spcPct val="100000"/>
                        </a:lnSpc>
                        <a:spcBef>
                          <a:spcPts val="0"/>
                        </a:spcBef>
                        <a:spcAft>
                          <a:spcPts val="0"/>
                        </a:spcAft>
                        <a:buClrTx/>
                        <a:buSzTx/>
                        <a:buFontTx/>
                        <a:buNone/>
                        <a:tabLst/>
                      </a:pPr>
                      <a:r>
                        <a:rPr lang="en-US" sz="1800" b="0" i="0" u="none" strike="noStrike" cap="none" spc="0" baseline="0" dirty="0">
                          <a:ln>
                            <a:noFill/>
                          </a:ln>
                          <a:solidFill>
                            <a:schemeClr val="dk1"/>
                          </a:solidFill>
                          <a:uFillTx/>
                          <a:latin typeface="+mn-lt"/>
                          <a:ea typeface="+mn-ea"/>
                          <a:cs typeface="+mn-cs"/>
                          <a:sym typeface="Calibri"/>
                        </a:rPr>
                        <a:t>355</a:t>
                      </a:r>
                    </a:p>
                  </a:txBody>
                  <a:tcPr marL="68580" marR="68580" marT="0" marB="0" anchor="ctr"/>
                </a:tc>
                <a:extLst>
                  <a:ext uri="{0D108BD9-81ED-4DB2-BD59-A6C34878D82A}">
                    <a16:rowId xmlns:a16="http://schemas.microsoft.com/office/drawing/2014/main" val="4248162012"/>
                  </a:ext>
                </a:extLst>
              </a:tr>
            </a:tbl>
          </a:graphicData>
        </a:graphic>
      </p:graphicFrame>
      <p:sp>
        <p:nvSpPr>
          <p:cNvPr id="2" name="Rectangle 1">
            <a:extLst>
              <a:ext uri="{FF2B5EF4-FFF2-40B4-BE49-F238E27FC236}">
                <a16:creationId xmlns:a16="http://schemas.microsoft.com/office/drawing/2014/main" id="{6D8E653E-BE2F-0894-3758-380A6FD1B344}"/>
              </a:ext>
            </a:extLst>
          </p:cNvPr>
          <p:cNvSpPr/>
          <p:nvPr/>
        </p:nvSpPr>
        <p:spPr>
          <a:xfrm>
            <a:off x="627674" y="2908575"/>
            <a:ext cx="7965804" cy="770709"/>
          </a:xfrm>
          <a:prstGeom prst="rect">
            <a:avLst/>
          </a:prstGeom>
          <a:noFill/>
          <a:ln>
            <a:solidFill>
              <a:schemeClr val="bg2">
                <a:lumMod val="10000"/>
              </a:schemeClr>
            </a:solidFill>
          </a:ln>
          <a:extLst>
            <a:ext uri="{C572A759-6A51-4108-AA02-DFA0A04FC94B}">
              <ma14:wrappingTextBoxFlag xmlns:ma14="http://schemas.microsoft.com/office/mac/drawingml/2011/main" xmlns="" val="1"/>
            </a:ext>
          </a:extLst>
        </p:spPr>
        <p:style>
          <a:lnRef idx="2">
            <a:schemeClr val="accent6"/>
          </a:lnRef>
          <a:fillRef idx="1">
            <a:schemeClr val="lt1"/>
          </a:fillRef>
          <a:effectRef idx="0">
            <a:schemeClr val="accent6"/>
          </a:effectRef>
          <a:fontRef idx="minor">
            <a:schemeClr val="dk1"/>
          </a:fontRef>
        </p:style>
        <p:txBody>
          <a:bodyPr lIns="45719" rIns="45719" rtlCol="0" anchor="ctr">
            <a:spAutoFit/>
          </a:bodyPr>
          <a:lstStyle/>
          <a:p>
            <a:pPr algn="ctr"/>
            <a:endParaRPr lang="en-US" dirty="0"/>
          </a:p>
        </p:txBody>
      </p:sp>
    </p:spTree>
    <p:extLst>
      <p:ext uri="{BB962C8B-B14F-4D97-AF65-F5344CB8AC3E}">
        <p14:creationId xmlns:p14="http://schemas.microsoft.com/office/powerpoint/2010/main" val="39582665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12" name="MEET OUR TEAM">
            <a:extLst>
              <a:ext uri="{FF2B5EF4-FFF2-40B4-BE49-F238E27FC236}">
                <a16:creationId xmlns:a16="http://schemas.microsoft.com/office/drawing/2014/main" id="{35254D17-5340-43C3-42D2-63FAF553E1E5}"/>
              </a:ext>
            </a:extLst>
          </p:cNvPr>
          <p:cNvSpPr/>
          <p:nvPr/>
        </p:nvSpPr>
        <p:spPr>
          <a:xfrm>
            <a:off x="627676" y="-216976"/>
            <a:ext cx="11710193" cy="1066927"/>
          </a:xfrm>
          <a:prstGeom prst="rect">
            <a:avLst/>
          </a:prstGeom>
          <a:ln w="12700">
            <a:miter lim="400000"/>
          </a:ln>
          <a:extLst>
            <a:ext uri="{C572A759-6A51-4108-AA02-DFA0A04FC94B}">
              <ma14:wrappingTextBoxFlag xmlns="" xmlns:ma14="http://schemas.microsoft.com/office/mac/drawingml/2011/main" val="1"/>
            </a:ext>
          </a:extLst>
        </p:spPr>
        <p:txBody>
          <a:bodyPr lIns="45719" rIns="45719"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hangingPunct="0">
              <a:defRPr/>
            </a:pPr>
            <a:r>
              <a:rPr kumimoji="0" lang="en-US" sz="3200" b="1" i="0" u="none" strike="noStrike" kern="0" cap="none" spc="0" normalizeH="0" baseline="0" noProof="0" dirty="0">
                <a:ln>
                  <a:noFill/>
                </a:ln>
                <a:solidFill>
                  <a:schemeClr val="tx1"/>
                </a:solidFill>
                <a:effectLst/>
                <a:uLnTx/>
                <a:uFillTx/>
                <a:latin typeface="Arial" panose="020B0604020202020204" pitchFamily="34" charset="0"/>
                <a:cs typeface="Arial" panose="020B0604020202020204" pitchFamily="34" charset="0"/>
                <a:sym typeface="Acherus Grotesque"/>
              </a:rPr>
              <a:t>What have we learned from prompt sensitivity analysis? </a:t>
            </a:r>
          </a:p>
        </p:txBody>
      </p:sp>
      <p:pic>
        <p:nvPicPr>
          <p:cNvPr id="5" name="Picture 4">
            <a:extLst>
              <a:ext uri="{FF2B5EF4-FFF2-40B4-BE49-F238E27FC236}">
                <a16:creationId xmlns:a16="http://schemas.microsoft.com/office/drawing/2014/main" id="{B60C226E-1A3A-1595-06DA-9E7BCD90DD62}"/>
              </a:ext>
            </a:extLst>
          </p:cNvPr>
          <p:cNvPicPr>
            <a:picLocks noChangeAspect="1"/>
          </p:cNvPicPr>
          <p:nvPr/>
        </p:nvPicPr>
        <p:blipFill>
          <a:blip r:embed="rId4"/>
          <a:stretch>
            <a:fillRect/>
          </a:stretch>
        </p:blipFill>
        <p:spPr>
          <a:xfrm>
            <a:off x="7269480" y="926085"/>
            <a:ext cx="4660770" cy="1598669"/>
          </a:xfrm>
          <a:prstGeom prst="rect">
            <a:avLst/>
          </a:prstGeom>
        </p:spPr>
      </p:pic>
      <p:sp>
        <p:nvSpPr>
          <p:cNvPr id="4" name="TextBox 3">
            <a:extLst>
              <a:ext uri="{FF2B5EF4-FFF2-40B4-BE49-F238E27FC236}">
                <a16:creationId xmlns:a16="http://schemas.microsoft.com/office/drawing/2014/main" id="{60A9EA7D-3FF6-FF24-3F30-B76CB89B5EE1}"/>
              </a:ext>
            </a:extLst>
          </p:cNvPr>
          <p:cNvSpPr txBox="1"/>
          <p:nvPr/>
        </p:nvSpPr>
        <p:spPr>
          <a:xfrm>
            <a:off x="709204" y="2839642"/>
            <a:ext cx="10773592" cy="310854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R="0" defTabSz="914400" rtl="0" fontAlgn="auto" latinLnBrk="0" hangingPunct="0">
              <a:lnSpc>
                <a:spcPct val="100000"/>
              </a:lnSpc>
              <a:spcBef>
                <a:spcPts val="0"/>
              </a:spcBef>
              <a:spcAft>
                <a:spcPts val="0"/>
              </a:spcAft>
              <a:buClrTx/>
              <a:buSzTx/>
              <a:tabLst/>
            </a:pPr>
            <a:r>
              <a:rPr kumimoji="0" lang="en-US" sz="2800" b="1" i="0" u="none" strike="noStrike" cap="none" spc="0" normalizeH="0" baseline="0" dirty="0">
                <a:ln>
                  <a:noFill/>
                </a:ln>
                <a:solidFill>
                  <a:schemeClr val="accent1"/>
                </a:solidFill>
                <a:effectLst/>
                <a:uFillTx/>
                <a:latin typeface="Arial" panose="020B0604020202020204" pitchFamily="34" charset="0"/>
                <a:ea typeface="+mj-ea"/>
                <a:cs typeface="Arial" panose="020B0604020202020204" pitchFamily="34" charset="0"/>
                <a:sym typeface="Calibri"/>
              </a:rPr>
              <a:t>Are agents’ actions sensitive to synonymous phrases? </a:t>
            </a:r>
            <a:r>
              <a:rPr kumimoji="0" lang="en-US" sz="2800" b="1" i="0" u="none" strike="noStrike" cap="none" spc="0" normalizeH="0" baseline="0" dirty="0">
                <a:ln>
                  <a:noFill/>
                </a:ln>
                <a:solidFill>
                  <a:schemeClr val="accent2"/>
                </a:solidFill>
                <a:effectLst/>
                <a:uFillTx/>
                <a:latin typeface="Arial" panose="020B0604020202020204" pitchFamily="34" charset="0"/>
                <a:ea typeface="+mj-ea"/>
                <a:cs typeface="Arial" panose="020B0604020202020204" pitchFamily="34" charset="0"/>
                <a:sym typeface="Calibri"/>
              </a:rPr>
              <a:t>No</a:t>
            </a:r>
          </a:p>
          <a:p>
            <a:pPr marR="0" defTabSz="914400" rtl="0" fontAlgn="auto" latinLnBrk="0" hangingPunct="0">
              <a:lnSpc>
                <a:spcPct val="100000"/>
              </a:lnSpc>
              <a:spcBef>
                <a:spcPts val="0"/>
              </a:spcBef>
              <a:spcAft>
                <a:spcPts val="0"/>
              </a:spcAft>
              <a:buClrTx/>
              <a:buSzTx/>
              <a:tabLst/>
            </a:pPr>
            <a:endParaRPr kumimoji="0" lang="en-US" sz="2800" b="1" i="0" u="none" strike="noStrike" cap="none" spc="0" normalizeH="0" baseline="0" dirty="0">
              <a:ln>
                <a:noFill/>
              </a:ln>
              <a:solidFill>
                <a:schemeClr val="accent2"/>
              </a:solidFill>
              <a:effectLst/>
              <a:uFillTx/>
              <a:latin typeface="Arial" panose="020B0604020202020204" pitchFamily="34" charset="0"/>
              <a:ea typeface="+mj-ea"/>
              <a:cs typeface="Arial" panose="020B0604020202020204" pitchFamily="34" charset="0"/>
              <a:sym typeface="Calibri"/>
            </a:endParaRPr>
          </a:p>
          <a:p>
            <a:pPr marR="0" defTabSz="914400" rtl="0" fontAlgn="auto" latinLnBrk="0" hangingPunct="0">
              <a:lnSpc>
                <a:spcPct val="100000"/>
              </a:lnSpc>
              <a:spcBef>
                <a:spcPts val="0"/>
              </a:spcBef>
              <a:spcAft>
                <a:spcPts val="0"/>
              </a:spcAft>
              <a:buClrTx/>
              <a:buSzTx/>
              <a:tabLst/>
            </a:pPr>
            <a:r>
              <a:rPr lang="en-US" sz="2800" b="1" dirty="0">
                <a:solidFill>
                  <a:schemeClr val="accent1"/>
                </a:solidFill>
                <a:latin typeface="Arial" panose="020B0604020202020204" pitchFamily="34" charset="0"/>
                <a:ea typeface="+mj-ea"/>
                <a:cs typeface="Arial" panose="020B0604020202020204" pitchFamily="34" charset="0"/>
                <a:sym typeface="Calibri"/>
              </a:rPr>
              <a:t>Are agents’ actions sensitive to nonsynonymous phrases? </a:t>
            </a:r>
            <a:r>
              <a:rPr lang="en-US" sz="2800" b="1" dirty="0">
                <a:solidFill>
                  <a:schemeClr val="accent2"/>
                </a:solidFill>
                <a:latin typeface="Arial" panose="020B0604020202020204" pitchFamily="34" charset="0"/>
                <a:ea typeface="+mj-ea"/>
                <a:cs typeface="Arial" panose="020B0604020202020204" pitchFamily="34" charset="0"/>
                <a:sym typeface="Calibri"/>
              </a:rPr>
              <a:t>Yes</a:t>
            </a:r>
          </a:p>
          <a:p>
            <a:pPr marR="0" defTabSz="914400" rtl="0" fontAlgn="auto" latinLnBrk="0" hangingPunct="0">
              <a:lnSpc>
                <a:spcPct val="100000"/>
              </a:lnSpc>
              <a:spcBef>
                <a:spcPts val="0"/>
              </a:spcBef>
              <a:spcAft>
                <a:spcPts val="0"/>
              </a:spcAft>
              <a:buClrTx/>
              <a:buSzTx/>
              <a:tabLst/>
            </a:pPr>
            <a:endParaRPr lang="en-US" sz="2800" b="1" dirty="0">
              <a:solidFill>
                <a:schemeClr val="accent2"/>
              </a:solidFill>
              <a:latin typeface="Arial" panose="020B0604020202020204" pitchFamily="34" charset="0"/>
              <a:ea typeface="+mj-ea"/>
              <a:cs typeface="Arial" panose="020B0604020202020204" pitchFamily="34" charset="0"/>
              <a:sym typeface="Calibri"/>
            </a:endParaRPr>
          </a:p>
          <a:p>
            <a:pPr hangingPunct="0"/>
            <a:r>
              <a:rPr lang="en-US" sz="2800" b="1" dirty="0">
                <a:solidFill>
                  <a:schemeClr val="accent1"/>
                </a:solidFill>
                <a:latin typeface="Arial" panose="020B0604020202020204" pitchFamily="34" charset="0"/>
                <a:cs typeface="Arial" panose="020B0604020202020204" pitchFamily="34" charset="0"/>
                <a:sym typeface="Calibri"/>
              </a:rPr>
              <a:t>Are agents’ actions sensitive to different scenarios? </a:t>
            </a:r>
            <a:r>
              <a:rPr lang="en-US" sz="2800" b="1" dirty="0">
                <a:solidFill>
                  <a:schemeClr val="accent2"/>
                </a:solidFill>
                <a:latin typeface="Arial" panose="020B0604020202020204" pitchFamily="34" charset="0"/>
                <a:cs typeface="Arial" panose="020B0604020202020204" pitchFamily="34" charset="0"/>
                <a:sym typeface="Calibri"/>
              </a:rPr>
              <a:t>Yes</a:t>
            </a:r>
          </a:p>
          <a:p>
            <a:pPr hangingPunct="0"/>
            <a:endParaRPr lang="en-US" sz="2800" b="1" dirty="0">
              <a:solidFill>
                <a:schemeClr val="accent2"/>
              </a:solidFill>
              <a:latin typeface="Arial" panose="020B0604020202020204" pitchFamily="34" charset="0"/>
              <a:cs typeface="Arial" panose="020B0604020202020204" pitchFamily="34" charset="0"/>
              <a:sym typeface="Calibri"/>
            </a:endParaRPr>
          </a:p>
          <a:p>
            <a:pPr hangingPunct="0"/>
            <a:r>
              <a:rPr lang="en-US" sz="2800" b="1" dirty="0">
                <a:solidFill>
                  <a:schemeClr val="accent1"/>
                </a:solidFill>
                <a:latin typeface="Arial" panose="020B0604020202020204" pitchFamily="34" charset="0"/>
                <a:cs typeface="Arial" panose="020B0604020202020204" pitchFamily="34" charset="0"/>
                <a:sym typeface="Calibri"/>
              </a:rPr>
              <a:t>Are agents’ actions sensitive to different names? </a:t>
            </a:r>
            <a:r>
              <a:rPr lang="en-US" sz="2800" b="1" dirty="0">
                <a:solidFill>
                  <a:schemeClr val="accent2"/>
                </a:solidFill>
                <a:latin typeface="Arial" panose="020B0604020202020204" pitchFamily="34" charset="0"/>
                <a:cs typeface="Arial" panose="020B0604020202020204" pitchFamily="34" charset="0"/>
                <a:sym typeface="Calibri"/>
              </a:rPr>
              <a:t>No</a:t>
            </a:r>
            <a:endParaRPr lang="en-US" sz="2800" b="1" dirty="0">
              <a:solidFill>
                <a:schemeClr val="accent2"/>
              </a:solidFill>
              <a:latin typeface="Arial" panose="020B0604020202020204" pitchFamily="34" charset="0"/>
              <a:ea typeface="+mj-ea"/>
              <a:cs typeface="Arial" panose="020B0604020202020204" pitchFamily="34" charset="0"/>
              <a:sym typeface="Calibri"/>
            </a:endParaRPr>
          </a:p>
        </p:txBody>
      </p:sp>
    </p:spTree>
    <p:extLst>
      <p:ext uri="{BB962C8B-B14F-4D97-AF65-F5344CB8AC3E}">
        <p14:creationId xmlns:p14="http://schemas.microsoft.com/office/powerpoint/2010/main" val="30374538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23" name="MEET OUR TEAM">
            <a:extLst>
              <a:ext uri="{FF2B5EF4-FFF2-40B4-BE49-F238E27FC236}">
                <a16:creationId xmlns:a16="http://schemas.microsoft.com/office/drawing/2014/main" id="{E3365DE4-8A2E-5142-8B94-0FDEBECD92AC}"/>
              </a:ext>
            </a:extLst>
          </p:cNvPr>
          <p:cNvSpPr/>
          <p:nvPr/>
        </p:nvSpPr>
        <p:spPr>
          <a:xfrm>
            <a:off x="627676" y="-216976"/>
            <a:ext cx="10826223" cy="1066927"/>
          </a:xfrm>
          <a:prstGeom prst="rect">
            <a:avLst/>
          </a:prstGeom>
          <a:ln w="12700">
            <a:miter lim="400000"/>
          </a:ln>
          <a:extLst>
            <a:ext uri="{C572A759-6A51-4108-AA02-DFA0A04FC94B}">
              <ma14:wrappingTextBoxFlag xmlns="" xmlns:ma14="http://schemas.microsoft.com/office/mac/drawingml/2011/main" val="1"/>
            </a:ext>
          </a:extLst>
        </p:spPr>
        <p:txBody>
          <a:bodyPr lIns="45719" rIns="45719"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marL="0" marR="0" lvl="0" indent="0" algn="l" defTabSz="859536" rtl="0" eaLnBrk="1" fontAlgn="auto" latinLnBrk="0" hangingPunct="0">
              <a:lnSpc>
                <a:spcPct val="9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Timeline </a:t>
            </a:r>
          </a:p>
        </p:txBody>
      </p:sp>
      <p:sp>
        <p:nvSpPr>
          <p:cNvPr id="82" name="TextBox 81">
            <a:extLst>
              <a:ext uri="{FF2B5EF4-FFF2-40B4-BE49-F238E27FC236}">
                <a16:creationId xmlns:a16="http://schemas.microsoft.com/office/drawing/2014/main" id="{D2782D19-0FC3-8DAD-C684-6D398F11B9E1}"/>
              </a:ext>
            </a:extLst>
          </p:cNvPr>
          <p:cNvSpPr txBox="1"/>
          <p:nvPr/>
        </p:nvSpPr>
        <p:spPr>
          <a:xfrm>
            <a:off x="416130" y="4669538"/>
            <a:ext cx="2709995"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hangingPunct="0"/>
            <a:r>
              <a:rPr lang="en-US" b="1" dirty="0">
                <a:solidFill>
                  <a:schemeClr val="accent1"/>
                </a:solidFill>
                <a:latin typeface="Arial" panose="020B0604020202020204" pitchFamily="34" charset="0"/>
                <a:ea typeface="+mj-ea"/>
                <a:cs typeface="Arial" panose="020B0604020202020204" pitchFamily="34" charset="0"/>
                <a:sym typeface="Calibri"/>
              </a:rPr>
              <a:t>What is generative agent-based modeling?</a:t>
            </a:r>
            <a:endParaRPr kumimoji="0" lang="en-US" sz="1800" b="1" i="0" u="none" strike="noStrike" cap="none" spc="0" normalizeH="0" baseline="0" dirty="0">
              <a:ln>
                <a:noFill/>
              </a:ln>
              <a:solidFill>
                <a:schemeClr val="accent1"/>
              </a:solidFill>
              <a:effectLst/>
              <a:uFillTx/>
              <a:latin typeface="Arial" panose="020B0604020202020204" pitchFamily="34" charset="0"/>
              <a:ea typeface="+mj-ea"/>
              <a:cs typeface="Arial" panose="020B0604020202020204" pitchFamily="34" charset="0"/>
              <a:sym typeface="Calibri"/>
            </a:endParaRPr>
          </a:p>
        </p:txBody>
      </p:sp>
      <p:sp>
        <p:nvSpPr>
          <p:cNvPr id="85" name="TextBox 84">
            <a:extLst>
              <a:ext uri="{FF2B5EF4-FFF2-40B4-BE49-F238E27FC236}">
                <a16:creationId xmlns:a16="http://schemas.microsoft.com/office/drawing/2014/main" id="{4CE259E7-DA1A-E5F3-542C-E8F69F7AE4B0}"/>
              </a:ext>
            </a:extLst>
          </p:cNvPr>
          <p:cNvSpPr txBox="1"/>
          <p:nvPr/>
        </p:nvSpPr>
        <p:spPr>
          <a:xfrm>
            <a:off x="4041369" y="4675402"/>
            <a:ext cx="3292427"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hangingPunct="0"/>
            <a:r>
              <a:rPr lang="en-US" b="1" dirty="0">
                <a:solidFill>
                  <a:schemeClr val="accent1"/>
                </a:solidFill>
                <a:latin typeface="Arial" panose="020B0604020202020204" pitchFamily="34" charset="0"/>
                <a:ea typeface="+mj-ea"/>
                <a:cs typeface="Arial" panose="020B0604020202020204" pitchFamily="34" charset="0"/>
                <a:sym typeface="Calibri"/>
              </a:rPr>
              <a:t>Our generative agent epidemic model</a:t>
            </a:r>
            <a:endParaRPr kumimoji="0" lang="en-US" sz="1800" b="1" i="0" u="none" strike="noStrike" cap="none" spc="0" normalizeH="0" baseline="0" dirty="0">
              <a:ln>
                <a:noFill/>
              </a:ln>
              <a:solidFill>
                <a:schemeClr val="accent1"/>
              </a:solidFill>
              <a:effectLst/>
              <a:uFillTx/>
              <a:latin typeface="Arial" panose="020B0604020202020204" pitchFamily="34" charset="0"/>
              <a:ea typeface="+mj-ea"/>
              <a:cs typeface="Arial" panose="020B0604020202020204" pitchFamily="34" charset="0"/>
              <a:sym typeface="Calibri"/>
            </a:endParaRPr>
          </a:p>
        </p:txBody>
      </p:sp>
      <p:pic>
        <p:nvPicPr>
          <p:cNvPr id="3" name="Picture 2">
            <a:extLst>
              <a:ext uri="{FF2B5EF4-FFF2-40B4-BE49-F238E27FC236}">
                <a16:creationId xmlns:a16="http://schemas.microsoft.com/office/drawing/2014/main" id="{D170B301-1A12-5D51-70E3-613C771CCE38}"/>
              </a:ext>
            </a:extLst>
          </p:cNvPr>
          <p:cNvPicPr>
            <a:picLocks noChangeAspect="1"/>
          </p:cNvPicPr>
          <p:nvPr/>
        </p:nvPicPr>
        <p:blipFill>
          <a:blip r:embed="rId4"/>
          <a:stretch>
            <a:fillRect/>
          </a:stretch>
        </p:blipFill>
        <p:spPr>
          <a:xfrm>
            <a:off x="400179" y="2628282"/>
            <a:ext cx="2986856" cy="1136125"/>
          </a:xfrm>
          <a:prstGeom prst="rect">
            <a:avLst/>
          </a:prstGeom>
        </p:spPr>
      </p:pic>
      <p:pic>
        <p:nvPicPr>
          <p:cNvPr id="7" name="Picture 6">
            <a:extLst>
              <a:ext uri="{FF2B5EF4-FFF2-40B4-BE49-F238E27FC236}">
                <a16:creationId xmlns:a16="http://schemas.microsoft.com/office/drawing/2014/main" id="{8E630E28-59D6-D7D3-627E-D8EF9CC9EA83}"/>
              </a:ext>
            </a:extLst>
          </p:cNvPr>
          <p:cNvPicPr>
            <a:picLocks noChangeAspect="1"/>
          </p:cNvPicPr>
          <p:nvPr/>
        </p:nvPicPr>
        <p:blipFill>
          <a:blip r:embed="rId5"/>
          <a:stretch>
            <a:fillRect/>
          </a:stretch>
        </p:blipFill>
        <p:spPr>
          <a:xfrm>
            <a:off x="3976295" y="2021294"/>
            <a:ext cx="3711196" cy="2550679"/>
          </a:xfrm>
          <a:prstGeom prst="rect">
            <a:avLst/>
          </a:prstGeom>
        </p:spPr>
      </p:pic>
      <p:grpSp>
        <p:nvGrpSpPr>
          <p:cNvPr id="4" name="Group 3">
            <a:extLst>
              <a:ext uri="{FF2B5EF4-FFF2-40B4-BE49-F238E27FC236}">
                <a16:creationId xmlns:a16="http://schemas.microsoft.com/office/drawing/2014/main" id="{FF17A075-9F86-C2D8-EE81-07D2060154E0}"/>
              </a:ext>
            </a:extLst>
          </p:cNvPr>
          <p:cNvGrpSpPr/>
          <p:nvPr/>
        </p:nvGrpSpPr>
        <p:grpSpPr>
          <a:xfrm>
            <a:off x="7995164" y="2084852"/>
            <a:ext cx="3976320" cy="3236879"/>
            <a:chOff x="7995164" y="2084852"/>
            <a:chExt cx="3976320" cy="3236879"/>
          </a:xfrm>
        </p:grpSpPr>
        <p:sp>
          <p:nvSpPr>
            <p:cNvPr id="87" name="TextBox 86">
              <a:extLst>
                <a:ext uri="{FF2B5EF4-FFF2-40B4-BE49-F238E27FC236}">
                  <a16:creationId xmlns:a16="http://schemas.microsoft.com/office/drawing/2014/main" id="{7E92A84E-B4AC-A45E-6737-40616C5E1E24}"/>
                </a:ext>
              </a:extLst>
            </p:cNvPr>
            <p:cNvSpPr txBox="1"/>
            <p:nvPr/>
          </p:nvSpPr>
          <p:spPr>
            <a:xfrm>
              <a:off x="8612368" y="4675402"/>
              <a:ext cx="3292427"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hangingPunct="0"/>
              <a:r>
                <a:rPr lang="en-US" b="1" dirty="0">
                  <a:solidFill>
                    <a:schemeClr val="accent1"/>
                  </a:solidFill>
                  <a:latin typeface="Arial" panose="020B0604020202020204" pitchFamily="34" charset="0"/>
                  <a:ea typeface="+mj-ea"/>
                  <a:cs typeface="Arial" panose="020B0604020202020204" pitchFamily="34" charset="0"/>
                  <a:sym typeface="Calibri"/>
                </a:rPr>
                <a:t>What is the prompt sensitivity analysis?</a:t>
              </a:r>
              <a:endParaRPr kumimoji="0" lang="en-US" sz="1800" b="1" i="0" u="none" strike="noStrike" cap="none" spc="0" normalizeH="0" baseline="0" dirty="0">
                <a:ln>
                  <a:noFill/>
                </a:ln>
                <a:solidFill>
                  <a:schemeClr val="accent1"/>
                </a:solidFill>
                <a:effectLst/>
                <a:uFillTx/>
                <a:latin typeface="Arial" panose="020B0604020202020204" pitchFamily="34" charset="0"/>
                <a:ea typeface="+mj-ea"/>
                <a:cs typeface="Arial" panose="020B0604020202020204" pitchFamily="34" charset="0"/>
                <a:sym typeface="Calibri"/>
              </a:endParaRPr>
            </a:p>
          </p:txBody>
        </p:sp>
        <p:pic>
          <p:nvPicPr>
            <p:cNvPr id="2" name="Picture 1">
              <a:extLst>
                <a:ext uri="{FF2B5EF4-FFF2-40B4-BE49-F238E27FC236}">
                  <a16:creationId xmlns:a16="http://schemas.microsoft.com/office/drawing/2014/main" id="{EF8267E3-6C17-B138-C0C8-B5FF83089278}"/>
                </a:ext>
              </a:extLst>
            </p:cNvPr>
            <p:cNvPicPr>
              <a:picLocks noChangeAspect="1"/>
            </p:cNvPicPr>
            <p:nvPr/>
          </p:nvPicPr>
          <p:blipFill>
            <a:blip r:embed="rId6"/>
            <a:stretch>
              <a:fillRect/>
            </a:stretch>
          </p:blipFill>
          <p:spPr>
            <a:xfrm>
              <a:off x="7995164" y="2084852"/>
              <a:ext cx="3976320" cy="2423562"/>
            </a:xfrm>
            <a:prstGeom prst="rect">
              <a:avLst/>
            </a:prstGeom>
          </p:spPr>
        </p:pic>
      </p:grpSp>
    </p:spTree>
    <p:extLst>
      <p:ext uri="{BB962C8B-B14F-4D97-AF65-F5344CB8AC3E}">
        <p14:creationId xmlns:p14="http://schemas.microsoft.com/office/powerpoint/2010/main" val="32362801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70" name="Title 1"/>
          <p:cNvSpPr/>
          <p:nvPr/>
        </p:nvSpPr>
        <p:spPr>
          <a:xfrm>
            <a:off x="2463183" y="2562981"/>
            <a:ext cx="557895" cy="646331"/>
          </a:xfrm>
          <a:prstGeom prst="rect">
            <a:avLst/>
          </a:prstGeom>
          <a:ln w="12700">
            <a:miter lim="400000"/>
          </a:ln>
          <a:extLst>
            <a:ext uri="{C572A759-6A51-4108-AA02-DFA0A04FC94B}">
              <ma14:wrappingTextBoxFlag xmlns="" xmlns:ma14="http://schemas.microsoft.com/office/mac/drawingml/2011/main" val="1"/>
            </a:ext>
          </a:extLst>
        </p:spPr>
        <p:txBody>
          <a:bodyPr lIns="45719" rIns="45719" anchor="b">
            <a:spAutoFit/>
          </a:bodyPr>
          <a:lstStyle>
            <a:lvl1pPr>
              <a:lnSpc>
                <a:spcPct val="90000"/>
              </a:lnSpc>
              <a:defRPr sz="4000" spc="90">
                <a:solidFill>
                  <a:schemeClr val="accent2"/>
                </a:solidFill>
                <a:latin typeface="Gineso Cond Thin"/>
                <a:ea typeface="Gineso Cond Thin"/>
                <a:cs typeface="Gineso Cond Thin"/>
                <a:sym typeface="Gineso Cond Thin"/>
              </a:defRPr>
            </a:lvl1pPr>
          </a:lstStyle>
          <a:p>
            <a:pPr marL="0" marR="0" lvl="0" indent="0" algn="l" defTabSz="914400" rtl="0" eaLnBrk="1" fontAlgn="auto" latinLnBrk="0" hangingPunct="0">
              <a:lnSpc>
                <a:spcPct val="90000"/>
              </a:lnSpc>
              <a:spcBef>
                <a:spcPts val="0"/>
              </a:spcBef>
              <a:spcAft>
                <a:spcPts val="0"/>
              </a:spcAft>
              <a:buClrTx/>
              <a:buSzTx/>
              <a:buFontTx/>
              <a:buNone/>
              <a:tabLst/>
              <a:defRPr/>
            </a:pPr>
            <a:endParaRPr kumimoji="0" sz="4000" b="0" i="0" u="none" strike="noStrike" kern="0" cap="none" spc="90" normalizeH="0" baseline="0" noProof="0" dirty="0">
              <a:ln>
                <a:noFill/>
              </a:ln>
              <a:solidFill>
                <a:srgbClr val="E87731"/>
              </a:solidFill>
              <a:effectLst/>
              <a:uLnTx/>
              <a:uFillTx/>
              <a:latin typeface="Acherus Grotesque Light" panose="02000505000000020004" pitchFamily="2" charset="77"/>
              <a:sym typeface="Gineso Cond Thin"/>
            </a:endParaRPr>
          </a:p>
        </p:txBody>
      </p:sp>
      <p:sp>
        <p:nvSpPr>
          <p:cNvPr id="172" name="Straight Connector 19"/>
          <p:cNvSpPr/>
          <p:nvPr/>
        </p:nvSpPr>
        <p:spPr>
          <a:xfrm>
            <a:off x="-1462207" y="6283031"/>
            <a:ext cx="5760720" cy="49014"/>
          </a:xfrm>
          <a:prstGeom prst="line">
            <a:avLst/>
          </a:prstGeom>
          <a:ln>
            <a:solidFill>
              <a:schemeClr val="bg2"/>
            </a:solidFill>
            <a:prstDash val="dash"/>
            <a:miter/>
          </a:ln>
        </p:spPr>
        <p:txBody>
          <a:bodyPr lIns="45719" rIns="45719"/>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861F41"/>
              </a:solidFill>
              <a:effectLst/>
              <a:uLnTx/>
              <a:uFillTx/>
              <a:latin typeface="Calibri"/>
              <a:cs typeface="Calibri"/>
              <a:sym typeface="Calibri"/>
            </a:endParaRPr>
          </a:p>
        </p:txBody>
      </p:sp>
      <p:sp>
        <p:nvSpPr>
          <p:cNvPr id="12" name="SECTION TITLE">
            <a:extLst>
              <a:ext uri="{FF2B5EF4-FFF2-40B4-BE49-F238E27FC236}">
                <a16:creationId xmlns:a16="http://schemas.microsoft.com/office/drawing/2014/main" id="{67A82293-05DF-684F-9B63-235EE510042C}"/>
              </a:ext>
            </a:extLst>
          </p:cNvPr>
          <p:cNvSpPr/>
          <p:nvPr/>
        </p:nvSpPr>
        <p:spPr>
          <a:xfrm>
            <a:off x="2231570" y="1416387"/>
            <a:ext cx="7497247" cy="4025225"/>
          </a:xfrm>
          <a:prstGeom prst="rect">
            <a:avLst/>
          </a:prstGeom>
          <a:ln w="12700">
            <a:miter lim="400000"/>
          </a:ln>
          <a:extLst>
            <a:ext uri="{C572A759-6A51-4108-AA02-DFA0A04FC94B}">
              <ma14:wrappingTextBoxFlag xmlns="" xmlns:ma14="http://schemas.microsoft.com/office/mac/drawingml/2011/main" val="1"/>
            </a:ext>
          </a:extLst>
        </p:spPr>
        <p:txBody>
          <a:bodyPr lIns="45719" rIns="45719" anchor="b">
            <a:noAutofit/>
          </a:bodyPr>
          <a:lstStyle>
            <a:lvl1pPr defTabSz="658368">
              <a:lnSpc>
                <a:spcPct val="90000"/>
              </a:lnSpc>
              <a:defRPr sz="5184" spc="259">
                <a:latin typeface="AcherusGrotesqueLight"/>
                <a:ea typeface="AcherusGrotesqueLight"/>
                <a:cs typeface="AcherusGrotesqueLight"/>
                <a:sym typeface="AcherusGrotesqueLight"/>
              </a:defRPr>
            </a:lvl1pPr>
          </a:lstStyle>
          <a:p>
            <a:pPr marL="0" marR="0" lvl="0" indent="0" algn="ctr" defTabSz="658368" rtl="0" eaLnBrk="1" fontAlgn="auto" latinLnBrk="0" hangingPunct="0">
              <a:lnSpc>
                <a:spcPct val="90000"/>
              </a:lnSpc>
              <a:spcBef>
                <a:spcPts val="0"/>
              </a:spcBef>
              <a:spcAft>
                <a:spcPts val="0"/>
              </a:spcAft>
              <a:buClrTx/>
              <a:buSzTx/>
              <a:buFontTx/>
              <a:buNone/>
              <a:tabLst/>
              <a:defRPr/>
            </a:pPr>
            <a:r>
              <a:rPr kumimoji="0" lang="en-US" sz="8800" b="1" i="0" u="none" strike="noStrike" kern="0" cap="none" spc="0" normalizeH="0" baseline="0" noProof="0" dirty="0">
                <a:ln>
                  <a:noFill/>
                </a:ln>
                <a:solidFill>
                  <a:srgbClr val="FFFFFF">
                    <a:lumMod val="95000"/>
                  </a:srgbClr>
                </a:solidFill>
                <a:effectLst/>
                <a:uLnTx/>
                <a:uFillTx/>
                <a:latin typeface="Arial" panose="020B0604020202020204" pitchFamily="34" charset="0"/>
                <a:cs typeface="Arial" panose="020B0604020202020204" pitchFamily="34" charset="0"/>
                <a:sym typeface="AcherusGrotesqueLight"/>
              </a:rPr>
              <a:t>Thank you! </a:t>
            </a:r>
          </a:p>
          <a:p>
            <a:pPr marL="0" marR="0" lvl="0" indent="0" algn="ctr" defTabSz="658368" rtl="0" eaLnBrk="1" fontAlgn="auto" latinLnBrk="0" hangingPunct="0">
              <a:lnSpc>
                <a:spcPct val="90000"/>
              </a:lnSpc>
              <a:spcBef>
                <a:spcPts val="0"/>
              </a:spcBef>
              <a:spcAft>
                <a:spcPts val="0"/>
              </a:spcAft>
              <a:buClrTx/>
              <a:buSzTx/>
              <a:buFontTx/>
              <a:buNone/>
              <a:tabLst/>
              <a:defRPr/>
            </a:pPr>
            <a:endParaRPr kumimoji="0" lang="en-US" sz="8800" b="1" i="0" u="none" strike="noStrike" kern="0" cap="none" spc="0" normalizeH="0" baseline="0" noProof="0" dirty="0">
              <a:ln>
                <a:noFill/>
              </a:ln>
              <a:solidFill>
                <a:srgbClr val="FFFFFF">
                  <a:lumMod val="95000"/>
                </a:srgbClr>
              </a:solidFill>
              <a:effectLst/>
              <a:uLnTx/>
              <a:uFillTx/>
              <a:latin typeface="Arial" panose="020B0604020202020204" pitchFamily="34" charset="0"/>
              <a:cs typeface="Arial" panose="020B0604020202020204" pitchFamily="34" charset="0"/>
              <a:sym typeface="AcherusGrotesqueLight"/>
            </a:endParaRPr>
          </a:p>
          <a:p>
            <a:pPr marL="0" marR="0" lvl="0" indent="0" algn="ctr" defTabSz="658368" rtl="0" eaLnBrk="1" fontAlgn="auto" latinLnBrk="0" hangingPunct="0">
              <a:lnSpc>
                <a:spcPct val="9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FFFF">
                    <a:lumMod val="95000"/>
                  </a:srgbClr>
                </a:solidFill>
                <a:effectLst/>
                <a:uLnTx/>
                <a:uFillTx/>
                <a:latin typeface="Arial" panose="020B0604020202020204" pitchFamily="34" charset="0"/>
                <a:cs typeface="Arial" panose="020B0604020202020204" pitchFamily="34" charset="0"/>
                <a:sym typeface="AcherusGrotesqueLight"/>
              </a:rPr>
              <a:t>Ross </a:t>
            </a:r>
            <a:r>
              <a:rPr kumimoji="0" lang="en-US" sz="2400" b="0" i="0" u="none" strike="noStrike" kern="0" cap="none" spc="0" normalizeH="0" baseline="0" noProof="0" dirty="0" err="1">
                <a:ln>
                  <a:noFill/>
                </a:ln>
                <a:solidFill>
                  <a:srgbClr val="FFFFFF">
                    <a:lumMod val="95000"/>
                  </a:srgbClr>
                </a:solidFill>
                <a:effectLst/>
                <a:uLnTx/>
                <a:uFillTx/>
                <a:latin typeface="Arial" panose="020B0604020202020204" pitchFamily="34" charset="0"/>
                <a:cs typeface="Arial" panose="020B0604020202020204" pitchFamily="34" charset="0"/>
                <a:sym typeface="AcherusGrotesqueLight"/>
              </a:rPr>
              <a:t>Fantus</a:t>
            </a:r>
            <a:r>
              <a:rPr kumimoji="0" lang="en-US" sz="2400" b="0" i="0" u="none" strike="noStrike" kern="0" cap="none" spc="0" normalizeH="0" baseline="0" noProof="0" dirty="0">
                <a:ln>
                  <a:noFill/>
                </a:ln>
                <a:solidFill>
                  <a:srgbClr val="FFFFFF">
                    <a:lumMod val="95000"/>
                  </a:srgbClr>
                </a:solidFill>
                <a:effectLst/>
                <a:uLnTx/>
                <a:uFillTx/>
                <a:latin typeface="Arial" panose="020B0604020202020204" pitchFamily="34" charset="0"/>
                <a:cs typeface="Arial" panose="020B0604020202020204" pitchFamily="34" charset="0"/>
                <a:sym typeface="AcherusGrotesqueLight"/>
              </a:rPr>
              <a:t> Williams</a:t>
            </a:r>
          </a:p>
          <a:p>
            <a:pPr marL="0" marR="0" lvl="0" indent="0" algn="ctr" defTabSz="658368" rtl="0" eaLnBrk="1" fontAlgn="auto" latinLnBrk="0" hangingPunct="0">
              <a:lnSpc>
                <a:spcPct val="90000"/>
              </a:lnSpc>
              <a:spcBef>
                <a:spcPts val="0"/>
              </a:spcBef>
              <a:spcAft>
                <a:spcPts val="0"/>
              </a:spcAft>
              <a:buClrTx/>
              <a:buSzTx/>
              <a:buFontTx/>
              <a:buNone/>
              <a:tabLst/>
              <a:defRPr/>
            </a:pPr>
            <a:r>
              <a:rPr lang="en-US" sz="2400" kern="0" spc="0" dirty="0">
                <a:solidFill>
                  <a:srgbClr val="FFFFFF">
                    <a:lumMod val="95000"/>
                  </a:srgbClr>
                </a:solidFill>
                <a:latin typeface="Arial" panose="020B0604020202020204" pitchFamily="34" charset="0"/>
                <a:cs typeface="Arial" panose="020B0604020202020204" pitchFamily="34" charset="0"/>
              </a:rPr>
              <a:t>E</a:t>
            </a:r>
            <a:r>
              <a:rPr kumimoji="0" lang="en-US" sz="2400" b="0" i="0" u="none" strike="noStrike" kern="0" cap="none" spc="0" normalizeH="0" baseline="0" noProof="0" dirty="0">
                <a:ln>
                  <a:noFill/>
                </a:ln>
                <a:solidFill>
                  <a:srgbClr val="FFFFFF">
                    <a:lumMod val="95000"/>
                  </a:srgbClr>
                </a:solidFill>
                <a:effectLst/>
                <a:uLnTx/>
                <a:uFillTx/>
                <a:latin typeface="Arial" panose="020B0604020202020204" pitchFamily="34" charset="0"/>
                <a:cs typeface="Arial" panose="020B0604020202020204" pitchFamily="34" charset="0"/>
                <a:sym typeface="AcherusGrotesqueLight"/>
              </a:rPr>
              <a:t>mail: rossfw@vt.edu</a:t>
            </a:r>
            <a:endParaRPr kumimoji="0" sz="2400" b="0" i="0" u="none" strike="noStrike" kern="0" cap="none" spc="600" normalizeH="0" baseline="0" noProof="0" dirty="0">
              <a:ln>
                <a:noFill/>
              </a:ln>
              <a:solidFill>
                <a:srgbClr val="FFFFFF"/>
              </a:solidFill>
              <a:effectLst/>
              <a:uLnTx/>
              <a:uFillTx/>
              <a:latin typeface="Acherus Grotesque Medium" panose="02000505000000020004" pitchFamily="2" charset="77"/>
              <a:sym typeface="AcherusGrotesqueLight"/>
            </a:endParaRPr>
          </a:p>
        </p:txBody>
      </p:sp>
      <p:pic>
        <p:nvPicPr>
          <p:cNvPr id="7" name="Picture 6">
            <a:extLst>
              <a:ext uri="{FF2B5EF4-FFF2-40B4-BE49-F238E27FC236}">
                <a16:creationId xmlns:a16="http://schemas.microsoft.com/office/drawing/2014/main" id="{111524F7-7B00-8C4C-9F42-614DECF650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153" y="6497994"/>
            <a:ext cx="2286000" cy="203200"/>
          </a:xfrm>
          <a:prstGeom prst="rect">
            <a:avLst/>
          </a:prstGeom>
        </p:spPr>
      </p:pic>
      <p:pic>
        <p:nvPicPr>
          <p:cNvPr id="5" name="Picture 2">
            <a:extLst>
              <a:ext uri="{FF2B5EF4-FFF2-40B4-BE49-F238E27FC236}">
                <a16:creationId xmlns:a16="http://schemas.microsoft.com/office/drawing/2014/main" id="{8A73D714-4E0A-3B0D-1449-EFA22A1DAD3E}"/>
              </a:ext>
            </a:extLst>
          </p:cNvPr>
          <p:cNvPicPr>
            <a:picLocks noChangeAspect="1" noChangeArrowheads="1"/>
          </p:cNvPicPr>
          <p:nvPr/>
        </p:nvPicPr>
        <p:blipFill>
          <a:blip r:embed="rId4">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410331" y="6283031"/>
            <a:ext cx="2781669" cy="578065"/>
          </a:xfrm>
          <a:prstGeom prst="rect">
            <a:avLst/>
          </a:prstGeom>
          <a:solidFill>
            <a:schemeClr val="bg1"/>
          </a:solidFill>
        </p:spPr>
      </p:pic>
    </p:spTree>
    <p:extLst>
      <p:ext uri="{BB962C8B-B14F-4D97-AF65-F5344CB8AC3E}">
        <p14:creationId xmlns:p14="http://schemas.microsoft.com/office/powerpoint/2010/main" val="29881485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a line&#10;&#10;Description automatically generated">
            <a:extLst>
              <a:ext uri="{FF2B5EF4-FFF2-40B4-BE49-F238E27FC236}">
                <a16:creationId xmlns:a16="http://schemas.microsoft.com/office/drawing/2014/main" id="{A152F569-1454-5D10-F7FB-9D9B0E094441}"/>
              </a:ext>
            </a:extLst>
          </p:cNvPr>
          <p:cNvPicPr>
            <a:picLocks noChangeAspect="1"/>
          </p:cNvPicPr>
          <p:nvPr/>
        </p:nvPicPr>
        <p:blipFill>
          <a:blip r:embed="rId2"/>
          <a:stretch>
            <a:fillRect/>
          </a:stretch>
        </p:blipFill>
        <p:spPr>
          <a:xfrm>
            <a:off x="1378636" y="532456"/>
            <a:ext cx="8569754" cy="5161520"/>
          </a:xfrm>
          <a:prstGeom prst="rect">
            <a:avLst/>
          </a:prstGeom>
        </p:spPr>
      </p:pic>
    </p:spTree>
    <p:extLst>
      <p:ext uri="{BB962C8B-B14F-4D97-AF65-F5344CB8AC3E}">
        <p14:creationId xmlns:p14="http://schemas.microsoft.com/office/powerpoint/2010/main" val="2084540081"/>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24148B-7AB9-CCA8-5CAF-83A1A3832354}"/>
              </a:ext>
            </a:extLst>
          </p:cNvPr>
          <p:cNvPicPr>
            <a:picLocks noChangeAspect="1"/>
          </p:cNvPicPr>
          <p:nvPr/>
        </p:nvPicPr>
        <p:blipFill>
          <a:blip r:embed="rId2"/>
          <a:srcRect r="-53" b="11421"/>
          <a:stretch/>
        </p:blipFill>
        <p:spPr>
          <a:xfrm>
            <a:off x="0" y="2198547"/>
            <a:ext cx="12198522" cy="2272142"/>
          </a:xfrm>
          <a:prstGeom prst="rect">
            <a:avLst/>
          </a:prstGeom>
        </p:spPr>
      </p:pic>
    </p:spTree>
    <p:extLst>
      <p:ext uri="{BB962C8B-B14F-4D97-AF65-F5344CB8AC3E}">
        <p14:creationId xmlns:p14="http://schemas.microsoft.com/office/powerpoint/2010/main" val="215189165"/>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94969D-D572-A5C2-0EAE-AD488888EBDE}"/>
              </a:ext>
            </a:extLst>
          </p:cNvPr>
          <p:cNvPicPr>
            <a:picLocks noChangeAspect="1"/>
          </p:cNvPicPr>
          <p:nvPr/>
        </p:nvPicPr>
        <p:blipFill>
          <a:blip r:embed="rId2"/>
          <a:srcRect l="-18" t="-24" r="-77" b="2008"/>
          <a:stretch/>
        </p:blipFill>
        <p:spPr>
          <a:xfrm>
            <a:off x="1831670" y="1608"/>
            <a:ext cx="8520594" cy="6677339"/>
          </a:xfrm>
          <a:prstGeom prst="rect">
            <a:avLst/>
          </a:prstGeom>
        </p:spPr>
      </p:pic>
    </p:spTree>
    <p:extLst>
      <p:ext uri="{BB962C8B-B14F-4D97-AF65-F5344CB8AC3E}">
        <p14:creationId xmlns:p14="http://schemas.microsoft.com/office/powerpoint/2010/main" val="1251712534"/>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9C0B5-99A7-66BC-F852-A29B00C594E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4E7EABD-4CC8-D6BF-D963-8703B0D51FFA}"/>
              </a:ext>
            </a:extLst>
          </p:cNvPr>
          <p:cNvPicPr>
            <a:picLocks noChangeAspect="1"/>
          </p:cNvPicPr>
          <p:nvPr/>
        </p:nvPicPr>
        <p:blipFill>
          <a:blip r:embed="rId2"/>
          <a:stretch>
            <a:fillRect/>
          </a:stretch>
        </p:blipFill>
        <p:spPr>
          <a:xfrm>
            <a:off x="0" y="1017581"/>
            <a:ext cx="12192000" cy="4822838"/>
          </a:xfrm>
          <a:prstGeom prst="rect">
            <a:avLst/>
          </a:prstGeom>
        </p:spPr>
      </p:pic>
    </p:spTree>
    <p:extLst>
      <p:ext uri="{BB962C8B-B14F-4D97-AF65-F5344CB8AC3E}">
        <p14:creationId xmlns:p14="http://schemas.microsoft.com/office/powerpoint/2010/main" val="2148777410"/>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BC2046-A0F3-31B3-F157-C1720C59A11A}"/>
              </a:ext>
            </a:extLst>
          </p:cNvPr>
          <p:cNvPicPr>
            <a:picLocks noChangeAspect="1"/>
          </p:cNvPicPr>
          <p:nvPr/>
        </p:nvPicPr>
        <p:blipFill>
          <a:blip r:embed="rId2"/>
          <a:stretch>
            <a:fillRect/>
          </a:stretch>
        </p:blipFill>
        <p:spPr>
          <a:xfrm>
            <a:off x="1907678" y="0"/>
            <a:ext cx="8376643" cy="6858000"/>
          </a:xfrm>
          <a:prstGeom prst="rect">
            <a:avLst/>
          </a:prstGeom>
        </p:spPr>
      </p:pic>
    </p:spTree>
    <p:extLst>
      <p:ext uri="{BB962C8B-B14F-4D97-AF65-F5344CB8AC3E}">
        <p14:creationId xmlns:p14="http://schemas.microsoft.com/office/powerpoint/2010/main" val="2018894568"/>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14" name="MEET OUR TEAM">
            <a:extLst>
              <a:ext uri="{FF2B5EF4-FFF2-40B4-BE49-F238E27FC236}">
                <a16:creationId xmlns:a16="http://schemas.microsoft.com/office/drawing/2014/main" id="{58A4615E-0D05-CF5D-9595-2B44F20A207D}"/>
              </a:ext>
            </a:extLst>
          </p:cNvPr>
          <p:cNvSpPr/>
          <p:nvPr/>
        </p:nvSpPr>
        <p:spPr>
          <a:xfrm>
            <a:off x="627676" y="-216976"/>
            <a:ext cx="10826223" cy="1066927"/>
          </a:xfrm>
          <a:prstGeom prst="rect">
            <a:avLst/>
          </a:prstGeom>
          <a:ln w="12700">
            <a:miter lim="400000"/>
          </a:ln>
          <a:extLst>
            <a:ext uri="{C572A759-6A51-4108-AA02-DFA0A04FC94B}">
              <ma14:wrappingTextBoxFlag xmlns="" xmlns:ma14="http://schemas.microsoft.com/office/mac/drawingml/2011/main" val="1"/>
            </a:ext>
          </a:extLst>
        </p:spPr>
        <p:txBody>
          <a:bodyPr lIns="45719" rIns="45719"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marL="0" marR="0" lvl="0" indent="0" algn="l" defTabSz="859536" rtl="0" eaLnBrk="1" fontAlgn="auto" latinLnBrk="0" hangingPunct="0">
              <a:lnSpc>
                <a:spcPct val="9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Results from our generative epidemic model</a:t>
            </a:r>
          </a:p>
        </p:txBody>
      </p:sp>
      <p:pic>
        <p:nvPicPr>
          <p:cNvPr id="3" name="Picture 2">
            <a:extLst>
              <a:ext uri="{FF2B5EF4-FFF2-40B4-BE49-F238E27FC236}">
                <a16:creationId xmlns:a16="http://schemas.microsoft.com/office/drawing/2014/main" id="{2AD7171F-AF29-F41D-E076-52DBA10FBBF6}"/>
              </a:ext>
            </a:extLst>
          </p:cNvPr>
          <p:cNvPicPr>
            <a:picLocks noChangeAspect="1"/>
          </p:cNvPicPr>
          <p:nvPr/>
        </p:nvPicPr>
        <p:blipFill>
          <a:blip r:embed="rId4"/>
          <a:stretch>
            <a:fillRect/>
          </a:stretch>
        </p:blipFill>
        <p:spPr>
          <a:xfrm>
            <a:off x="645517" y="960120"/>
            <a:ext cx="7263487" cy="5509260"/>
          </a:xfrm>
          <a:prstGeom prst="rect">
            <a:avLst/>
          </a:prstGeom>
        </p:spPr>
      </p:pic>
      <p:sp>
        <p:nvSpPr>
          <p:cNvPr id="8" name="TextBox 7">
            <a:extLst>
              <a:ext uri="{FF2B5EF4-FFF2-40B4-BE49-F238E27FC236}">
                <a16:creationId xmlns:a16="http://schemas.microsoft.com/office/drawing/2014/main" id="{0C2254C5-1C53-6C7A-C914-4158B47B6C2B}"/>
              </a:ext>
            </a:extLst>
          </p:cNvPr>
          <p:cNvSpPr txBox="1"/>
          <p:nvPr/>
        </p:nvSpPr>
        <p:spPr>
          <a:xfrm>
            <a:off x="9639896" y="434098"/>
            <a:ext cx="2392083"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kumimoji="0" lang="en-US" sz="2800" b="1" i="0" u="none" strike="noStrike" kern="0" cap="none" spc="0" normalizeH="0" baseline="0" noProof="0" dirty="0">
                <a:ln>
                  <a:noFill/>
                </a:ln>
                <a:solidFill>
                  <a:schemeClr val="accent2"/>
                </a:solidFill>
                <a:effectLst/>
                <a:uLnTx/>
                <a:uFillTx/>
                <a:latin typeface="Arial" panose="020B0604020202020204" pitchFamily="34" charset="0"/>
                <a:cs typeface="Arial" panose="020B0604020202020204" pitchFamily="34" charset="0"/>
                <a:sym typeface="Acherus Grotesque"/>
              </a:rPr>
              <a:t>1000 Agents</a:t>
            </a:r>
            <a:endParaRPr lang="en-US" sz="2800" dirty="0">
              <a:solidFill>
                <a:schemeClr val="accent2"/>
              </a:solidFill>
            </a:endParaRPr>
          </a:p>
        </p:txBody>
      </p:sp>
    </p:spTree>
    <p:extLst>
      <p:ext uri="{BB962C8B-B14F-4D97-AF65-F5344CB8AC3E}">
        <p14:creationId xmlns:p14="http://schemas.microsoft.com/office/powerpoint/2010/main" val="12186792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23" name="MEET OUR TEAM">
            <a:extLst>
              <a:ext uri="{FF2B5EF4-FFF2-40B4-BE49-F238E27FC236}">
                <a16:creationId xmlns:a16="http://schemas.microsoft.com/office/drawing/2014/main" id="{E3365DE4-8A2E-5142-8B94-0FDEBECD92AC}"/>
              </a:ext>
            </a:extLst>
          </p:cNvPr>
          <p:cNvSpPr/>
          <p:nvPr/>
        </p:nvSpPr>
        <p:spPr>
          <a:xfrm>
            <a:off x="513927" y="267751"/>
            <a:ext cx="11315092" cy="1066927"/>
          </a:xfrm>
          <a:prstGeom prst="rect">
            <a:avLst/>
          </a:prstGeom>
          <a:ln w="12700">
            <a:miter lim="400000"/>
          </a:ln>
          <a:extLst>
            <a:ext uri="{C572A759-6A51-4108-AA02-DFA0A04FC94B}">
              <ma14:wrappingTextBoxFlag xmlns:ma14="http://schemas.microsoft.com/office/mac/drawingml/2011/main" xmlns="" val="1"/>
            </a:ext>
          </a:extLst>
        </p:spPr>
        <p:txBody>
          <a:bodyPr lIns="45719" rIns="45719" anchor="t">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marL="0" marR="0" lvl="0" indent="0" algn="l" defTabSz="859536" rtl="0" eaLnBrk="1" fontAlgn="auto" latinLnBrk="0" hangingPunct="0">
              <a:lnSpc>
                <a:spcPct val="9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Appendix: extra generative agent epidemic model results</a:t>
            </a:r>
          </a:p>
        </p:txBody>
      </p:sp>
      <p:pic>
        <p:nvPicPr>
          <p:cNvPr id="8" name="Picture 7">
            <a:extLst>
              <a:ext uri="{FF2B5EF4-FFF2-40B4-BE49-F238E27FC236}">
                <a16:creationId xmlns:a16="http://schemas.microsoft.com/office/drawing/2014/main" id="{1A0D86CD-D2DA-753E-49AF-91340B79BE02}"/>
              </a:ext>
            </a:extLst>
          </p:cNvPr>
          <p:cNvPicPr>
            <a:picLocks noChangeAspect="1"/>
          </p:cNvPicPr>
          <p:nvPr/>
        </p:nvPicPr>
        <p:blipFill>
          <a:blip r:embed="rId4"/>
          <a:stretch>
            <a:fillRect/>
          </a:stretch>
        </p:blipFill>
        <p:spPr>
          <a:xfrm>
            <a:off x="296014" y="830580"/>
            <a:ext cx="6578680" cy="5897880"/>
          </a:xfrm>
          <a:prstGeom prst="rect">
            <a:avLst/>
          </a:prstGeom>
        </p:spPr>
      </p:pic>
      <p:pic>
        <p:nvPicPr>
          <p:cNvPr id="9" name="Picture 8">
            <a:extLst>
              <a:ext uri="{FF2B5EF4-FFF2-40B4-BE49-F238E27FC236}">
                <a16:creationId xmlns:a16="http://schemas.microsoft.com/office/drawing/2014/main" id="{22E9D114-B1D9-0525-E8D5-B2D3B8AD9728}"/>
              </a:ext>
            </a:extLst>
          </p:cNvPr>
          <p:cNvPicPr>
            <a:picLocks noChangeAspect="1"/>
          </p:cNvPicPr>
          <p:nvPr/>
        </p:nvPicPr>
        <p:blipFill>
          <a:blip r:embed="rId5"/>
          <a:stretch>
            <a:fillRect/>
          </a:stretch>
        </p:blipFill>
        <p:spPr>
          <a:xfrm>
            <a:off x="7428437" y="849951"/>
            <a:ext cx="3991330" cy="5821724"/>
          </a:xfrm>
          <a:prstGeom prst="rect">
            <a:avLst/>
          </a:prstGeom>
        </p:spPr>
      </p:pic>
    </p:spTree>
    <p:extLst>
      <p:ext uri="{BB962C8B-B14F-4D97-AF65-F5344CB8AC3E}">
        <p14:creationId xmlns:p14="http://schemas.microsoft.com/office/powerpoint/2010/main" val="104400210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7A4EB-9571-4135-C33E-117DF8552C37}"/>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4D2CB57A-04DC-538A-3B86-19CEDF7BF98B}"/>
              </a:ext>
            </a:extLst>
          </p:cNvPr>
          <p:cNvPicPr>
            <a:picLocks noChangeAspect="1"/>
          </p:cNvPicPr>
          <p:nvPr/>
        </p:nvPicPr>
        <p:blipFill>
          <a:blip r:embed="rId2"/>
          <a:stretch>
            <a:fillRect/>
          </a:stretch>
        </p:blipFill>
        <p:spPr>
          <a:xfrm>
            <a:off x="304308" y="0"/>
            <a:ext cx="11583384" cy="6858000"/>
          </a:xfrm>
          <a:prstGeom prst="rect">
            <a:avLst/>
          </a:prstGeom>
        </p:spPr>
      </p:pic>
    </p:spTree>
    <p:extLst>
      <p:ext uri="{BB962C8B-B14F-4D97-AF65-F5344CB8AC3E}">
        <p14:creationId xmlns:p14="http://schemas.microsoft.com/office/powerpoint/2010/main" val="3184373561"/>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23" name="MEET OUR TEAM">
            <a:extLst>
              <a:ext uri="{FF2B5EF4-FFF2-40B4-BE49-F238E27FC236}">
                <a16:creationId xmlns:a16="http://schemas.microsoft.com/office/drawing/2014/main" id="{E3365DE4-8A2E-5142-8B94-0FDEBECD92AC}"/>
              </a:ext>
            </a:extLst>
          </p:cNvPr>
          <p:cNvSpPr/>
          <p:nvPr/>
        </p:nvSpPr>
        <p:spPr>
          <a:xfrm>
            <a:off x="513927" y="267751"/>
            <a:ext cx="11315092" cy="1066927"/>
          </a:xfrm>
          <a:prstGeom prst="rect">
            <a:avLst/>
          </a:prstGeom>
          <a:ln w="12700">
            <a:miter lim="400000"/>
          </a:ln>
          <a:extLst>
            <a:ext uri="{C572A759-6A51-4108-AA02-DFA0A04FC94B}">
              <ma14:wrappingTextBoxFlag xmlns="" xmlns:ma14="http://schemas.microsoft.com/office/mac/drawingml/2011/main" val="1"/>
            </a:ext>
          </a:extLst>
        </p:spPr>
        <p:txBody>
          <a:bodyPr lIns="45719" rIns="45719" anchor="t">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marL="0" marR="0" lvl="0" indent="0" algn="l" defTabSz="859536" rtl="0" eaLnBrk="1" fontAlgn="auto" latinLnBrk="0" hangingPunct="0">
              <a:lnSpc>
                <a:spcPct val="9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Appendix: extra generative agent epidemic model results</a:t>
            </a:r>
          </a:p>
        </p:txBody>
      </p:sp>
      <p:pic>
        <p:nvPicPr>
          <p:cNvPr id="3" name="Picture 2">
            <a:extLst>
              <a:ext uri="{FF2B5EF4-FFF2-40B4-BE49-F238E27FC236}">
                <a16:creationId xmlns:a16="http://schemas.microsoft.com/office/drawing/2014/main" id="{EC40F4D4-EBAB-3957-4884-E3FCA0CAA533}"/>
              </a:ext>
            </a:extLst>
          </p:cNvPr>
          <p:cNvPicPr>
            <a:picLocks noChangeAspect="1"/>
          </p:cNvPicPr>
          <p:nvPr/>
        </p:nvPicPr>
        <p:blipFill>
          <a:blip r:embed="rId4"/>
          <a:stretch>
            <a:fillRect/>
          </a:stretch>
        </p:blipFill>
        <p:spPr>
          <a:xfrm>
            <a:off x="2112495" y="861059"/>
            <a:ext cx="7967010" cy="5796431"/>
          </a:xfrm>
          <a:prstGeom prst="rect">
            <a:avLst/>
          </a:prstGeom>
        </p:spPr>
      </p:pic>
    </p:spTree>
    <p:extLst>
      <p:ext uri="{BB962C8B-B14F-4D97-AF65-F5344CB8AC3E}">
        <p14:creationId xmlns:p14="http://schemas.microsoft.com/office/powerpoint/2010/main" val="4170977483"/>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23" name="MEET OUR TEAM">
            <a:extLst>
              <a:ext uri="{FF2B5EF4-FFF2-40B4-BE49-F238E27FC236}">
                <a16:creationId xmlns:a16="http://schemas.microsoft.com/office/drawing/2014/main" id="{E3365DE4-8A2E-5142-8B94-0FDEBECD92AC}"/>
              </a:ext>
            </a:extLst>
          </p:cNvPr>
          <p:cNvSpPr/>
          <p:nvPr/>
        </p:nvSpPr>
        <p:spPr>
          <a:xfrm>
            <a:off x="513927" y="267751"/>
            <a:ext cx="11315092" cy="1066927"/>
          </a:xfrm>
          <a:prstGeom prst="rect">
            <a:avLst/>
          </a:prstGeom>
          <a:ln w="12700">
            <a:miter lim="400000"/>
          </a:ln>
          <a:extLst>
            <a:ext uri="{C572A759-6A51-4108-AA02-DFA0A04FC94B}">
              <ma14:wrappingTextBoxFlag xmlns="" xmlns:ma14="http://schemas.microsoft.com/office/mac/drawingml/2011/main" val="1"/>
            </a:ext>
          </a:extLst>
        </p:spPr>
        <p:txBody>
          <a:bodyPr lIns="45719" rIns="45719" anchor="t">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marL="0" marR="0" lvl="0" indent="0" algn="l" defTabSz="859536" rtl="0" eaLnBrk="1" fontAlgn="auto" latinLnBrk="0" hangingPunct="0">
              <a:lnSpc>
                <a:spcPct val="9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Appendix: extra generative agent epidemic model results</a:t>
            </a:r>
          </a:p>
        </p:txBody>
      </p:sp>
      <p:pic>
        <p:nvPicPr>
          <p:cNvPr id="6" name="Picture 5">
            <a:extLst>
              <a:ext uri="{FF2B5EF4-FFF2-40B4-BE49-F238E27FC236}">
                <a16:creationId xmlns:a16="http://schemas.microsoft.com/office/drawing/2014/main" id="{9031F809-C0FD-B04F-E35F-7DED870D986F}"/>
              </a:ext>
            </a:extLst>
          </p:cNvPr>
          <p:cNvPicPr>
            <a:picLocks noChangeAspect="1"/>
          </p:cNvPicPr>
          <p:nvPr/>
        </p:nvPicPr>
        <p:blipFill>
          <a:blip r:embed="rId4"/>
          <a:stretch>
            <a:fillRect/>
          </a:stretch>
        </p:blipFill>
        <p:spPr>
          <a:xfrm>
            <a:off x="3361244" y="807720"/>
            <a:ext cx="5469512" cy="6050280"/>
          </a:xfrm>
          <a:prstGeom prst="rect">
            <a:avLst/>
          </a:prstGeom>
        </p:spPr>
      </p:pic>
    </p:spTree>
    <p:extLst>
      <p:ext uri="{BB962C8B-B14F-4D97-AF65-F5344CB8AC3E}">
        <p14:creationId xmlns:p14="http://schemas.microsoft.com/office/powerpoint/2010/main" val="2032910731"/>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12" name="MEET OUR TEAM">
            <a:extLst>
              <a:ext uri="{FF2B5EF4-FFF2-40B4-BE49-F238E27FC236}">
                <a16:creationId xmlns:a16="http://schemas.microsoft.com/office/drawing/2014/main" id="{35254D17-5340-43C3-42D2-63FAF553E1E5}"/>
              </a:ext>
            </a:extLst>
          </p:cNvPr>
          <p:cNvSpPr/>
          <p:nvPr/>
        </p:nvSpPr>
        <p:spPr>
          <a:xfrm>
            <a:off x="627676" y="-216976"/>
            <a:ext cx="10826223" cy="1066927"/>
          </a:xfrm>
          <a:prstGeom prst="rect">
            <a:avLst/>
          </a:prstGeom>
          <a:ln w="12700">
            <a:miter lim="400000"/>
          </a:ln>
          <a:extLst>
            <a:ext uri="{C572A759-6A51-4108-AA02-DFA0A04FC94B}">
              <ma14:wrappingTextBoxFlag xmlns="" xmlns:ma14="http://schemas.microsoft.com/office/mac/drawingml/2011/main" val="1"/>
            </a:ext>
          </a:extLst>
        </p:spPr>
        <p:txBody>
          <a:bodyPr lIns="45719" tIns="45720" rIns="45719" bIns="45720"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a:defRPr/>
            </a:pPr>
            <a:r>
              <a:rPr lang="en-US" sz="3200" b="1" kern="0" spc="0" dirty="0">
                <a:solidFill>
                  <a:srgbClr val="861F41"/>
                </a:solidFill>
                <a:latin typeface="Arial"/>
                <a:cs typeface="Arial"/>
              </a:rPr>
              <a:t>No name analysis</a:t>
            </a:r>
            <a:endParaRPr lang="en-US" dirty="0"/>
          </a:p>
        </p:txBody>
      </p:sp>
      <p:sp>
        <p:nvSpPr>
          <p:cNvPr id="4" name="TextBox 3">
            <a:extLst>
              <a:ext uri="{FF2B5EF4-FFF2-40B4-BE49-F238E27FC236}">
                <a16:creationId xmlns:a16="http://schemas.microsoft.com/office/drawing/2014/main" id="{67FC222A-CA1D-D47F-225F-A07DF734A0C4}"/>
              </a:ext>
            </a:extLst>
          </p:cNvPr>
          <p:cNvSpPr txBox="1"/>
          <p:nvPr/>
        </p:nvSpPr>
        <p:spPr>
          <a:xfrm>
            <a:off x="626077" y="818292"/>
            <a:ext cx="4898766" cy="26776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hangingPunct="0"/>
            <a:r>
              <a:rPr lang="en-US" sz="2400" dirty="0">
                <a:latin typeface="Arial"/>
              </a:rPr>
              <a:t>“Assuming </a:t>
            </a:r>
            <a:r>
              <a:rPr lang="en-US" sz="2400" b="1" dirty="0">
                <a:latin typeface="Arial"/>
              </a:rPr>
              <a:t>you </a:t>
            </a:r>
            <a:r>
              <a:rPr lang="en-US" sz="2400" dirty="0">
                <a:latin typeface="Arial"/>
              </a:rPr>
              <a:t>are a survey participant and </a:t>
            </a:r>
            <a:r>
              <a:rPr lang="en-US" sz="2400" b="1" dirty="0">
                <a:latin typeface="Arial"/>
              </a:rPr>
              <a:t>you </a:t>
            </a:r>
            <a:r>
              <a:rPr lang="en-US" sz="2400" dirty="0">
                <a:latin typeface="Arial"/>
              </a:rPr>
              <a:t>are paid in tokens, please wait for my prompt and tell me whether you prefer option (1) or option (2). There is no need to explain your choice, simply answer with (1) or (2).”</a:t>
            </a:r>
            <a:r>
              <a:rPr lang="en-US" sz="2400" dirty="0">
                <a:latin typeface="Arial"/>
                <a:ea typeface="+mj-ea"/>
                <a:cs typeface="+mj-cs"/>
              </a:rPr>
              <a:t> </a:t>
            </a:r>
            <a:endParaRPr lang="en-US" dirty="0">
              <a:latin typeface="Arial"/>
            </a:endParaRPr>
          </a:p>
        </p:txBody>
      </p:sp>
      <p:sp>
        <p:nvSpPr>
          <p:cNvPr id="8" name="TextBox 7">
            <a:extLst>
              <a:ext uri="{FF2B5EF4-FFF2-40B4-BE49-F238E27FC236}">
                <a16:creationId xmlns:a16="http://schemas.microsoft.com/office/drawing/2014/main" id="{81522B41-17DD-5FFA-157E-F3655D4CAC37}"/>
              </a:ext>
            </a:extLst>
          </p:cNvPr>
          <p:cNvSpPr txBox="1"/>
          <p:nvPr/>
        </p:nvSpPr>
        <p:spPr>
          <a:xfrm>
            <a:off x="6577913" y="852617"/>
            <a:ext cx="5344983" cy="23083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hangingPunct="0"/>
            <a:r>
              <a:rPr lang="en-US" sz="2400" dirty="0">
                <a:latin typeface="Arial"/>
                <a:ea typeface="+mj-ea"/>
                <a:cs typeface="Arial"/>
              </a:rPr>
              <a:t>“</a:t>
            </a:r>
            <a:r>
              <a:rPr lang="en-US" sz="2400" b="1" dirty="0">
                <a:latin typeface="Arial"/>
                <a:ea typeface="+mj-ea"/>
                <a:cs typeface="Arial"/>
              </a:rPr>
              <a:t>You are [name]. You are [X] years old.</a:t>
            </a:r>
            <a:r>
              <a:rPr lang="en-US" sz="2400" dirty="0">
                <a:latin typeface="Arial"/>
                <a:ea typeface="+mj-ea"/>
                <a:cs typeface="Arial"/>
              </a:rPr>
              <a:t> You are a college student. You hope to receive your degree in Engineering in a few years. You enjoy playing basketball, and have many friends.</a:t>
            </a:r>
            <a:endParaRPr lang="en-US" sz="2400" dirty="0">
              <a:latin typeface="Arial"/>
              <a:cs typeface="Arial"/>
            </a:endParaRPr>
          </a:p>
        </p:txBody>
      </p:sp>
      <p:pic>
        <p:nvPicPr>
          <p:cNvPr id="13" name="Picture 12">
            <a:extLst>
              <a:ext uri="{FF2B5EF4-FFF2-40B4-BE49-F238E27FC236}">
                <a16:creationId xmlns:a16="http://schemas.microsoft.com/office/drawing/2014/main" id="{377042CB-89C8-BB63-A99C-D536705C0A27}"/>
              </a:ext>
            </a:extLst>
          </p:cNvPr>
          <p:cNvPicPr>
            <a:picLocks noChangeAspect="1"/>
          </p:cNvPicPr>
          <p:nvPr/>
        </p:nvPicPr>
        <p:blipFill>
          <a:blip r:embed="rId4"/>
          <a:stretch>
            <a:fillRect/>
          </a:stretch>
        </p:blipFill>
        <p:spPr>
          <a:xfrm>
            <a:off x="513621" y="3487308"/>
            <a:ext cx="4704921" cy="2979438"/>
          </a:xfrm>
          <a:prstGeom prst="rect">
            <a:avLst/>
          </a:prstGeom>
        </p:spPr>
      </p:pic>
      <p:pic>
        <p:nvPicPr>
          <p:cNvPr id="14" name="Picture 13" descr="A graph with a line graph and text&#10;&#10;Description automatically generated">
            <a:extLst>
              <a:ext uri="{FF2B5EF4-FFF2-40B4-BE49-F238E27FC236}">
                <a16:creationId xmlns:a16="http://schemas.microsoft.com/office/drawing/2014/main" id="{3566E98F-ADB9-97FD-DF90-ECD5BFF8F4FE}"/>
              </a:ext>
            </a:extLst>
          </p:cNvPr>
          <p:cNvPicPr>
            <a:picLocks noChangeAspect="1"/>
          </p:cNvPicPr>
          <p:nvPr/>
        </p:nvPicPr>
        <p:blipFill>
          <a:blip r:embed="rId5"/>
          <a:stretch>
            <a:fillRect/>
          </a:stretch>
        </p:blipFill>
        <p:spPr>
          <a:xfrm>
            <a:off x="6578513" y="3487308"/>
            <a:ext cx="4698486" cy="2979437"/>
          </a:xfrm>
          <a:prstGeom prst="rect">
            <a:avLst/>
          </a:prstGeom>
        </p:spPr>
      </p:pic>
    </p:spTree>
    <p:extLst>
      <p:ext uri="{BB962C8B-B14F-4D97-AF65-F5344CB8AC3E}">
        <p14:creationId xmlns:p14="http://schemas.microsoft.com/office/powerpoint/2010/main" val="25323939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asted-image.pdf" descr="pasted-image.pdf">
            <a:extLst>
              <a:ext uri="{FF2B5EF4-FFF2-40B4-BE49-F238E27FC236}">
                <a16:creationId xmlns:a16="http://schemas.microsoft.com/office/drawing/2014/main" id="{C013E50F-EFC8-F14B-B89B-31358936CE29}"/>
              </a:ext>
            </a:extLst>
          </p:cNvPr>
          <p:cNvPicPr>
            <a:picLocks noChangeAspect="1"/>
          </p:cNvPicPr>
          <p:nvPr/>
        </p:nvPicPr>
        <p:blipFill>
          <a:blip r:embed="rId3"/>
          <a:stretch>
            <a:fillRect/>
          </a:stretch>
        </p:blipFill>
        <p:spPr>
          <a:xfrm>
            <a:off x="400179" y="202740"/>
            <a:ext cx="227497" cy="227497"/>
          </a:xfrm>
          <a:prstGeom prst="rect">
            <a:avLst/>
          </a:prstGeom>
          <a:ln w="12700">
            <a:miter lim="400000"/>
          </a:ln>
        </p:spPr>
      </p:pic>
      <p:sp>
        <p:nvSpPr>
          <p:cNvPr id="23" name="MEET OUR TEAM">
            <a:extLst>
              <a:ext uri="{FF2B5EF4-FFF2-40B4-BE49-F238E27FC236}">
                <a16:creationId xmlns:a16="http://schemas.microsoft.com/office/drawing/2014/main" id="{E3365DE4-8A2E-5142-8B94-0FDEBECD92AC}"/>
              </a:ext>
            </a:extLst>
          </p:cNvPr>
          <p:cNvSpPr/>
          <p:nvPr/>
        </p:nvSpPr>
        <p:spPr>
          <a:xfrm>
            <a:off x="627676" y="-216976"/>
            <a:ext cx="10826223" cy="1066927"/>
          </a:xfrm>
          <a:prstGeom prst="rect">
            <a:avLst/>
          </a:prstGeom>
          <a:ln w="12700">
            <a:miter lim="400000"/>
          </a:ln>
          <a:extLst>
            <a:ext uri="{C572A759-6A51-4108-AA02-DFA0A04FC94B}">
              <ma14:wrappingTextBoxFlag xmlns:ma14="http://schemas.microsoft.com/office/mac/drawingml/2011/main" xmlns="" val="1"/>
            </a:ext>
          </a:extLst>
        </p:spPr>
        <p:txBody>
          <a:bodyPr lIns="45719" rIns="45719" anchor="b">
            <a:noAutofit/>
          </a:bodyPr>
          <a:lstStyle>
            <a:lvl1pPr defTabSz="859536">
              <a:lnSpc>
                <a:spcPct val="90000"/>
              </a:lnSpc>
              <a:defRPr sz="3759" spc="188">
                <a:solidFill>
                  <a:srgbClr val="585C5E"/>
                </a:solidFill>
                <a:latin typeface="Acherus Grotesque Regular"/>
                <a:ea typeface="Acherus Grotesque Regular"/>
                <a:cs typeface="Acherus Grotesque Regular"/>
                <a:sym typeface="Acherus Grotesque"/>
              </a:defRPr>
            </a:lvl1pPr>
          </a:lstStyle>
          <a:p>
            <a:pPr marL="0" marR="0" lvl="0" indent="0" algn="l" defTabSz="859536" rtl="0" eaLnBrk="1" fontAlgn="auto" latinLnBrk="0" hangingPunct="0">
              <a:lnSpc>
                <a:spcPct val="9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861F41"/>
                </a:solidFill>
                <a:effectLst/>
                <a:uLnTx/>
                <a:uFillTx/>
                <a:latin typeface="Arial" panose="020B0604020202020204" pitchFamily="34" charset="0"/>
                <a:cs typeface="Arial" panose="020B0604020202020204" pitchFamily="34" charset="0"/>
                <a:sym typeface="Acherus Grotesque"/>
              </a:rPr>
              <a:t>Background of Generative Agents</a:t>
            </a:r>
          </a:p>
        </p:txBody>
      </p:sp>
      <p:grpSp>
        <p:nvGrpSpPr>
          <p:cNvPr id="2" name="Group 1">
            <a:extLst>
              <a:ext uri="{FF2B5EF4-FFF2-40B4-BE49-F238E27FC236}">
                <a16:creationId xmlns:a16="http://schemas.microsoft.com/office/drawing/2014/main" id="{DC23AAE7-2FA3-905B-1AC7-9512857FA7AD}"/>
              </a:ext>
            </a:extLst>
          </p:cNvPr>
          <p:cNvGrpSpPr/>
          <p:nvPr/>
        </p:nvGrpSpPr>
        <p:grpSpPr>
          <a:xfrm>
            <a:off x="9528983" y="3649696"/>
            <a:ext cx="2663017" cy="1257531"/>
            <a:chOff x="0" y="1277940"/>
            <a:chExt cx="12192000" cy="4850755"/>
          </a:xfrm>
        </p:grpSpPr>
        <p:pic>
          <p:nvPicPr>
            <p:cNvPr id="4" name="Picture 3">
              <a:extLst>
                <a:ext uri="{FF2B5EF4-FFF2-40B4-BE49-F238E27FC236}">
                  <a16:creationId xmlns:a16="http://schemas.microsoft.com/office/drawing/2014/main" id="{9333BD8C-8245-53B1-3798-2658D26783B3}"/>
                </a:ext>
              </a:extLst>
            </p:cNvPr>
            <p:cNvPicPr>
              <a:picLocks noChangeAspect="1"/>
            </p:cNvPicPr>
            <p:nvPr/>
          </p:nvPicPr>
          <p:blipFill>
            <a:blip r:embed="rId4"/>
            <a:stretch>
              <a:fillRect/>
            </a:stretch>
          </p:blipFill>
          <p:spPr>
            <a:xfrm>
              <a:off x="0" y="1277940"/>
              <a:ext cx="12192000" cy="4850755"/>
            </a:xfrm>
            <a:prstGeom prst="rect">
              <a:avLst/>
            </a:prstGeom>
          </p:spPr>
        </p:pic>
        <p:pic>
          <p:nvPicPr>
            <p:cNvPr id="1028" name="Picture 4" descr="What is ChatGPT?">
              <a:extLst>
                <a:ext uri="{FF2B5EF4-FFF2-40B4-BE49-F238E27FC236}">
                  <a16:creationId xmlns:a16="http://schemas.microsoft.com/office/drawing/2014/main" id="{08B946AC-D71F-52B0-EDBC-08EA0CB390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3927" y="3180522"/>
              <a:ext cx="1189099" cy="665895"/>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extBox 2">
            <a:extLst>
              <a:ext uri="{FF2B5EF4-FFF2-40B4-BE49-F238E27FC236}">
                <a16:creationId xmlns:a16="http://schemas.microsoft.com/office/drawing/2014/main" id="{C6593268-2AF8-44C1-BEAC-EF229FA1769A}"/>
              </a:ext>
            </a:extLst>
          </p:cNvPr>
          <p:cNvSpPr txBox="1"/>
          <p:nvPr/>
        </p:nvSpPr>
        <p:spPr>
          <a:xfrm>
            <a:off x="627676" y="1150477"/>
            <a:ext cx="8945284" cy="54168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kern="0" dirty="0">
                <a:solidFill>
                  <a:schemeClr val="accent2"/>
                </a:solidFill>
                <a:latin typeface="Arial" panose="020B0604020202020204" pitchFamily="34" charset="0"/>
                <a:cs typeface="Arial" panose="020B0604020202020204" pitchFamily="34" charset="0"/>
                <a:sym typeface="Acherus Grotesque"/>
              </a:rPr>
              <a:t>Prompt-Response models:</a:t>
            </a:r>
          </a:p>
          <a:p>
            <a:pPr marL="285750" lvl="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Kahneman tests</a:t>
            </a:r>
            <a:r>
              <a:rPr lang="en-US" sz="1400" dirty="0">
                <a:latin typeface="Arial" panose="020B0604020202020204" pitchFamily="34" charset="0"/>
                <a:cs typeface="Arial" panose="020B0604020202020204" pitchFamily="34" charset="0"/>
              </a:rPr>
              <a:t>: </a:t>
            </a:r>
            <a:r>
              <a:rPr lang="en-US" sz="1400" dirty="0" err="1">
                <a:solidFill>
                  <a:schemeClr val="accent2"/>
                </a:solidFill>
                <a:latin typeface="Arial" panose="020B0604020202020204" pitchFamily="34" charset="0"/>
                <a:cs typeface="Arial" panose="020B0604020202020204" pitchFamily="34" charset="0"/>
              </a:rPr>
              <a:t>Binz</a:t>
            </a:r>
            <a:r>
              <a:rPr lang="en-US" sz="1400" dirty="0">
                <a:solidFill>
                  <a:schemeClr val="accent2"/>
                </a:solidFill>
                <a:latin typeface="Arial" panose="020B0604020202020204" pitchFamily="34" charset="0"/>
                <a:cs typeface="Arial" panose="020B0604020202020204" pitchFamily="34" charset="0"/>
              </a:rPr>
              <a:t>, M., &amp; Schulz, E. (2023). Using cognitive psychology to understand GPT-3. Proceedings of the National Academy of Sciences, 120(6), e2218523120.</a:t>
            </a:r>
          </a:p>
          <a:p>
            <a:pPr marL="285750" lvl="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Kahneman tests: </a:t>
            </a:r>
            <a:r>
              <a:rPr lang="en-US" sz="1400" dirty="0">
                <a:solidFill>
                  <a:schemeClr val="accent2"/>
                </a:solidFill>
                <a:latin typeface="Arial" panose="020B0604020202020204" pitchFamily="34" charset="0"/>
                <a:cs typeface="Arial" panose="020B0604020202020204" pitchFamily="34" charset="0"/>
              </a:rPr>
              <a:t>Horton, J. J. (2023). Large language models as simulated economic agents: What can we learn from homo </a:t>
            </a:r>
            <a:r>
              <a:rPr lang="en-US" sz="1400" dirty="0" err="1">
                <a:solidFill>
                  <a:schemeClr val="accent2"/>
                </a:solidFill>
                <a:latin typeface="Arial" panose="020B0604020202020204" pitchFamily="34" charset="0"/>
                <a:cs typeface="Arial" panose="020B0604020202020204" pitchFamily="34" charset="0"/>
              </a:rPr>
              <a:t>silicus</a:t>
            </a:r>
            <a:r>
              <a:rPr lang="en-US" sz="1400" dirty="0">
                <a:solidFill>
                  <a:schemeClr val="accent2"/>
                </a:solidFill>
                <a:latin typeface="Arial" panose="020B0604020202020204" pitchFamily="34" charset="0"/>
                <a:cs typeface="Arial" panose="020B0604020202020204" pitchFamily="34" charset="0"/>
              </a:rPr>
              <a:t>? (No. w31122). National Bureau of Economic Research.</a:t>
            </a: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Big Five Traits: </a:t>
            </a:r>
            <a:r>
              <a:rPr lang="en-US" sz="1400" dirty="0">
                <a:solidFill>
                  <a:schemeClr val="accent2"/>
                </a:solidFill>
                <a:latin typeface="Arial" panose="020B0604020202020204" pitchFamily="34" charset="0"/>
                <a:cs typeface="Arial" panose="020B0604020202020204" pitchFamily="34" charset="0"/>
              </a:rPr>
              <a:t>Jiang, H., Zhang, X., Cao, X., </a:t>
            </a:r>
            <a:r>
              <a:rPr lang="en-US" sz="1400" dirty="0" err="1">
                <a:solidFill>
                  <a:schemeClr val="accent2"/>
                </a:solidFill>
                <a:latin typeface="Arial" panose="020B0604020202020204" pitchFamily="34" charset="0"/>
                <a:cs typeface="Arial" panose="020B0604020202020204" pitchFamily="34" charset="0"/>
              </a:rPr>
              <a:t>Kabbara</a:t>
            </a:r>
            <a:r>
              <a:rPr lang="en-US" sz="1400" dirty="0">
                <a:solidFill>
                  <a:schemeClr val="accent2"/>
                </a:solidFill>
                <a:latin typeface="Arial" panose="020B0604020202020204" pitchFamily="34" charset="0"/>
                <a:cs typeface="Arial" panose="020B0604020202020204" pitchFamily="34" charset="0"/>
              </a:rPr>
              <a:t>, J., &amp; Roy, D. (2023). </a:t>
            </a:r>
            <a:r>
              <a:rPr lang="en-US" sz="1400" dirty="0" err="1">
                <a:solidFill>
                  <a:schemeClr val="accent2"/>
                </a:solidFill>
                <a:latin typeface="Arial" panose="020B0604020202020204" pitchFamily="34" charset="0"/>
                <a:cs typeface="Arial" panose="020B0604020202020204" pitchFamily="34" charset="0"/>
              </a:rPr>
              <a:t>Personallm</a:t>
            </a:r>
            <a:r>
              <a:rPr lang="en-US" sz="1400" dirty="0">
                <a:solidFill>
                  <a:schemeClr val="accent2"/>
                </a:solidFill>
                <a:latin typeface="Arial" panose="020B0604020202020204" pitchFamily="34" charset="0"/>
                <a:cs typeface="Arial" panose="020B0604020202020204" pitchFamily="34" charset="0"/>
              </a:rPr>
              <a:t>: Investigating the ability of gpt-3.5 to express personality traits and gender differences. </a:t>
            </a:r>
            <a:r>
              <a:rPr lang="en-US" sz="1400" dirty="0" err="1">
                <a:solidFill>
                  <a:schemeClr val="accent2"/>
                </a:solidFill>
                <a:latin typeface="Arial" panose="020B0604020202020204" pitchFamily="34" charset="0"/>
                <a:cs typeface="Arial" panose="020B0604020202020204" pitchFamily="34" charset="0"/>
              </a:rPr>
              <a:t>arXiv</a:t>
            </a:r>
            <a:r>
              <a:rPr lang="en-US" sz="1400" dirty="0">
                <a:solidFill>
                  <a:schemeClr val="accent2"/>
                </a:solidFill>
                <a:latin typeface="Arial" panose="020B0604020202020204" pitchFamily="34" charset="0"/>
                <a:cs typeface="Arial" panose="020B0604020202020204" pitchFamily="34" charset="0"/>
              </a:rPr>
              <a:t> preprint arXiv:2305.02547.</a:t>
            </a:r>
          </a:p>
          <a:p>
            <a:pPr marL="171450" indent="-171450">
              <a:buFont typeface="Arial" panose="020B0604020202020204" pitchFamily="34" charset="0"/>
              <a:buChar char="•"/>
            </a:pPr>
            <a:endParaRPr lang="en-US" sz="1200" kern="0" dirty="0">
              <a:solidFill>
                <a:schemeClr val="accent2"/>
              </a:solidFill>
              <a:latin typeface="Arial" panose="020B0604020202020204" pitchFamily="34" charset="0"/>
              <a:cs typeface="Arial" panose="020B0604020202020204" pitchFamily="34" charset="0"/>
              <a:sym typeface="Acherus Grotesque"/>
            </a:endParaRPr>
          </a:p>
          <a:p>
            <a:endParaRPr lang="en-US" sz="1200" kern="0" dirty="0">
              <a:solidFill>
                <a:schemeClr val="accent2"/>
              </a:solidFill>
              <a:latin typeface="Arial" panose="020B0604020202020204" pitchFamily="34" charset="0"/>
              <a:cs typeface="Arial" panose="020B0604020202020204" pitchFamily="34" charset="0"/>
              <a:sym typeface="Acherus Grotesque"/>
            </a:endParaRPr>
          </a:p>
          <a:p>
            <a:r>
              <a:rPr lang="en-US" sz="2400" kern="0" dirty="0">
                <a:solidFill>
                  <a:schemeClr val="accent2"/>
                </a:solidFill>
                <a:latin typeface="Arial" panose="020B0604020202020204" pitchFamily="34" charset="0"/>
                <a:cs typeface="Arial" panose="020B0604020202020204" pitchFamily="34" charset="0"/>
                <a:sym typeface="Acherus Grotesque"/>
              </a:rPr>
              <a:t>Dynamic Models:</a:t>
            </a:r>
          </a:p>
          <a:p>
            <a:pPr marL="171450" indent="-171450">
              <a:buFont typeface="Arial" panose="020B0604020202020204" pitchFamily="34" charset="0"/>
              <a:buChar char="•"/>
            </a:pPr>
            <a:r>
              <a:rPr lang="en-US" sz="1400" b="1" kern="0" dirty="0">
                <a:solidFill>
                  <a:schemeClr val="accent1"/>
                </a:solidFill>
                <a:latin typeface="Arial" panose="020B0604020202020204" pitchFamily="34" charset="0"/>
                <a:cs typeface="Arial" panose="020B0604020202020204" pitchFamily="34" charset="0"/>
                <a:sym typeface="Acherus Grotesque"/>
              </a:rPr>
              <a:t>Tacit Collusion Model: </a:t>
            </a:r>
            <a:r>
              <a:rPr lang="en-US" sz="1400" kern="0" dirty="0">
                <a:solidFill>
                  <a:schemeClr val="accent2"/>
                </a:solidFill>
                <a:latin typeface="Arial" panose="020B0604020202020204" pitchFamily="34" charset="0"/>
                <a:cs typeface="Arial" panose="020B0604020202020204" pitchFamily="34" charset="0"/>
                <a:sym typeface="Acherus Grotesque"/>
              </a:rPr>
              <a:t>Han, X., Wu, Z., &amp; Xiao, C. (2023). “ Guinea Pig Trials” Utilizing GPT: A Novel Smart Agent-Based Modeling Approach for Studying Firm Competition and Collusion. </a:t>
            </a:r>
            <a:r>
              <a:rPr lang="en-US" sz="1400" kern="0" dirty="0" err="1">
                <a:solidFill>
                  <a:schemeClr val="accent2"/>
                </a:solidFill>
                <a:latin typeface="Arial" panose="020B0604020202020204" pitchFamily="34" charset="0"/>
                <a:cs typeface="Arial" panose="020B0604020202020204" pitchFamily="34" charset="0"/>
                <a:sym typeface="Acherus Grotesque"/>
              </a:rPr>
              <a:t>arXiv</a:t>
            </a:r>
            <a:r>
              <a:rPr lang="en-US" sz="1400" kern="0" dirty="0">
                <a:solidFill>
                  <a:schemeClr val="accent2"/>
                </a:solidFill>
                <a:latin typeface="Arial" panose="020B0604020202020204" pitchFamily="34" charset="0"/>
                <a:cs typeface="Arial" panose="020B0604020202020204" pitchFamily="34" charset="0"/>
                <a:sym typeface="Acherus Grotesque"/>
              </a:rPr>
              <a:t> preprint arXiv:2308.10974</a:t>
            </a:r>
          </a:p>
          <a:p>
            <a:pPr marL="171450" indent="-171450">
              <a:buFont typeface="Arial" panose="020B0604020202020204" pitchFamily="34" charset="0"/>
              <a:buChar char="•"/>
            </a:pPr>
            <a:r>
              <a:rPr lang="en-US" sz="1400" b="1" kern="0" dirty="0">
                <a:solidFill>
                  <a:schemeClr val="accent1"/>
                </a:solidFill>
                <a:latin typeface="Arial" panose="020B0604020202020204" pitchFamily="34" charset="0"/>
                <a:cs typeface="Arial" panose="020B0604020202020204" pitchFamily="34" charset="0"/>
                <a:sym typeface="Acherus Grotesque"/>
              </a:rPr>
              <a:t>Information Diffusion Model: </a:t>
            </a:r>
            <a:r>
              <a:rPr lang="en-US" sz="1400" kern="0" dirty="0">
                <a:solidFill>
                  <a:schemeClr val="accent2"/>
                </a:solidFill>
                <a:latin typeface="Arial" panose="020B0604020202020204" pitchFamily="34" charset="0"/>
                <a:cs typeface="Arial" panose="020B0604020202020204" pitchFamily="34" charset="0"/>
                <a:sym typeface="Acherus Grotesque"/>
              </a:rPr>
              <a:t>Park, J. S., O’Brien, J. C., Cai, C. J., Morris, M. R., Liang, P., &amp; Bernstein, M. S. (2023). Generative agents: Interactive simulacra of human behavior. </a:t>
            </a:r>
            <a:r>
              <a:rPr lang="en-US" sz="1400" kern="0" dirty="0" err="1">
                <a:solidFill>
                  <a:schemeClr val="accent2"/>
                </a:solidFill>
                <a:latin typeface="Arial" panose="020B0604020202020204" pitchFamily="34" charset="0"/>
                <a:cs typeface="Arial" panose="020B0604020202020204" pitchFamily="34" charset="0"/>
                <a:sym typeface="Acherus Grotesque"/>
              </a:rPr>
              <a:t>arXiv</a:t>
            </a:r>
            <a:r>
              <a:rPr lang="en-US" sz="1400" kern="0" dirty="0">
                <a:solidFill>
                  <a:schemeClr val="accent2"/>
                </a:solidFill>
                <a:latin typeface="Arial" panose="020B0604020202020204" pitchFamily="34" charset="0"/>
                <a:cs typeface="Arial" panose="020B0604020202020204" pitchFamily="34" charset="0"/>
                <a:sym typeface="Acherus Grotesque"/>
              </a:rPr>
              <a:t> preprint arXiv:2304.03442.</a:t>
            </a:r>
          </a:p>
          <a:p>
            <a:pPr marL="171450" indent="-171450">
              <a:buFont typeface="Arial" panose="020B0604020202020204" pitchFamily="34" charset="0"/>
              <a:buChar char="•"/>
            </a:pPr>
            <a:r>
              <a:rPr lang="en-US" sz="1400" b="1" kern="0" dirty="0">
                <a:solidFill>
                  <a:schemeClr val="accent1"/>
                </a:solidFill>
                <a:latin typeface="Arial" panose="020B0604020202020204" pitchFamily="34" charset="0"/>
                <a:cs typeface="Arial" panose="020B0604020202020204" pitchFamily="34" charset="0"/>
                <a:sym typeface="Acherus Grotesque"/>
              </a:rPr>
              <a:t>Epidemic Model: </a:t>
            </a:r>
            <a:r>
              <a:rPr lang="en-US" sz="1400" kern="0" dirty="0">
                <a:solidFill>
                  <a:schemeClr val="accent2"/>
                </a:solidFill>
                <a:latin typeface="Arial" panose="020B0604020202020204" pitchFamily="34" charset="0"/>
                <a:cs typeface="Arial" panose="020B0604020202020204" pitchFamily="34" charset="0"/>
                <a:sym typeface="Acherus Grotesque"/>
              </a:rPr>
              <a:t>Williams, R., </a:t>
            </a:r>
            <a:r>
              <a:rPr lang="en-US" sz="1400" kern="0" dirty="0" err="1">
                <a:solidFill>
                  <a:schemeClr val="accent2"/>
                </a:solidFill>
                <a:latin typeface="Arial" panose="020B0604020202020204" pitchFamily="34" charset="0"/>
                <a:cs typeface="Arial" panose="020B0604020202020204" pitchFamily="34" charset="0"/>
                <a:sym typeface="Acherus Grotesque"/>
              </a:rPr>
              <a:t>Hosseinichimeh</a:t>
            </a:r>
            <a:r>
              <a:rPr lang="en-US" sz="1400" kern="0" dirty="0">
                <a:solidFill>
                  <a:schemeClr val="accent2"/>
                </a:solidFill>
                <a:latin typeface="Arial" panose="020B0604020202020204" pitchFamily="34" charset="0"/>
                <a:cs typeface="Arial" panose="020B0604020202020204" pitchFamily="34" charset="0"/>
                <a:sym typeface="Acherus Grotesque"/>
              </a:rPr>
              <a:t>, N., Majumdar, A., &amp; </a:t>
            </a:r>
            <a:r>
              <a:rPr lang="en-US" sz="1400" kern="0" dirty="0" err="1">
                <a:solidFill>
                  <a:schemeClr val="accent2"/>
                </a:solidFill>
                <a:latin typeface="Arial" panose="020B0604020202020204" pitchFamily="34" charset="0"/>
                <a:cs typeface="Arial" panose="020B0604020202020204" pitchFamily="34" charset="0"/>
                <a:sym typeface="Acherus Grotesque"/>
              </a:rPr>
              <a:t>Ghaffarzadegan</a:t>
            </a:r>
            <a:r>
              <a:rPr lang="en-US" sz="1400" kern="0" dirty="0">
                <a:solidFill>
                  <a:schemeClr val="accent2"/>
                </a:solidFill>
                <a:latin typeface="Arial" panose="020B0604020202020204" pitchFamily="34" charset="0"/>
                <a:cs typeface="Arial" panose="020B0604020202020204" pitchFamily="34" charset="0"/>
                <a:sym typeface="Acherus Grotesque"/>
              </a:rPr>
              <a:t>, N. (2023). Epidemic Modeling with Generative Agents. </a:t>
            </a:r>
            <a:r>
              <a:rPr lang="en-US" sz="1400" kern="0" dirty="0" err="1">
                <a:solidFill>
                  <a:schemeClr val="accent2"/>
                </a:solidFill>
                <a:latin typeface="Arial" panose="020B0604020202020204" pitchFamily="34" charset="0"/>
                <a:cs typeface="Arial" panose="020B0604020202020204" pitchFamily="34" charset="0"/>
                <a:sym typeface="Acherus Grotesque"/>
              </a:rPr>
              <a:t>arXiv</a:t>
            </a:r>
            <a:r>
              <a:rPr lang="en-US" sz="1400" kern="0" dirty="0">
                <a:solidFill>
                  <a:schemeClr val="accent2"/>
                </a:solidFill>
                <a:latin typeface="Arial" panose="020B0604020202020204" pitchFamily="34" charset="0"/>
                <a:cs typeface="Arial" panose="020B0604020202020204" pitchFamily="34" charset="0"/>
                <a:sym typeface="Acherus Grotesque"/>
              </a:rPr>
              <a:t> preprint arXiv:2307.04986.</a:t>
            </a:r>
          </a:p>
          <a:p>
            <a:pPr marL="171450" indent="-171450">
              <a:buFont typeface="Arial" panose="020B0604020202020204" pitchFamily="34" charset="0"/>
              <a:buChar char="•"/>
            </a:pPr>
            <a:r>
              <a:rPr lang="en-US" sz="1400" b="1" kern="0" dirty="0">
                <a:solidFill>
                  <a:schemeClr val="accent1"/>
                </a:solidFill>
                <a:latin typeface="Arial" panose="020B0604020202020204" pitchFamily="34" charset="0"/>
                <a:cs typeface="Arial" panose="020B0604020202020204" pitchFamily="34" charset="0"/>
                <a:sym typeface="Acherus Grotesque"/>
              </a:rPr>
              <a:t>Prisoner’s Dilemma &amp; Battles of the Sexes: </a:t>
            </a:r>
            <a:r>
              <a:rPr lang="en-US" sz="1400" kern="0" dirty="0" err="1">
                <a:solidFill>
                  <a:schemeClr val="accent2"/>
                </a:solidFill>
                <a:latin typeface="Arial" panose="020B0604020202020204" pitchFamily="34" charset="0"/>
                <a:cs typeface="Arial" panose="020B0604020202020204" pitchFamily="34" charset="0"/>
                <a:sym typeface="Acherus Grotesque"/>
              </a:rPr>
              <a:t>Akata</a:t>
            </a:r>
            <a:r>
              <a:rPr lang="en-US" sz="1400" kern="0" dirty="0">
                <a:solidFill>
                  <a:schemeClr val="accent2"/>
                </a:solidFill>
                <a:latin typeface="Arial" panose="020B0604020202020204" pitchFamily="34" charset="0"/>
                <a:cs typeface="Arial" panose="020B0604020202020204" pitchFamily="34" charset="0"/>
                <a:sym typeface="Acherus Grotesque"/>
              </a:rPr>
              <a:t>, E., Schulz, L., Coda-</a:t>
            </a:r>
            <a:r>
              <a:rPr lang="en-US" sz="1400" kern="0" dirty="0" err="1">
                <a:solidFill>
                  <a:schemeClr val="accent2"/>
                </a:solidFill>
                <a:latin typeface="Arial" panose="020B0604020202020204" pitchFamily="34" charset="0"/>
                <a:cs typeface="Arial" panose="020B0604020202020204" pitchFamily="34" charset="0"/>
                <a:sym typeface="Acherus Grotesque"/>
              </a:rPr>
              <a:t>Forno</a:t>
            </a:r>
            <a:r>
              <a:rPr lang="en-US" sz="1400" kern="0" dirty="0">
                <a:solidFill>
                  <a:schemeClr val="accent2"/>
                </a:solidFill>
                <a:latin typeface="Arial" panose="020B0604020202020204" pitchFamily="34" charset="0"/>
                <a:cs typeface="Arial" panose="020B0604020202020204" pitchFamily="34" charset="0"/>
                <a:sym typeface="Acherus Grotesque"/>
              </a:rPr>
              <a:t>, J., Oh, S. J., </a:t>
            </a:r>
            <a:r>
              <a:rPr lang="en-US" sz="1400" kern="0" dirty="0" err="1">
                <a:solidFill>
                  <a:schemeClr val="accent2"/>
                </a:solidFill>
                <a:latin typeface="Arial" panose="020B0604020202020204" pitchFamily="34" charset="0"/>
                <a:cs typeface="Arial" panose="020B0604020202020204" pitchFamily="34" charset="0"/>
                <a:sym typeface="Acherus Grotesque"/>
              </a:rPr>
              <a:t>Bethge</a:t>
            </a:r>
            <a:r>
              <a:rPr lang="en-US" sz="1400" kern="0" dirty="0">
                <a:solidFill>
                  <a:schemeClr val="accent2"/>
                </a:solidFill>
                <a:latin typeface="Arial" panose="020B0604020202020204" pitchFamily="34" charset="0"/>
                <a:cs typeface="Arial" panose="020B0604020202020204" pitchFamily="34" charset="0"/>
                <a:sym typeface="Acherus Grotesque"/>
              </a:rPr>
              <a:t>, M., &amp; Schulz, E. (2023). Playing repeated games with Large Language Models. </a:t>
            </a:r>
            <a:r>
              <a:rPr lang="en-US" sz="1400" kern="0" dirty="0" err="1">
                <a:solidFill>
                  <a:schemeClr val="accent2"/>
                </a:solidFill>
                <a:latin typeface="Arial" panose="020B0604020202020204" pitchFamily="34" charset="0"/>
                <a:cs typeface="Arial" panose="020B0604020202020204" pitchFamily="34" charset="0"/>
                <a:sym typeface="Acherus Grotesque"/>
              </a:rPr>
              <a:t>arXiv</a:t>
            </a:r>
            <a:r>
              <a:rPr lang="en-US" sz="1400" kern="0" dirty="0">
                <a:solidFill>
                  <a:schemeClr val="accent2"/>
                </a:solidFill>
                <a:latin typeface="Arial" panose="020B0604020202020204" pitchFamily="34" charset="0"/>
                <a:cs typeface="Arial" panose="020B0604020202020204" pitchFamily="34" charset="0"/>
                <a:sym typeface="Acherus Grotesque"/>
              </a:rPr>
              <a:t> preprint arXiv:2305.16867.</a:t>
            </a:r>
          </a:p>
          <a:p>
            <a:pPr marL="171450" indent="-171450">
              <a:buFont typeface="Arial" panose="020B0604020202020204" pitchFamily="34" charset="0"/>
              <a:buChar char="•"/>
            </a:pPr>
            <a:r>
              <a:rPr lang="en-US" sz="1400" b="1" kern="0" dirty="0">
                <a:solidFill>
                  <a:schemeClr val="accent1"/>
                </a:solidFill>
                <a:latin typeface="Arial" panose="020B0604020202020204" pitchFamily="34" charset="0"/>
                <a:cs typeface="Arial" panose="020B0604020202020204" pitchFamily="34" charset="0"/>
                <a:sym typeface="Acherus Grotesque"/>
              </a:rPr>
              <a:t>Prisoner’s Dilemma: </a:t>
            </a:r>
            <a:r>
              <a:rPr lang="en-US" sz="1400" kern="0" dirty="0">
                <a:solidFill>
                  <a:schemeClr val="accent2"/>
                </a:solidFill>
                <a:latin typeface="Arial" panose="020B0604020202020204" pitchFamily="34" charset="0"/>
                <a:cs typeface="Arial" panose="020B0604020202020204" pitchFamily="34" charset="0"/>
                <a:sym typeface="Acherus Grotesque"/>
              </a:rPr>
              <a:t>Phelps, S., &amp; Russell, Y. I. (2023). Investigating emergent goal-like </a:t>
            </a:r>
            <a:r>
              <a:rPr lang="en-US" sz="1400" kern="0" dirty="0" err="1">
                <a:solidFill>
                  <a:schemeClr val="accent2"/>
                </a:solidFill>
                <a:latin typeface="Arial" panose="020B0604020202020204" pitchFamily="34" charset="0"/>
                <a:cs typeface="Arial" panose="020B0604020202020204" pitchFamily="34" charset="0"/>
                <a:sym typeface="Acherus Grotesque"/>
              </a:rPr>
              <a:t>behaviour</a:t>
            </a:r>
            <a:r>
              <a:rPr lang="en-US" sz="1400" kern="0" dirty="0">
                <a:solidFill>
                  <a:schemeClr val="accent2"/>
                </a:solidFill>
                <a:latin typeface="Arial" panose="020B0604020202020204" pitchFamily="34" charset="0"/>
                <a:cs typeface="Arial" panose="020B0604020202020204" pitchFamily="34" charset="0"/>
                <a:sym typeface="Acherus Grotesque"/>
              </a:rPr>
              <a:t> in large language models using experimental economics. </a:t>
            </a:r>
            <a:r>
              <a:rPr lang="en-US" sz="1400" kern="0" dirty="0" err="1">
                <a:solidFill>
                  <a:schemeClr val="accent2"/>
                </a:solidFill>
                <a:latin typeface="Arial" panose="020B0604020202020204" pitchFamily="34" charset="0"/>
                <a:cs typeface="Arial" panose="020B0604020202020204" pitchFamily="34" charset="0"/>
                <a:sym typeface="Acherus Grotesque"/>
              </a:rPr>
              <a:t>arXiv</a:t>
            </a:r>
            <a:r>
              <a:rPr lang="en-US" sz="1400" kern="0" dirty="0">
                <a:solidFill>
                  <a:schemeClr val="accent2"/>
                </a:solidFill>
                <a:latin typeface="Arial" panose="020B0604020202020204" pitchFamily="34" charset="0"/>
                <a:cs typeface="Arial" panose="020B0604020202020204" pitchFamily="34" charset="0"/>
                <a:sym typeface="Acherus Grotesque"/>
              </a:rPr>
              <a:t> preprint arXiv:2305.07970.</a:t>
            </a:r>
          </a:p>
          <a:p>
            <a:endParaRPr lang="en-US" sz="1200" kern="0" dirty="0">
              <a:solidFill>
                <a:schemeClr val="accent2"/>
              </a:solidFill>
              <a:latin typeface="Arial" panose="020B0604020202020204" pitchFamily="34" charset="0"/>
              <a:cs typeface="Arial" panose="020B0604020202020204" pitchFamily="34" charset="0"/>
              <a:sym typeface="Acherus Grotesque"/>
            </a:endParaRPr>
          </a:p>
          <a:p>
            <a:endParaRPr lang="en-US" sz="1200" kern="0" dirty="0">
              <a:solidFill>
                <a:schemeClr val="accent2"/>
              </a:solidFill>
              <a:latin typeface="Arial" panose="020B0604020202020204" pitchFamily="34" charset="0"/>
              <a:cs typeface="Arial" panose="020B0604020202020204" pitchFamily="34" charset="0"/>
              <a:sym typeface="Acherus Grotesque"/>
            </a:endParaRPr>
          </a:p>
          <a:p>
            <a:pPr marL="514350" indent="-514350">
              <a:buFont typeface="Arial" panose="020B0604020202020204" pitchFamily="34" charset="0"/>
              <a:buChar char="•"/>
            </a:pPr>
            <a:endParaRPr lang="en-US" sz="1200" kern="0" dirty="0">
              <a:solidFill>
                <a:schemeClr val="accent2"/>
              </a:solidFill>
              <a:latin typeface="Arial" panose="020B0604020202020204" pitchFamily="34" charset="0"/>
              <a:cs typeface="Arial" panose="020B0604020202020204" pitchFamily="34" charset="0"/>
              <a:sym typeface="Acherus Grotesque"/>
            </a:endParaRPr>
          </a:p>
        </p:txBody>
      </p:sp>
      <p:sp>
        <p:nvSpPr>
          <p:cNvPr id="10" name="TextBox 9">
            <a:extLst>
              <a:ext uri="{FF2B5EF4-FFF2-40B4-BE49-F238E27FC236}">
                <a16:creationId xmlns:a16="http://schemas.microsoft.com/office/drawing/2014/main" id="{402DC4D5-68DB-A988-3E38-C7746CFDEDF8}"/>
              </a:ext>
            </a:extLst>
          </p:cNvPr>
          <p:cNvSpPr txBox="1"/>
          <p:nvPr/>
        </p:nvSpPr>
        <p:spPr>
          <a:xfrm>
            <a:off x="627676" y="6139029"/>
            <a:ext cx="7214574"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800" b="1" kern="0" dirty="0">
                <a:latin typeface="Arial" panose="020B0604020202020204" pitchFamily="34" charset="0"/>
                <a:cs typeface="Arial" panose="020B0604020202020204" pitchFamily="34" charset="0"/>
                <a:sym typeface="Acherus Grotesque"/>
              </a:rPr>
              <a:t>Variation between models: </a:t>
            </a:r>
            <a:r>
              <a:rPr lang="en-US" sz="1800" kern="0" dirty="0">
                <a:solidFill>
                  <a:schemeClr val="accent2"/>
                </a:solidFill>
                <a:latin typeface="Arial" panose="020B0604020202020204" pitchFamily="34" charset="0"/>
                <a:cs typeface="Arial" panose="020B0604020202020204" pitchFamily="34" charset="0"/>
                <a:sym typeface="Acherus Grotesque"/>
              </a:rPr>
              <a:t>Memory, How mechanistic is the model, Level of Dynamics, Application (modeling, task-oriented…), Personas</a:t>
            </a:r>
          </a:p>
        </p:txBody>
      </p:sp>
    </p:spTree>
    <p:extLst>
      <p:ext uri="{BB962C8B-B14F-4D97-AF65-F5344CB8AC3E}">
        <p14:creationId xmlns:p14="http://schemas.microsoft.com/office/powerpoint/2010/main" val="42891202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FD950-91DF-E2B4-5712-6B1D536CB322}"/>
              </a:ext>
            </a:extLst>
          </p:cNvPr>
          <p:cNvSpPr>
            <a:spLocks noGrp="1"/>
          </p:cNvSpPr>
          <p:nvPr>
            <p:ph type="title"/>
          </p:nvPr>
        </p:nvSpPr>
        <p:spPr/>
        <p:txBody>
          <a:bodyPr lIns="91440" tIns="45720" rIns="91440" bIns="45720" anchor="t"/>
          <a:lstStyle/>
          <a:p>
            <a:r>
              <a:rPr lang="en-US" dirty="0"/>
              <a:t>Cost</a:t>
            </a:r>
          </a:p>
        </p:txBody>
      </p:sp>
      <p:pic>
        <p:nvPicPr>
          <p:cNvPr id="3" name="Picture 2" descr="A close up of text&#10;&#10;AI-generated content may be incorrect.">
            <a:extLst>
              <a:ext uri="{FF2B5EF4-FFF2-40B4-BE49-F238E27FC236}">
                <a16:creationId xmlns:a16="http://schemas.microsoft.com/office/drawing/2014/main" id="{07540FE4-6031-710B-9895-AC79815DE14F}"/>
              </a:ext>
            </a:extLst>
          </p:cNvPr>
          <p:cNvPicPr>
            <a:picLocks noChangeAspect="1"/>
          </p:cNvPicPr>
          <p:nvPr/>
        </p:nvPicPr>
        <p:blipFill>
          <a:blip r:embed="rId2"/>
          <a:stretch>
            <a:fillRect/>
          </a:stretch>
        </p:blipFill>
        <p:spPr>
          <a:xfrm>
            <a:off x="2828617" y="1029622"/>
            <a:ext cx="7124700" cy="1123950"/>
          </a:xfrm>
          <a:prstGeom prst="rect">
            <a:avLst/>
          </a:prstGeom>
        </p:spPr>
      </p:pic>
      <p:pic>
        <p:nvPicPr>
          <p:cNvPr id="4" name="Picture 3" descr="A screenshot of a price list&#10;&#10;AI-generated content may be incorrect.">
            <a:extLst>
              <a:ext uri="{FF2B5EF4-FFF2-40B4-BE49-F238E27FC236}">
                <a16:creationId xmlns:a16="http://schemas.microsoft.com/office/drawing/2014/main" id="{4DF19720-3333-410C-D875-AB28A763A679}"/>
              </a:ext>
            </a:extLst>
          </p:cNvPr>
          <p:cNvPicPr>
            <a:picLocks noChangeAspect="1"/>
          </p:cNvPicPr>
          <p:nvPr/>
        </p:nvPicPr>
        <p:blipFill>
          <a:blip r:embed="rId3"/>
          <a:srcRect l="37939" r="78" b="-279"/>
          <a:stretch/>
        </p:blipFill>
        <p:spPr>
          <a:xfrm>
            <a:off x="3010206" y="2428568"/>
            <a:ext cx="3094503" cy="1404796"/>
          </a:xfrm>
          <a:prstGeom prst="rect">
            <a:avLst/>
          </a:prstGeom>
        </p:spPr>
      </p:pic>
      <p:sp>
        <p:nvSpPr>
          <p:cNvPr id="5" name="TextBox 4">
            <a:extLst>
              <a:ext uri="{FF2B5EF4-FFF2-40B4-BE49-F238E27FC236}">
                <a16:creationId xmlns:a16="http://schemas.microsoft.com/office/drawing/2014/main" id="{823F4282-D290-C496-8F45-963CFE4F8B35}"/>
              </a:ext>
            </a:extLst>
          </p:cNvPr>
          <p:cNvSpPr txBox="1"/>
          <p:nvPr/>
        </p:nvSpPr>
        <p:spPr>
          <a:xfrm>
            <a:off x="1009134" y="1076067"/>
            <a:ext cx="113785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hangingPunct="0"/>
            <a:r>
              <a:rPr lang="en-US" dirty="0" err="1">
                <a:solidFill>
                  <a:schemeClr val="accent1"/>
                </a:solidFill>
                <a:latin typeface="+mj-lt"/>
                <a:ea typeface="+mj-ea"/>
                <a:cs typeface="+mj-cs"/>
              </a:rPr>
              <a:t>Gpt</a:t>
            </a:r>
            <a:r>
              <a:rPr lang="en-US" dirty="0">
                <a:solidFill>
                  <a:schemeClr val="accent1"/>
                </a:solidFill>
                <a:latin typeface="+mj-lt"/>
                <a:ea typeface="+mj-ea"/>
                <a:cs typeface="+mj-cs"/>
              </a:rPr>
              <a:t> 4</a:t>
            </a:r>
            <a:endParaRPr kumimoji="0" lang="en-US" sz="1800" b="0" i="0" u="none" strike="noStrike" cap="none" spc="0" normalizeH="0" baseline="0" dirty="0">
              <a:ln>
                <a:noFill/>
              </a:ln>
              <a:solidFill>
                <a:schemeClr val="accent1"/>
              </a:solidFill>
              <a:effectLst/>
              <a:uFillTx/>
              <a:latin typeface="+mj-lt"/>
              <a:ea typeface="+mj-ea"/>
              <a:cs typeface="+mj-cs"/>
              <a:sym typeface="Calibri"/>
            </a:endParaRPr>
          </a:p>
        </p:txBody>
      </p:sp>
      <p:sp>
        <p:nvSpPr>
          <p:cNvPr id="6" name="TextBox 5">
            <a:extLst>
              <a:ext uri="{FF2B5EF4-FFF2-40B4-BE49-F238E27FC236}">
                <a16:creationId xmlns:a16="http://schemas.microsoft.com/office/drawing/2014/main" id="{CD5A0201-F95C-37FE-5C03-14D9DC117D25}"/>
              </a:ext>
            </a:extLst>
          </p:cNvPr>
          <p:cNvSpPr txBox="1"/>
          <p:nvPr/>
        </p:nvSpPr>
        <p:spPr>
          <a:xfrm>
            <a:off x="1064440" y="2919615"/>
            <a:ext cx="113785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hangingPunct="0"/>
            <a:r>
              <a:rPr lang="en-US" dirty="0" err="1">
                <a:solidFill>
                  <a:schemeClr val="accent1"/>
                </a:solidFill>
                <a:latin typeface="+mj-lt"/>
                <a:ea typeface="+mj-ea"/>
                <a:cs typeface="+mj-cs"/>
              </a:rPr>
              <a:t>Gpt</a:t>
            </a:r>
            <a:r>
              <a:rPr lang="en-US" dirty="0">
                <a:solidFill>
                  <a:schemeClr val="accent1"/>
                </a:solidFill>
                <a:latin typeface="+mj-lt"/>
                <a:ea typeface="+mj-ea"/>
                <a:cs typeface="+mj-cs"/>
              </a:rPr>
              <a:t> 4o</a:t>
            </a:r>
            <a:endParaRPr kumimoji="0" lang="en-US" sz="1800" b="0" i="0" u="none" strike="noStrike" cap="none" spc="0" normalizeH="0" baseline="0" dirty="0">
              <a:ln>
                <a:noFill/>
              </a:ln>
              <a:solidFill>
                <a:schemeClr val="accent1"/>
              </a:solidFill>
              <a:effectLst/>
              <a:uFillTx/>
              <a:latin typeface="+mj-lt"/>
              <a:ea typeface="+mj-ea"/>
              <a:cs typeface="+mj-cs"/>
              <a:sym typeface="Calibri"/>
            </a:endParaRPr>
          </a:p>
        </p:txBody>
      </p:sp>
      <p:sp>
        <p:nvSpPr>
          <p:cNvPr id="7" name="TextBox 6">
            <a:extLst>
              <a:ext uri="{FF2B5EF4-FFF2-40B4-BE49-F238E27FC236}">
                <a16:creationId xmlns:a16="http://schemas.microsoft.com/office/drawing/2014/main" id="{02830C87-8154-83AE-EAE5-AAFD9DB2ED02}"/>
              </a:ext>
            </a:extLst>
          </p:cNvPr>
          <p:cNvSpPr txBox="1"/>
          <p:nvPr/>
        </p:nvSpPr>
        <p:spPr>
          <a:xfrm>
            <a:off x="873939" y="4849195"/>
            <a:ext cx="1770802"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hangingPunct="0"/>
            <a:r>
              <a:rPr lang="en-US" dirty="0" err="1">
                <a:solidFill>
                  <a:schemeClr val="accent1"/>
                </a:solidFill>
                <a:latin typeface="+mj-lt"/>
                <a:ea typeface="+mj-ea"/>
                <a:cs typeface="+mj-cs"/>
              </a:rPr>
              <a:t>Gpt</a:t>
            </a:r>
            <a:r>
              <a:rPr lang="en-US" dirty="0">
                <a:solidFill>
                  <a:schemeClr val="accent1"/>
                </a:solidFill>
                <a:latin typeface="+mj-lt"/>
                <a:ea typeface="+mj-ea"/>
                <a:cs typeface="+mj-cs"/>
              </a:rPr>
              <a:t> 4o mini</a:t>
            </a:r>
            <a:endParaRPr kumimoji="0" lang="en-US" sz="1800" b="0" i="0" u="none" strike="noStrike" cap="none" spc="0" normalizeH="0" baseline="0" dirty="0">
              <a:ln>
                <a:noFill/>
              </a:ln>
              <a:solidFill>
                <a:schemeClr val="accent1"/>
              </a:solidFill>
              <a:effectLst/>
              <a:uFillTx/>
              <a:latin typeface="+mj-lt"/>
              <a:ea typeface="+mj-ea"/>
              <a:cs typeface="+mj-cs"/>
              <a:sym typeface="Calibri"/>
            </a:endParaRPr>
          </a:p>
        </p:txBody>
      </p:sp>
      <p:pic>
        <p:nvPicPr>
          <p:cNvPr id="8" name="Picture 7" descr="A comparison of a price list&#10;&#10;AI-generated content may be incorrect.">
            <a:extLst>
              <a:ext uri="{FF2B5EF4-FFF2-40B4-BE49-F238E27FC236}">
                <a16:creationId xmlns:a16="http://schemas.microsoft.com/office/drawing/2014/main" id="{A7BD028F-364E-7CCA-A0B0-77D58324BB70}"/>
              </a:ext>
            </a:extLst>
          </p:cNvPr>
          <p:cNvPicPr>
            <a:picLocks noChangeAspect="1"/>
          </p:cNvPicPr>
          <p:nvPr/>
        </p:nvPicPr>
        <p:blipFill>
          <a:blip r:embed="rId4"/>
          <a:stretch>
            <a:fillRect/>
          </a:stretch>
        </p:blipFill>
        <p:spPr>
          <a:xfrm>
            <a:off x="3138181" y="4364447"/>
            <a:ext cx="2843059" cy="1330735"/>
          </a:xfrm>
          <a:prstGeom prst="rect">
            <a:avLst/>
          </a:prstGeom>
        </p:spPr>
      </p:pic>
      <p:pic>
        <p:nvPicPr>
          <p:cNvPr id="9" name="Picture 8" descr="A screenshot of a price list&#10;&#10;AI-generated content may be incorrect.">
            <a:extLst>
              <a:ext uri="{FF2B5EF4-FFF2-40B4-BE49-F238E27FC236}">
                <a16:creationId xmlns:a16="http://schemas.microsoft.com/office/drawing/2014/main" id="{0100BD98-27F9-2021-5DBD-4451D547EE2A}"/>
              </a:ext>
            </a:extLst>
          </p:cNvPr>
          <p:cNvPicPr>
            <a:picLocks noChangeAspect="1"/>
          </p:cNvPicPr>
          <p:nvPr/>
        </p:nvPicPr>
        <p:blipFill>
          <a:blip r:embed="rId5"/>
          <a:stretch>
            <a:fillRect/>
          </a:stretch>
        </p:blipFill>
        <p:spPr>
          <a:xfrm>
            <a:off x="8183972" y="4364139"/>
            <a:ext cx="3007750" cy="1183866"/>
          </a:xfrm>
          <a:prstGeom prst="rect">
            <a:avLst/>
          </a:prstGeom>
        </p:spPr>
      </p:pic>
      <p:sp>
        <p:nvSpPr>
          <p:cNvPr id="10" name="TextBox 9">
            <a:extLst>
              <a:ext uri="{FF2B5EF4-FFF2-40B4-BE49-F238E27FC236}">
                <a16:creationId xmlns:a16="http://schemas.microsoft.com/office/drawing/2014/main" id="{A484EA0E-8D06-E35D-6A66-2C7B96311B5C}"/>
              </a:ext>
            </a:extLst>
          </p:cNvPr>
          <p:cNvSpPr txBox="1"/>
          <p:nvPr/>
        </p:nvSpPr>
        <p:spPr>
          <a:xfrm>
            <a:off x="7701212" y="4849194"/>
            <a:ext cx="38814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dirty="0">
                <a:solidFill>
                  <a:schemeClr val="accent1"/>
                </a:solidFill>
                <a:latin typeface="+mj-lt"/>
                <a:ea typeface="+mj-ea"/>
                <a:cs typeface="+mj-cs"/>
              </a:rPr>
              <a:t>o1</a:t>
            </a:r>
            <a:endParaRPr lang="en-US" dirty="0"/>
          </a:p>
        </p:txBody>
      </p:sp>
      <p:pic>
        <p:nvPicPr>
          <p:cNvPr id="11" name="Picture 10" descr="A comparison of price tags&#10;&#10;AI-generated content may be incorrect.">
            <a:extLst>
              <a:ext uri="{FF2B5EF4-FFF2-40B4-BE49-F238E27FC236}">
                <a16:creationId xmlns:a16="http://schemas.microsoft.com/office/drawing/2014/main" id="{70896861-6D70-A22D-A5B9-D734B1F537C0}"/>
              </a:ext>
            </a:extLst>
          </p:cNvPr>
          <p:cNvPicPr>
            <a:picLocks noChangeAspect="1"/>
          </p:cNvPicPr>
          <p:nvPr/>
        </p:nvPicPr>
        <p:blipFill>
          <a:blip r:embed="rId6"/>
          <a:stretch>
            <a:fillRect/>
          </a:stretch>
        </p:blipFill>
        <p:spPr>
          <a:xfrm>
            <a:off x="8281833" y="2543020"/>
            <a:ext cx="2971801" cy="1182024"/>
          </a:xfrm>
          <a:prstGeom prst="rect">
            <a:avLst/>
          </a:prstGeom>
        </p:spPr>
      </p:pic>
      <p:sp>
        <p:nvSpPr>
          <p:cNvPr id="12" name="TextBox 11">
            <a:extLst>
              <a:ext uri="{FF2B5EF4-FFF2-40B4-BE49-F238E27FC236}">
                <a16:creationId xmlns:a16="http://schemas.microsoft.com/office/drawing/2014/main" id="{7D040D9B-0950-6EF6-D899-30E88343A16E}"/>
              </a:ext>
            </a:extLst>
          </p:cNvPr>
          <p:cNvSpPr txBox="1"/>
          <p:nvPr/>
        </p:nvSpPr>
        <p:spPr>
          <a:xfrm>
            <a:off x="7701211" y="2999500"/>
            <a:ext cx="38814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dirty="0">
                <a:solidFill>
                  <a:schemeClr val="accent1"/>
                </a:solidFill>
                <a:latin typeface="+mj-lt"/>
                <a:ea typeface="+mj-ea"/>
                <a:cs typeface="+mj-cs"/>
              </a:rPr>
              <a:t>o3</a:t>
            </a:r>
            <a:endParaRPr lang="en-US" dirty="0"/>
          </a:p>
        </p:txBody>
      </p:sp>
    </p:spTree>
    <p:extLst>
      <p:ext uri="{BB962C8B-B14F-4D97-AF65-F5344CB8AC3E}">
        <p14:creationId xmlns:p14="http://schemas.microsoft.com/office/powerpoint/2010/main" val="1854709251"/>
      </p:ext>
    </p:extLst>
  </p:cSld>
  <p:clrMapOvr>
    <a:masterClrMapping/>
  </p:clrMapOvr>
  <p:transition spd="med"/>
</p:sld>
</file>

<file path=ppt/theme/theme1.xml><?xml version="1.0" encoding="utf-8"?>
<a:theme xmlns:a="http://schemas.openxmlformats.org/drawingml/2006/main" name="1_Office Theme">
  <a:themeElements>
    <a:clrScheme name="Theme Colors 2">
      <a:dk1>
        <a:srgbClr val="861F41"/>
      </a:dk1>
      <a:lt1>
        <a:srgbClr val="FFFFFF"/>
      </a:lt1>
      <a:dk2>
        <a:srgbClr val="75787B"/>
      </a:dk2>
      <a:lt2>
        <a:srgbClr val="DBDBDB"/>
      </a:lt2>
      <a:accent1>
        <a:srgbClr val="861F41"/>
      </a:accent1>
      <a:accent2>
        <a:srgbClr val="E87731"/>
      </a:accent2>
      <a:accent3>
        <a:srgbClr val="A5A5A5"/>
      </a:accent3>
      <a:accent4>
        <a:srgbClr val="417C79"/>
      </a:accent4>
      <a:accent5>
        <a:srgbClr val="E5E1E6"/>
      </a:accent5>
      <a:accent6>
        <a:srgbClr val="003C71"/>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miter lim="400000"/>
        </a:ln>
        <a:extLst>
          <a:ext uri="{C572A759-6A51-4108-AA02-DFA0A04FC94B}">
            <ma14:wrappingTextBoxFlag xmlns="" xmlns:ma14="http://schemas.microsoft.com/office/mac/drawingml/2011/main" val="1"/>
          </a:ext>
        </a:extLst>
      </a:spPr>
      <a:bodyPr lIns="45719" rIns="45719">
        <a:spAutoFit/>
      </a:bodyPr>
      <a:lstStyle>
        <a:defPPr>
          <a:defRPr dirty="0" smtClean="0"/>
        </a:defPPr>
      </a:lst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6178</TotalTime>
  <Words>1550</Words>
  <Application>Microsoft Office PowerPoint</Application>
  <PresentationFormat>Widescreen</PresentationFormat>
  <Paragraphs>286</Paragraphs>
  <Slides>47</Slides>
  <Notes>37</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1_Office Theme</vt:lpstr>
      <vt:lpstr>PowerPoint Presentation</vt:lpstr>
      <vt:lpstr>PowerPoint Presentation</vt:lpstr>
      <vt:lpstr>PowerPoint Presentation</vt:lpstr>
      <vt:lpstr>Generative agent-based model</vt:lpstr>
      <vt:lpstr>Generative agent-based model</vt:lpstr>
      <vt:lpstr>Generative agent-based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georgia liu</dc:creator>
  <cp:lastModifiedBy>Williams, Ross</cp:lastModifiedBy>
  <cp:revision>282</cp:revision>
  <dcterms:created xsi:type="dcterms:W3CDTF">2022-05-05T00:07:06Z</dcterms:created>
  <dcterms:modified xsi:type="dcterms:W3CDTF">2025-04-27T15:07:52Z</dcterms:modified>
</cp:coreProperties>
</file>